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2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0" d="100"/>
          <a:sy n="70" d="100"/>
        </p:scale>
        <p:origin x="48" y="6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4E3D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F4E3D"/>
                </a:solidFill>
                <a:latin typeface="Calibri"/>
              </a:rPr>
              <a:t>Kopirano i zauzeće u repozitorijumima [MB]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kopirano (MB)</c:v>
                </c:pt>
              </c:strCache>
            </c:strRef>
          </c:tx>
          <c:spPr>
            <a:solidFill>
              <a:srgbClr val="1F4E3D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F2937"/>
                    </a:solidFill>
                    <a:latin typeface="Arial"/>
                  </a:defRPr>
                </a:pPr>
                <a:endParaRPr lang="en-A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FULL</c:v>
                </c:pt>
                <c:pt idx="1">
                  <c:v>INCR #1</c:v>
                </c:pt>
                <c:pt idx="2">
                  <c:v>INCR #2</c:v>
                </c:pt>
                <c:pt idx="3">
                  <c:v>DIFF</c:v>
                </c:pt>
                <c:pt idx="4">
                  <c:v>INCR #3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507.6</c:v>
                </c:pt>
                <c:pt idx="1">
                  <c:v>51</c:v>
                </c:pt>
                <c:pt idx="2">
                  <c:v>156.1</c:v>
                </c:pt>
                <c:pt idx="3">
                  <c:v>207.1</c:v>
                </c:pt>
                <c:pt idx="4">
                  <c:v>50.9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A77-4C03-8EC1-3C505EE6F01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repo1 – fajl (MB)</c:v>
                </c:pt>
              </c:strCache>
            </c:strRef>
          </c:tx>
          <c:spPr>
            <a:solidFill>
              <a:srgbClr val="D9962B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F2937"/>
                    </a:solidFill>
                    <a:latin typeface="Arial"/>
                  </a:defRPr>
                </a:pPr>
                <a:endParaRPr lang="en-A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FULL</c:v>
                </c:pt>
                <c:pt idx="1">
                  <c:v>INCR #1</c:v>
                </c:pt>
                <c:pt idx="2">
                  <c:v>INCR #2</c:v>
                </c:pt>
                <c:pt idx="3">
                  <c:v>DIFF</c:v>
                </c:pt>
                <c:pt idx="4">
                  <c:v>INCR #3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180.7</c:v>
                </c:pt>
                <c:pt idx="1">
                  <c:v>18.7</c:v>
                </c:pt>
                <c:pt idx="2">
                  <c:v>54.8</c:v>
                </c:pt>
                <c:pt idx="3">
                  <c:v>73.5</c:v>
                </c:pt>
                <c:pt idx="4">
                  <c:v>18.7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A77-4C03-8EC1-3C505EE6F01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repo2 – blok (MB)</c:v>
                </c:pt>
              </c:strCache>
            </c:strRef>
          </c:tx>
          <c:spPr>
            <a:solidFill>
              <a:srgbClr val="7FB39A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F2937"/>
                    </a:solidFill>
                    <a:latin typeface="Arial"/>
                  </a:defRPr>
                </a:pPr>
                <a:endParaRPr lang="en-A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FULL</c:v>
                </c:pt>
                <c:pt idx="1">
                  <c:v>INCR #1</c:v>
                </c:pt>
                <c:pt idx="2">
                  <c:v>INCR #2</c:v>
                </c:pt>
                <c:pt idx="3">
                  <c:v>DIFF</c:v>
                </c:pt>
                <c:pt idx="4">
                  <c:v>INCR #3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181</c:v>
                </c:pt>
                <c:pt idx="1">
                  <c:v>0.8</c:v>
                </c:pt>
                <c:pt idx="2">
                  <c:v>1.1000000000000001</c:v>
                </c:pt>
                <c:pt idx="3">
                  <c:v>1.9</c:v>
                </c:pt>
                <c:pt idx="4">
                  <c:v>0.1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A77-4C03-8EC1-3C505EE6F01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F293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5E7EB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F2937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4E3D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F4E3D"/>
                </a:solidFill>
                <a:latin typeface="Calibri"/>
              </a:rPr>
              <a:t>Ilustrativno zauzeće prostora za 7 dana [MB]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zauzeće za 7 dana (MB)</c:v>
                </c:pt>
              </c:strCache>
            </c:strRef>
          </c:tx>
          <c:spPr>
            <a:solidFill>
              <a:srgbClr val="1F4E3D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F2937"/>
                    </a:solidFill>
                    <a:latin typeface="Arial"/>
                  </a:defRPr>
                </a:pPr>
                <a:endParaRPr lang="en-A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7 punih</c:v>
                </c:pt>
                <c:pt idx="1">
                  <c:v>1 pun + 6 diff</c:v>
                </c:pt>
                <c:pt idx="2">
                  <c:v>1 pun + 6 incr</c:v>
                </c:pt>
                <c:pt idx="3">
                  <c:v>1 pun + 6 incr (blok)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1265</c:v>
                </c:pt>
                <c:pt idx="1">
                  <c:v>825</c:v>
                </c:pt>
                <c:pt idx="2">
                  <c:v>365</c:v>
                </c:pt>
                <c:pt idx="3">
                  <c:v>185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0D6-4967-A3DA-95C6D4E455A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F293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5E7EB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04721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Dobar dan. Tema moje prezentacije je rezervno kopiranje PostgreSQL baze podataka alatom pgBackRest, sa fokusom na poređenje punog, diferencijalnog i inkrementalnog backup-a. Pokazaću šta je mereno, kako je eksperiment izveden i koji su rezultati.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Podaci se mogu izgubiti zbog kvara diska, softverske greške ili napada, ali najčešće zbog ljudske greške, na primer slučajnog brisanja tabele. Replikacija tu ne pomaže, jer će replika verno ponoviti i pogrešnu naredbu. Zato je backup, uz proveren postupak oporavka, nezamenljiv.
Kod velikih baza pun backup svakog dana brzo postaje preskup i po vremenu i po prostoru. Inkrementalni i diferencijalni backup kopiraju samo promene, ali uvode zavisnosti između backup-a, koje utiču na oporavak.
Cilj rada je da se ove tri vrste backup-a uporede u alatu pgBackRest, da se uporedi inkrement na nivou fajla i na nivou bloka, i da se proveri da li se podaci zaista mogu vratiti. Proveren oporavak je jednako važan kao i sam backup, jer backup koji nikada nije vraćen ne može se smatrati pouzdanim.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Strategija backup-a izvodi se iz dva zahteva. RPO je koliko podataka smemo da izgubimo, izraženo vremenom, a RTO koliko dugo sistem sme da bude nedostupan.
Fizički backup kopira fajlove klastera. Za ovaj rad je važno da PostgreSQL svaku tabelu manju od jednog gigabajta čuva kao jedan fajl – to će objasniti glavni rezultat.
Sve promene se najpre upisuju u dnevnik WAL, pa tek onda u fajlove podataka. Ako se svaki popunjeni segment dnevnika arhivira, bazu možemo da vratimo u bilo koji trenutak posle backup-a. To je oporavak do tačke u vremenu, ili PITR. Posle takvog oporavka server prelazi na novu vremensku liniju, da se nova istorija ne bi pomešala sa starom.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Pun backup kopira sve i za oporavak mu ne treba ništa drugo. Diferencijalni kopira sve promene od poslednjeg punog backup-a, pa raste iz dana u dan, ali za oporavak su potrebna samo dva backup-a. Inkrementalni kopira promene od poslednjeg backup-a bilo kog tipa; najmanji je, ali za oporavak je potreban ceo lanac.
Dijagram to pokazuje: da bi se vratio četvrti inkrement, potrebno je pet backup-a, a oštećenje bilo koje karike čini kasnije backup-e neupotrebljivim.
Veličina inkrementa zavisi i od granularnosti: klasično se kopira ceo izmenjeni fajl, a pgBackRest od verzije 2.46 može da kopira samo izmenjene blokove – to se zove block incremental.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Eksperiment je izveden u okruženju WSL, sa PostgreSQL-om 18.6 i pgBackRest-om 2.58, nad oko petsto megabajta podataka.
Skripta najpre pravi izolovan klaster sa kontrolnim sumama stranica i arhiviranjem dnevnika, i dva repozitorijuma: prvi koristi klasičan inkrement na nivou fajla, a drugi block incremental. Svaki backup se pravi u oba repozitorijuma nad istim podacima, pa je poređenje direktno.
Scenario je: pun backup, dva inkrementalna, diferencijalni i još jedan inkrementalni. Zatim se proveravaju dva oporavka i na kraju se primenjuje politika zadržavanja.
Za svaki backup beleže se trajanje, količina kopiranih podataka i zauzeće prostora u repozitorijumu, a pre svakog backup-a računa se otisak podataka, kako bi se kasnije moglo proveriti da li je oporavak vratio baš to stanje.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Sve radi jedna Python skripta od 817 linija. Klasa Lab drži sve putanje laboratorije, a pomoćne funkcije pokreću pgBackRest i upravljaju klasterom.
Pri prvom pokretanju pojavio se problem: Windows disk u WSL-u ne podržava Unix dozvole koje PostgreSQL zahteva. Skripta zato sama bira direktorijum na Linux disku.
Za proveru oporavka ključna je funkcija table_fingerprint: ona računa MD5 otisak svih redova svake tabele. Ako je otisak posle oporavka isti kao pre, podaci su identični. Na kraju se pravi izveštaj, CSV i pregled svih backup-a.
Autovacuum je u laboratoriji namerno isključen, a posle punjenja podataka izvršava se VACUUM FREEZE. Na taj način pozadinski procesi ne menjaju fajlove između dva backup-a, pa je veličina svakog inkrementa posledica samo izmena koje je napravio eksperiment.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Ovaj grafik prikazuje sve backup-e. Pun backup je kopirao 507 megabajta, a posle kompresije zauzima 181 megabajt. Diferencijalni backup je najveći posle punog, jer skuplja sve promene od punog backup-a.
Najvažnija je razlika između srednjeg i desnog stubića: isti inkrementi u repozitorijumu sa block incremental-om zauzimaju od 23 do 187 puta manje prostora.
Kolona „kopirano“ je ista za oba repozitorijuma, jer pgBackRest u oba slučaja mora da pročita ceo izmenjeni fajl; razlika je u tome šta upisuje u repozitorijum. Ušteda se, dakle, odnosi na prostor i na prenos do udaljenog repozitorijuma, a ne na čitanje sa diska.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Ovo je centralni rezultat rada. U drugom inkrementu izmenjeno je samo jedan posto redova jedne tabele, a backup je kopirao 30,6 procenata cele baze.
Razlog je fizička organizacija podataka: tabela je jedan fajl od 136 megabajta, a klasični inkrement kopira ceo fajl čim se on promeni, bez obzira na to koliko je stranica zaista izmenjeno.
Block incremental rešava taj problem: isti backup zauzima 1,1 megabajt umesto 54,8, odnosno pedeset puta manje. Praktična pouka je da plan backup-a treba praviti prema tome koje se tabele menjaju, a ne samo prema ukupnoj količini promena.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Oba testa oporavka su uspela. Prvi je vratio drugi inkrement u prazan direktorijum; pgBackRest je sam sastavio klaster iz tri backup-a, a otisak podataka bio je identičan.
Drugi test simulira ljudsku grešku: napravljena je imenovana tačka oporavka, a zatim je obrisana tabela. Klaster je vraćen do tačke pre brisanja za manje od sekunde, jer je delta restore zamenio samo fajlove koji se razlikuju. Podaci nastali posle poslednjeg backup-a vraćeni su iz arhive dnevnika.
Na kraju je politika zadržavanja, sa samo jednim punim backup-om, obrisala pet backup-a – stari pun backup i sve koji od njega zavise. To je druga strana lanca zavisnosti: kada se obriše pun backup, neupotrebljivi postaju i svi inkrementi napravljeni posle njega.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Svi backup-i posle punog trajali su između 0,76 i 1,13 sekundi, nezavisno od toga da li su kopirali 50 ili 200 megabajta. Kod ovako male baze vreme određuje fiksni trošak: kontrolna tačka, arhiviranje segmenta i pisanje manifesta.
Grafik prikazuje procenu za nedelju dana, izvedenu iz izmerenih veličina. Dnevni pun backup zauzima najviše prostora, a inkrementi oko sedamdeset posto manje – ali u najgorem slučaju za oporavak treba sedam backup-a. To je kompromis između prostora i vremena oporavka. U praksi se zato najčešće kombinuje nedeljni pun backup sa dnevnim diferencijalnim ili inkrementalnim backup-ima.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Rezultati potvrđuju teoriju. Veličina klasičnog inkrementa zavisi od broja izmenjenih fajlova, a ne od broja izmenjenih redova. Diferencijalni backup je veći, ali skraćuje lanac, a mali gubitak podataka obezbeđuje arhiva dnevnika, a ne češći backup-i.
Ograničenja su to što je sve rađeno na jednom računaru, sa repozitorijumima na istom disku, nad malom bazom, i sa isključenim autovacuum-om, da bi eksperiment bio ponovljiv. U produkciji bi pozadinsko održavanje menjalo dodatne fajlove i povećavalo inkremente, a kod većih baza vreme backup-a bi raslo sa količinom podataka, pa bi značaj imali paralelno kopiranje i asinhrono arhiviranje.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 zaključim. U radu su upoređeni pun, diferencijalni i inkrementalni backup u alatu pgBackRest, inkrement na nivou fajla i bloka, oporavak i politika zadržavanja. Sve izvodi skripta koja gradi izolovanu laboratoriju, pravi i meri backup-e i proverava oporavak otiskom podataka.
Glavni nalaz je da je izmena jednog procenta redova dala inkrement od trideset procenata baze, a da block incremental taj backup smanjuje pedeset puta. Oba testa oporavka su uspela. Preporuka je kombinacija periodičnog punog backup-a, inkrementalnih backup-a sa block incremental-om, stalnog arhiviranja dnevnika i redovnog testiranja oporavka.
Hvala na pažnji. Rado ću odgovoriti na pitanja.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457200"/>
            <a:ext cx="1737360" cy="1737360"/>
          </a:xfrm>
          <a:prstGeom prst="ellipse">
            <a:avLst/>
          </a:prstGeom>
          <a:solidFill>
            <a:srgbClr val="D9962B">
              <a:alpha val="85000"/>
            </a:srgbClr>
          </a:solidFill>
          <a:ln w="12700">
            <a:solidFill>
              <a:srgbClr val="D9962B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3" name="Shape 1"/>
          <p:cNvSpPr/>
          <p:nvPr/>
        </p:nvSpPr>
        <p:spPr>
          <a:xfrm>
            <a:off x="7955280" y="1737360"/>
            <a:ext cx="822960" cy="82296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4" name="Text 2"/>
          <p:cNvSpPr txBox="1"/>
          <p:nvPr/>
        </p:nvSpPr>
        <p:spPr>
          <a:xfrm>
            <a:off x="640080" y="82296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D99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SEMINARSKI RAD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234440"/>
            <a:ext cx="6217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vs Incremental backup korišćenjem pgBackRest alata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97180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D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Eksperimentalno poređenje strategija rezervnog kopiranja PostgreSQL baze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88620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7CF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Katarina Milojković · 2083/25</a:t>
            </a:r>
          </a:p>
          <a:p>
            <a:pPr marL="0" indent="0">
              <a:buNone/>
            </a:pPr>
            <a:r>
              <a:rPr lang="en-US" sz="1200" dirty="0" err="1">
                <a:solidFill>
                  <a:srgbClr val="C7CF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Sistemi</a:t>
            </a:r>
            <a:r>
              <a:rPr lang="en-US" sz="1200" dirty="0">
                <a:solidFill>
                  <a:srgbClr val="C7CF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za </a:t>
            </a:r>
            <a:r>
              <a:rPr lang="en-US" sz="1200" dirty="0" err="1">
                <a:solidFill>
                  <a:srgbClr val="C7CF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upravljanje</a:t>
            </a:r>
            <a:r>
              <a:rPr lang="en-US" sz="1200" dirty="0">
                <a:solidFill>
                  <a:srgbClr val="C7CF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C7CF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bazama</a:t>
            </a:r>
            <a:r>
              <a:rPr lang="en-US" sz="1200" dirty="0">
                <a:solidFill>
                  <a:srgbClr val="C7CF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C7CF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podataka</a:t>
            </a:r>
            <a:r>
              <a:rPr lang="en-US" sz="1200" dirty="0">
                <a:solidFill>
                  <a:srgbClr val="C7CF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Mentor: Aleksandar S. </a:t>
            </a:r>
            <a:r>
              <a:rPr lang="en-US" sz="1200" dirty="0" err="1">
                <a:solidFill>
                  <a:srgbClr val="C7CF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Stanimirović</a:t>
            </a:r>
            <a:endParaRPr lang="en-US" sz="1200" dirty="0">
              <a:solidFill>
                <a:srgbClr val="C7CFDD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4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i cilj rada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2560320" cy="3200400"/>
          </a:xfrm>
          <a:prstGeom prst="roundRect">
            <a:avLst>
              <a:gd name="adj" fmla="val 2857"/>
            </a:avLst>
          </a:prstGeom>
          <a:solidFill>
            <a:srgbClr val="EDF4F0"/>
          </a:solidFill>
          <a:ln w="12700">
            <a:solidFill>
              <a:srgbClr val="EDF4F0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4" name="Shape 2"/>
          <p:cNvSpPr/>
          <p:nvPr/>
        </p:nvSpPr>
        <p:spPr>
          <a:xfrm>
            <a:off x="731520" y="1508760"/>
            <a:ext cx="548640" cy="548640"/>
          </a:xfrm>
          <a:prstGeom prst="ellipse">
            <a:avLst/>
          </a:prstGeom>
          <a:solidFill>
            <a:srgbClr val="D9962B"/>
          </a:solidFill>
          <a:ln w="12700">
            <a:solidFill>
              <a:srgbClr val="D9962B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5" name="Text 3"/>
          <p:cNvSpPr txBox="1"/>
          <p:nvPr/>
        </p:nvSpPr>
        <p:spPr>
          <a:xfrm>
            <a:off x="73152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240280"/>
            <a:ext cx="20116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Zašto backup</a:t>
            </a:r>
            <a:endParaRPr lang="en-US" sz="2000" dirty="0"/>
          </a:p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Najčešći uzrok gubitka podataka je ljudska greška; replika verno ponavlja i pogrešan DROP TABLE.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291840" y="1234440"/>
            <a:ext cx="2560320" cy="3200400"/>
          </a:xfrm>
          <a:prstGeom prst="roundRect">
            <a:avLst>
              <a:gd name="adj" fmla="val 2857"/>
            </a:avLst>
          </a:prstGeom>
          <a:solidFill>
            <a:srgbClr val="EDF4F0"/>
          </a:solidFill>
          <a:ln w="12700">
            <a:solidFill>
              <a:srgbClr val="EDF4F0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8" name="Shape 6"/>
          <p:cNvSpPr/>
          <p:nvPr/>
        </p:nvSpPr>
        <p:spPr>
          <a:xfrm>
            <a:off x="3566160" y="1508760"/>
            <a:ext cx="548640" cy="548640"/>
          </a:xfrm>
          <a:prstGeom prst="ellipse">
            <a:avLst/>
          </a:prstGeom>
          <a:solidFill>
            <a:srgbClr val="D9962B"/>
          </a:solidFill>
          <a:ln w="12700">
            <a:solidFill>
              <a:srgbClr val="D9962B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9" name="Text 7"/>
          <p:cNvSpPr txBox="1"/>
          <p:nvPr/>
        </p:nvSpPr>
        <p:spPr>
          <a:xfrm>
            <a:off x="356616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566160" y="2240280"/>
            <a:ext cx="20116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Dilema</a:t>
            </a:r>
            <a:endParaRPr lang="en-US" sz="2000" dirty="0"/>
          </a:p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 backup je nezavisan, ali skup. Inkrement kopira samo promene, ali uvodi lance zavisnosti.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126480" y="1234440"/>
            <a:ext cx="2560320" cy="3200400"/>
          </a:xfrm>
          <a:prstGeom prst="roundRect">
            <a:avLst>
              <a:gd name="adj" fmla="val 2857"/>
            </a:avLst>
          </a:prstGeom>
          <a:solidFill>
            <a:srgbClr val="EDF4F0"/>
          </a:solidFill>
          <a:ln w="12700">
            <a:solidFill>
              <a:srgbClr val="EDF4F0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12" name="Shape 10"/>
          <p:cNvSpPr/>
          <p:nvPr/>
        </p:nvSpPr>
        <p:spPr>
          <a:xfrm>
            <a:off x="6400800" y="1508760"/>
            <a:ext cx="548640" cy="548640"/>
          </a:xfrm>
          <a:prstGeom prst="ellipse">
            <a:avLst/>
          </a:prstGeom>
          <a:solidFill>
            <a:srgbClr val="D9962B"/>
          </a:solidFill>
          <a:ln w="12700">
            <a:solidFill>
              <a:srgbClr val="D9962B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13" name="Text 11"/>
          <p:cNvSpPr txBox="1"/>
          <p:nvPr/>
        </p:nvSpPr>
        <p:spPr>
          <a:xfrm>
            <a:off x="640080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0" y="2240280"/>
            <a:ext cx="20116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Cilj</a:t>
            </a:r>
            <a:endParaRPr lang="en-US" sz="2000" dirty="0"/>
          </a:p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Uporediti full, diff i incr backup, inkrement na nivou fajla i bloka i proveriti oporavak.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832104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4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Teorijske osnove: oporavak i WAL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560320" cy="1623060"/>
          </a:xfrm>
          <a:prstGeom prst="roundRect">
            <a:avLst>
              <a:gd name="adj" fmla="val 4507"/>
            </a:avLst>
          </a:prstGeom>
          <a:solidFill>
            <a:srgbClr val="EDF4F0"/>
          </a:solidFill>
          <a:ln w="12700">
            <a:solidFill>
              <a:srgbClr val="EDF4F0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411480" cy="411480"/>
          </a:xfrm>
          <a:prstGeom prst="ellipse">
            <a:avLst/>
          </a:prstGeom>
          <a:solidFill>
            <a:srgbClr val="1F4E3D"/>
          </a:solidFill>
          <a:ln w="12700">
            <a:solidFill>
              <a:srgbClr val="1F4E3D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5" name="Text 3"/>
          <p:cNvSpPr txBox="1"/>
          <p:nvPr/>
        </p:nvSpPr>
        <p:spPr>
          <a:xfrm>
            <a:off x="64008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37160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RPO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901952"/>
            <a:ext cx="219456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najveći prihvatljiv gubitak podataka, izražen vremenom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91840" y="1188720"/>
            <a:ext cx="2560320" cy="1623060"/>
          </a:xfrm>
          <a:prstGeom prst="roundRect">
            <a:avLst>
              <a:gd name="adj" fmla="val 4507"/>
            </a:avLst>
          </a:prstGeom>
          <a:solidFill>
            <a:srgbClr val="EDF4F0"/>
          </a:solidFill>
          <a:ln w="12700">
            <a:solidFill>
              <a:srgbClr val="EDF4F0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9" name="Shape 7"/>
          <p:cNvSpPr/>
          <p:nvPr/>
        </p:nvSpPr>
        <p:spPr>
          <a:xfrm>
            <a:off x="3474720" y="1371600"/>
            <a:ext cx="411480" cy="411480"/>
          </a:xfrm>
          <a:prstGeom prst="ellipse">
            <a:avLst/>
          </a:prstGeom>
          <a:solidFill>
            <a:srgbClr val="1F4E3D"/>
          </a:solidFill>
          <a:ln w="12700">
            <a:solidFill>
              <a:srgbClr val="1F4E3D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10" name="Text 8"/>
          <p:cNvSpPr txBox="1"/>
          <p:nvPr/>
        </p:nvSpPr>
        <p:spPr>
          <a:xfrm>
            <a:off x="347472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023360" y="137160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RTO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1901952"/>
            <a:ext cx="219456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najduže prihvatljivo vreme do ponovnog rada sistema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26480" y="1188720"/>
            <a:ext cx="2560320" cy="1623060"/>
          </a:xfrm>
          <a:prstGeom prst="roundRect">
            <a:avLst>
              <a:gd name="adj" fmla="val 4507"/>
            </a:avLst>
          </a:prstGeom>
          <a:solidFill>
            <a:srgbClr val="EDF4F0"/>
          </a:solidFill>
          <a:ln w="12700">
            <a:solidFill>
              <a:srgbClr val="EDF4F0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14" name="Shape 12"/>
          <p:cNvSpPr/>
          <p:nvPr/>
        </p:nvSpPr>
        <p:spPr>
          <a:xfrm>
            <a:off x="6309360" y="1371600"/>
            <a:ext cx="411480" cy="411480"/>
          </a:xfrm>
          <a:prstGeom prst="ellipse">
            <a:avLst/>
          </a:prstGeom>
          <a:solidFill>
            <a:srgbClr val="1F4E3D"/>
          </a:solidFill>
          <a:ln w="12700">
            <a:solidFill>
              <a:srgbClr val="1F4E3D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15" name="Text 13"/>
          <p:cNvSpPr txBox="1"/>
          <p:nvPr/>
        </p:nvSpPr>
        <p:spPr>
          <a:xfrm>
            <a:off x="630936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0" y="137160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Fizički backup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309360" y="1901952"/>
            <a:ext cx="219456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kopija fajlova klastera; tabela &lt; 1 GB je jedan fajl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086100"/>
            <a:ext cx="2560320" cy="1623060"/>
          </a:xfrm>
          <a:prstGeom prst="roundRect">
            <a:avLst>
              <a:gd name="adj" fmla="val 4507"/>
            </a:avLst>
          </a:prstGeom>
          <a:solidFill>
            <a:srgbClr val="EDF4F0"/>
          </a:solidFill>
          <a:ln w="12700">
            <a:solidFill>
              <a:srgbClr val="EDF4F0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19" name="Shape 17"/>
          <p:cNvSpPr/>
          <p:nvPr/>
        </p:nvSpPr>
        <p:spPr>
          <a:xfrm>
            <a:off x="640080" y="3268980"/>
            <a:ext cx="411480" cy="411480"/>
          </a:xfrm>
          <a:prstGeom prst="ellipse">
            <a:avLst/>
          </a:prstGeom>
          <a:solidFill>
            <a:srgbClr val="1F4E3D"/>
          </a:solidFill>
          <a:ln w="12700">
            <a:solidFill>
              <a:srgbClr val="1F4E3D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20" name="Text 18"/>
          <p:cNvSpPr txBox="1"/>
          <p:nvPr/>
        </p:nvSpPr>
        <p:spPr>
          <a:xfrm>
            <a:off x="640080" y="32689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188720" y="326898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3799332"/>
            <a:ext cx="219456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promena se upisuje u dnevnik pre fajla podataka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291840" y="3086100"/>
            <a:ext cx="2560320" cy="1623060"/>
          </a:xfrm>
          <a:prstGeom prst="roundRect">
            <a:avLst>
              <a:gd name="adj" fmla="val 4507"/>
            </a:avLst>
          </a:prstGeom>
          <a:solidFill>
            <a:srgbClr val="EDF4F0"/>
          </a:solidFill>
          <a:ln w="12700">
            <a:solidFill>
              <a:srgbClr val="EDF4F0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24" name="Shape 22"/>
          <p:cNvSpPr/>
          <p:nvPr/>
        </p:nvSpPr>
        <p:spPr>
          <a:xfrm>
            <a:off x="3474720" y="3268980"/>
            <a:ext cx="411480" cy="411480"/>
          </a:xfrm>
          <a:prstGeom prst="ellipse">
            <a:avLst/>
          </a:prstGeom>
          <a:solidFill>
            <a:srgbClr val="1F4E3D"/>
          </a:solidFill>
          <a:ln w="12700">
            <a:solidFill>
              <a:srgbClr val="1F4E3D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25" name="Text 23"/>
          <p:cNvSpPr txBox="1"/>
          <p:nvPr/>
        </p:nvSpPr>
        <p:spPr>
          <a:xfrm>
            <a:off x="3474720" y="32689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4023360" y="326898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Arhiviranje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3474720" y="3799332"/>
            <a:ext cx="219456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svaki WAL segment od 16 MB kopira se u arhivu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126480" y="3086100"/>
            <a:ext cx="2560320" cy="1623060"/>
          </a:xfrm>
          <a:prstGeom prst="roundRect">
            <a:avLst>
              <a:gd name="adj" fmla="val 4507"/>
            </a:avLst>
          </a:prstGeom>
          <a:solidFill>
            <a:srgbClr val="EDF4F0"/>
          </a:solidFill>
          <a:ln w="12700">
            <a:solidFill>
              <a:srgbClr val="EDF4F0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29" name="Shape 27"/>
          <p:cNvSpPr/>
          <p:nvPr/>
        </p:nvSpPr>
        <p:spPr>
          <a:xfrm>
            <a:off x="6309360" y="3268980"/>
            <a:ext cx="411480" cy="411480"/>
          </a:xfrm>
          <a:prstGeom prst="ellipse">
            <a:avLst/>
          </a:prstGeom>
          <a:solidFill>
            <a:srgbClr val="1F4E3D"/>
          </a:solidFill>
          <a:ln w="12700">
            <a:solidFill>
              <a:srgbClr val="1F4E3D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30" name="Text 28"/>
          <p:cNvSpPr txBox="1"/>
          <p:nvPr/>
        </p:nvSpPr>
        <p:spPr>
          <a:xfrm>
            <a:off x="6309360" y="32689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858000" y="326898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PITR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6309360" y="3799332"/>
            <a:ext cx="219456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oporavak do tačke u vremenu; nova vremenska linija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832104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4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Vrste backup-a i lanci zavisnosti</a:t>
            </a:r>
            <a:endParaRPr lang="en-US" sz="2600" dirty="0"/>
          </a:p>
        </p:txBody>
      </p:sp>
      <p:pic>
        <p:nvPicPr>
          <p:cNvPr id="3" name="Image 0" descr="/tmp/claude-0/-home-user-DMS/301aa003-dcc0-59ff-8316-a4c89c795fe8/scratchpad/figs/sem2/dijagram_lanc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024128"/>
            <a:ext cx="7680960" cy="276514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3908146"/>
            <a:ext cx="3931920" cy="938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Full: sve fajlove – nezavisan, najveći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Differential: promene od poslednjeg punog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4754880" y="3908146"/>
            <a:ext cx="3931920" cy="938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Incremental: promene od poslednjeg backup-a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Granularnost: ceo fajl ili samo izmenjeni blokovi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832104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4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Metodologija eksperimenta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383030" y="1691640"/>
            <a:ext cx="637794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dash"/>
          </a:ln>
        </p:spPr>
        <p:txBody>
          <a:bodyPr/>
          <a:lstStyle/>
          <a:p>
            <a:endParaRPr lang="en-AT"/>
          </a:p>
        </p:txBody>
      </p:sp>
      <p:sp>
        <p:nvSpPr>
          <p:cNvPr id="4" name="Shape 2"/>
          <p:cNvSpPr/>
          <p:nvPr/>
        </p:nvSpPr>
        <p:spPr>
          <a:xfrm>
            <a:off x="1017270" y="1325880"/>
            <a:ext cx="731520" cy="731520"/>
          </a:xfrm>
          <a:prstGeom prst="ellipse">
            <a:avLst/>
          </a:prstGeom>
          <a:solidFill>
            <a:srgbClr val="D9962B"/>
          </a:solidFill>
          <a:ln w="12700">
            <a:solidFill>
              <a:srgbClr val="D9962B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5" name="Text 3"/>
          <p:cNvSpPr txBox="1"/>
          <p:nvPr/>
        </p:nvSpPr>
        <p:spPr>
          <a:xfrm>
            <a:off x="1017270" y="1325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240280"/>
            <a:ext cx="18516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Laboratorija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2697480"/>
            <a:ext cx="17602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izolovan klaster, kontrolne sume, WAL arhiva; repo1 (fajl) i repo2 (blok)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143250" y="1325880"/>
            <a:ext cx="731520" cy="731520"/>
          </a:xfrm>
          <a:prstGeom prst="ellipse">
            <a:avLst/>
          </a:prstGeom>
          <a:solidFill>
            <a:srgbClr val="D9962B"/>
          </a:solidFill>
          <a:ln w="12700">
            <a:solidFill>
              <a:srgbClr val="D9962B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9" name="Text 7"/>
          <p:cNvSpPr txBox="1"/>
          <p:nvPr/>
        </p:nvSpPr>
        <p:spPr>
          <a:xfrm>
            <a:off x="3143250" y="1325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2583180" y="2240280"/>
            <a:ext cx="18516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Backup-i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2628900" y="2697480"/>
            <a:ext cx="17602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→ INCR #1 → INCR #2 → DIFF → INCR #3, u oba repozitorijuma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269230" y="1325880"/>
            <a:ext cx="731520" cy="731520"/>
          </a:xfrm>
          <a:prstGeom prst="ellipse">
            <a:avLst/>
          </a:prstGeom>
          <a:solidFill>
            <a:srgbClr val="D9962B"/>
          </a:solidFill>
          <a:ln w="12700">
            <a:solidFill>
              <a:srgbClr val="D9962B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13" name="Text 11"/>
          <p:cNvSpPr txBox="1"/>
          <p:nvPr/>
        </p:nvSpPr>
        <p:spPr>
          <a:xfrm>
            <a:off x="5269230" y="1325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4709160" y="2240280"/>
            <a:ext cx="18516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Oporavak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4754880" y="2697480"/>
            <a:ext cx="17602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 INCR #2 u novi direktorijum; PITR posle DROP TABLE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95210" y="1325880"/>
            <a:ext cx="731520" cy="731520"/>
          </a:xfrm>
          <a:prstGeom prst="ellipse">
            <a:avLst/>
          </a:prstGeom>
          <a:solidFill>
            <a:srgbClr val="D9962B"/>
          </a:solidFill>
          <a:ln w="12700">
            <a:solidFill>
              <a:srgbClr val="D9962B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17" name="Text 15"/>
          <p:cNvSpPr txBox="1"/>
          <p:nvPr/>
        </p:nvSpPr>
        <p:spPr>
          <a:xfrm>
            <a:off x="7395210" y="1325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6835140" y="2240280"/>
            <a:ext cx="18516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Zadržavanje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6880860" y="2697480"/>
            <a:ext cx="17602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expire sa 1 punim backup-om; izveštaj, CSV i grafici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16052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EDF4F0"/>
          </a:solidFill>
          <a:ln w="12700">
            <a:solidFill>
              <a:srgbClr val="EDF4F0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21" name="Text 19"/>
          <p:cNvSpPr txBox="1"/>
          <p:nvPr/>
        </p:nvSpPr>
        <p:spPr>
          <a:xfrm>
            <a:off x="640080" y="41605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WSL (Ubuntu) · PostgreSQL 18.6 · pgBackRest 2.58.0 · ≈ 500 MB podataka · kompresija lz4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832104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4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Implementacija: skripta pgbackrest_full_vs_incr.py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D99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817 linija Python koda – laboratorija, backup-i, oporavak i izveštaj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560320" cy="1485900"/>
          </a:xfrm>
          <a:prstGeom prst="roundRect">
            <a:avLst>
              <a:gd name="adj" fmla="val 4923"/>
            </a:avLst>
          </a:prstGeom>
          <a:solidFill>
            <a:srgbClr val="EDF4F0"/>
          </a:solidFill>
          <a:ln w="12700">
            <a:solidFill>
              <a:srgbClr val="EDF4F0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5" name="Shape 3"/>
          <p:cNvSpPr/>
          <p:nvPr/>
        </p:nvSpPr>
        <p:spPr>
          <a:xfrm>
            <a:off x="640080" y="1645920"/>
            <a:ext cx="411480" cy="411480"/>
          </a:xfrm>
          <a:prstGeom prst="ellipse">
            <a:avLst/>
          </a:prstGeom>
          <a:solidFill>
            <a:srgbClr val="1F4E3D"/>
          </a:solidFill>
          <a:ln w="12700">
            <a:solidFill>
              <a:srgbClr val="1F4E3D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6" name="Text 4"/>
          <p:cNvSpPr txBox="1"/>
          <p:nvPr/>
        </p:nvSpPr>
        <p:spPr>
          <a:xfrm>
            <a:off x="640080" y="1645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64592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Laboratorija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176272"/>
            <a:ext cx="219456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klasa Lab, run i pgbr: putanje, portovi, pozivi alata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91840" y="1463040"/>
            <a:ext cx="2560320" cy="1485900"/>
          </a:xfrm>
          <a:prstGeom prst="roundRect">
            <a:avLst>
              <a:gd name="adj" fmla="val 4923"/>
            </a:avLst>
          </a:prstGeom>
          <a:solidFill>
            <a:srgbClr val="EDF4F0"/>
          </a:solidFill>
          <a:ln w="12700">
            <a:solidFill>
              <a:srgbClr val="EDF4F0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10" name="Shape 8"/>
          <p:cNvSpPr/>
          <p:nvPr/>
        </p:nvSpPr>
        <p:spPr>
          <a:xfrm>
            <a:off x="3474720" y="1645920"/>
            <a:ext cx="411480" cy="411480"/>
          </a:xfrm>
          <a:prstGeom prst="ellipse">
            <a:avLst/>
          </a:prstGeom>
          <a:solidFill>
            <a:srgbClr val="1F4E3D"/>
          </a:solidFill>
          <a:ln w="12700">
            <a:solidFill>
              <a:srgbClr val="1F4E3D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11" name="Text 9"/>
          <p:cNvSpPr txBox="1"/>
          <p:nvPr/>
        </p:nvSpPr>
        <p:spPr>
          <a:xfrm>
            <a:off x="3474720" y="1645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023360" y="164592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WSL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474720" y="2176272"/>
            <a:ext cx="219456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choose_lab_dir: klaster na Linux disku zbog dozvola 0700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26480" y="1463040"/>
            <a:ext cx="2560320" cy="1485900"/>
          </a:xfrm>
          <a:prstGeom prst="roundRect">
            <a:avLst>
              <a:gd name="adj" fmla="val 4923"/>
            </a:avLst>
          </a:prstGeom>
          <a:solidFill>
            <a:srgbClr val="EDF4F0"/>
          </a:solidFill>
          <a:ln w="12700">
            <a:solidFill>
              <a:srgbClr val="EDF4F0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15" name="Shape 13"/>
          <p:cNvSpPr/>
          <p:nvPr/>
        </p:nvSpPr>
        <p:spPr>
          <a:xfrm>
            <a:off x="6309360" y="1645920"/>
            <a:ext cx="411480" cy="411480"/>
          </a:xfrm>
          <a:prstGeom prst="ellipse">
            <a:avLst/>
          </a:prstGeom>
          <a:solidFill>
            <a:srgbClr val="1F4E3D"/>
          </a:solidFill>
          <a:ln w="12700">
            <a:solidFill>
              <a:srgbClr val="1F4E3D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16" name="Text 14"/>
          <p:cNvSpPr txBox="1"/>
          <p:nvPr/>
        </p:nvSpPr>
        <p:spPr>
          <a:xfrm>
            <a:off x="6309360" y="1645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0" y="164592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Otisak podataka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309360" y="2176272"/>
            <a:ext cx="219456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table_fingerprint: MD5 svih redova za proveru oporavka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3223260"/>
            <a:ext cx="2560320" cy="1485900"/>
          </a:xfrm>
          <a:prstGeom prst="roundRect">
            <a:avLst>
              <a:gd name="adj" fmla="val 4923"/>
            </a:avLst>
          </a:prstGeom>
          <a:solidFill>
            <a:srgbClr val="EDF4F0"/>
          </a:solidFill>
          <a:ln w="12700">
            <a:solidFill>
              <a:srgbClr val="EDF4F0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20" name="Shape 18"/>
          <p:cNvSpPr/>
          <p:nvPr/>
        </p:nvSpPr>
        <p:spPr>
          <a:xfrm>
            <a:off x="640080" y="3406140"/>
            <a:ext cx="411480" cy="411480"/>
          </a:xfrm>
          <a:prstGeom prst="ellipse">
            <a:avLst/>
          </a:prstGeom>
          <a:solidFill>
            <a:srgbClr val="1F4E3D"/>
          </a:solidFill>
          <a:ln w="12700">
            <a:solidFill>
              <a:srgbClr val="1F4E3D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21" name="Text 19"/>
          <p:cNvSpPr txBox="1"/>
          <p:nvPr/>
        </p:nvSpPr>
        <p:spPr>
          <a:xfrm>
            <a:off x="640080" y="34061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188720" y="340614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3936492"/>
            <a:ext cx="219456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do_backup: pgbackrest backup + podaci iz JSON info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291840" y="3223260"/>
            <a:ext cx="2560320" cy="1485900"/>
          </a:xfrm>
          <a:prstGeom prst="roundRect">
            <a:avLst>
              <a:gd name="adj" fmla="val 4923"/>
            </a:avLst>
          </a:prstGeom>
          <a:solidFill>
            <a:srgbClr val="EDF4F0"/>
          </a:solidFill>
          <a:ln w="12700">
            <a:solidFill>
              <a:srgbClr val="EDF4F0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25" name="Shape 23"/>
          <p:cNvSpPr/>
          <p:nvPr/>
        </p:nvSpPr>
        <p:spPr>
          <a:xfrm>
            <a:off x="3474720" y="3406140"/>
            <a:ext cx="411480" cy="411480"/>
          </a:xfrm>
          <a:prstGeom prst="ellipse">
            <a:avLst/>
          </a:prstGeom>
          <a:solidFill>
            <a:srgbClr val="1F4E3D"/>
          </a:solidFill>
          <a:ln w="12700">
            <a:solidFill>
              <a:srgbClr val="1F4E3D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26" name="Text 24"/>
          <p:cNvSpPr txBox="1"/>
          <p:nvPr/>
        </p:nvSpPr>
        <p:spPr>
          <a:xfrm>
            <a:off x="3474720" y="34061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4023360" y="340614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Oporavak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3474720" y="3936492"/>
            <a:ext cx="219456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 --set / --delta, PITR do imenovane tačke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126480" y="3223260"/>
            <a:ext cx="2560320" cy="1485900"/>
          </a:xfrm>
          <a:prstGeom prst="roundRect">
            <a:avLst>
              <a:gd name="adj" fmla="val 4923"/>
            </a:avLst>
          </a:prstGeom>
          <a:solidFill>
            <a:srgbClr val="EDF4F0"/>
          </a:solidFill>
          <a:ln w="12700">
            <a:solidFill>
              <a:srgbClr val="EDF4F0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30" name="Shape 28"/>
          <p:cNvSpPr/>
          <p:nvPr/>
        </p:nvSpPr>
        <p:spPr>
          <a:xfrm>
            <a:off x="6309360" y="3406140"/>
            <a:ext cx="411480" cy="411480"/>
          </a:xfrm>
          <a:prstGeom prst="ellipse">
            <a:avLst/>
          </a:prstGeom>
          <a:solidFill>
            <a:srgbClr val="1F4E3D"/>
          </a:solidFill>
          <a:ln w="12700">
            <a:solidFill>
              <a:srgbClr val="1F4E3D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31" name="Text 29"/>
          <p:cNvSpPr txBox="1"/>
          <p:nvPr/>
        </p:nvSpPr>
        <p:spPr>
          <a:xfrm>
            <a:off x="6309360" y="34061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6858000" y="340614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Izlaz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6309360" y="3936492"/>
            <a:ext cx="219456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izvestaj.md, backupi.csv, pgbackrest_info.txt, grafici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832104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4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Rezultat: veličina backup-a po tipu</a:t>
            </a:r>
            <a:endParaRPr lang="en-US" sz="26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365760" y="1051560"/>
          <a:ext cx="566928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1"/>
          <p:cNvSpPr/>
          <p:nvPr/>
        </p:nvSpPr>
        <p:spPr>
          <a:xfrm>
            <a:off x="6263640" y="1188720"/>
            <a:ext cx="2468880" cy="1417320"/>
          </a:xfrm>
          <a:prstGeom prst="roundRect">
            <a:avLst>
              <a:gd name="adj" fmla="val 5161"/>
            </a:avLst>
          </a:prstGeom>
          <a:solidFill>
            <a:srgbClr val="EDF4F0"/>
          </a:solidFill>
          <a:ln w="12700">
            <a:solidFill>
              <a:srgbClr val="EDF4F0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5" name="Text 2"/>
          <p:cNvSpPr txBox="1"/>
          <p:nvPr/>
        </p:nvSpPr>
        <p:spPr>
          <a:xfrm>
            <a:off x="6446520" y="123444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D99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23–187×</a:t>
            </a:r>
            <a:endParaRPr lang="en-US" sz="3800" dirty="0"/>
          </a:p>
        </p:txBody>
      </p:sp>
      <p:sp>
        <p:nvSpPr>
          <p:cNvPr id="6" name="Text 3"/>
          <p:cNvSpPr txBox="1"/>
          <p:nvPr/>
        </p:nvSpPr>
        <p:spPr>
          <a:xfrm>
            <a:off x="6446520" y="20116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manje prostora sa block incremental-om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6309360" y="2834640"/>
            <a:ext cx="2377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 backup: 180,7 MB posle lz4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 raste: 40,6% baze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Kopirano je isto u oba repo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32104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4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Ključni nalaz: granularnost inkrementa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885950" cy="2103120"/>
          </a:xfrm>
          <a:prstGeom prst="roundRect">
            <a:avLst>
              <a:gd name="adj" fmla="val 3879"/>
            </a:avLst>
          </a:prstGeom>
          <a:solidFill>
            <a:srgbClr val="EDF4F0"/>
          </a:solidFill>
          <a:ln w="12700">
            <a:solidFill>
              <a:srgbClr val="EDF4F0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4" name="Text 2"/>
          <p:cNvSpPr txBox="1"/>
          <p:nvPr/>
        </p:nvSpPr>
        <p:spPr>
          <a:xfrm>
            <a:off x="594360" y="1417320"/>
            <a:ext cx="161163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D99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1%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377440"/>
            <a:ext cx="161163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izmenjenih redova tabele hot_table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71750" y="1280160"/>
            <a:ext cx="1885950" cy="2103120"/>
          </a:xfrm>
          <a:prstGeom prst="roundRect">
            <a:avLst>
              <a:gd name="adj" fmla="val 3879"/>
            </a:avLst>
          </a:prstGeom>
          <a:solidFill>
            <a:srgbClr val="EDF4F0"/>
          </a:solidFill>
          <a:ln w="12700">
            <a:solidFill>
              <a:srgbClr val="EDF4F0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7" name="Text 5"/>
          <p:cNvSpPr txBox="1"/>
          <p:nvPr/>
        </p:nvSpPr>
        <p:spPr>
          <a:xfrm>
            <a:off x="2708910" y="1417320"/>
            <a:ext cx="161163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F4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30,6%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2708910" y="2377440"/>
            <a:ext cx="161163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baze kopirao je INCR #2 (156,1 MB)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86300" y="1280160"/>
            <a:ext cx="1885950" cy="2103120"/>
          </a:xfrm>
          <a:prstGeom prst="roundRect">
            <a:avLst>
              <a:gd name="adj" fmla="val 3879"/>
            </a:avLst>
          </a:prstGeom>
          <a:solidFill>
            <a:srgbClr val="EDF4F0"/>
          </a:solidFill>
          <a:ln w="12700">
            <a:solidFill>
              <a:srgbClr val="EDF4F0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10" name="Text 8"/>
          <p:cNvSpPr txBox="1"/>
          <p:nvPr/>
        </p:nvSpPr>
        <p:spPr>
          <a:xfrm>
            <a:off x="4823460" y="1417320"/>
            <a:ext cx="161163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F4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54,8 MB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4823460" y="2377440"/>
            <a:ext cx="161163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 #2 u repo1 (inkrement fajla)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800850" y="1280160"/>
            <a:ext cx="1885950" cy="2103120"/>
          </a:xfrm>
          <a:prstGeom prst="roundRect">
            <a:avLst>
              <a:gd name="adj" fmla="val 3879"/>
            </a:avLst>
          </a:prstGeom>
          <a:solidFill>
            <a:srgbClr val="EDF4F0"/>
          </a:solidFill>
          <a:ln w="12700">
            <a:solidFill>
              <a:srgbClr val="EDF4F0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13" name="Text 11"/>
          <p:cNvSpPr txBox="1"/>
          <p:nvPr/>
        </p:nvSpPr>
        <p:spPr>
          <a:xfrm>
            <a:off x="6938010" y="1417320"/>
            <a:ext cx="161163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F4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1,1 MB</a:t>
            </a:r>
            <a:endParaRPr lang="en-US" sz="3600" dirty="0"/>
          </a:p>
        </p:txBody>
      </p:sp>
      <p:sp>
        <p:nvSpPr>
          <p:cNvPr id="14" name="Text 12"/>
          <p:cNvSpPr txBox="1"/>
          <p:nvPr/>
        </p:nvSpPr>
        <p:spPr>
          <a:xfrm>
            <a:off x="6938010" y="2377440"/>
            <a:ext cx="161163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isti backup u repo2 (block incremental)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840480"/>
            <a:ext cx="457200" cy="457200"/>
          </a:xfrm>
          <a:prstGeom prst="ellipse">
            <a:avLst/>
          </a:prstGeom>
          <a:solidFill>
            <a:srgbClr val="1F4E3D"/>
          </a:solidFill>
          <a:ln w="12700">
            <a:solidFill>
              <a:srgbClr val="1F4E3D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16" name="Text 14"/>
          <p:cNvSpPr txBox="1"/>
          <p:nvPr/>
        </p:nvSpPr>
        <p:spPr>
          <a:xfrm>
            <a:off x="45720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379476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hot_table je jedan fajl od 136,6 MB – izmena bilo kog reda menja ceo fajl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32104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4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Oporavak i politika zadržavanja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EDF4F0"/>
          </a:solidFill>
          <a:ln w="12700">
            <a:solidFill>
              <a:srgbClr val="EDF4F0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4" name="Shape 2"/>
          <p:cNvSpPr/>
          <p:nvPr/>
        </p:nvSpPr>
        <p:spPr>
          <a:xfrm>
            <a:off x="594360" y="1257300"/>
            <a:ext cx="777240" cy="457200"/>
          </a:xfrm>
          <a:prstGeom prst="roundRect">
            <a:avLst>
              <a:gd name="adj" fmla="val 16000"/>
            </a:avLst>
          </a:prstGeom>
          <a:solidFill>
            <a:srgbClr val="1F4E3D"/>
          </a:solidFill>
          <a:ln w="12700">
            <a:solidFill>
              <a:srgbClr val="1F4E3D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5" name="Text 3"/>
          <p:cNvSpPr txBox="1"/>
          <p:nvPr/>
        </p:nvSpPr>
        <p:spPr>
          <a:xfrm>
            <a:off x="594360" y="125730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097280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 #2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2788920" y="1097280"/>
            <a:ext cx="320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3108960" y="109728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99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2,52 s + 0,41 s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5303520" y="109728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lanac od 3 backup-a u novi direktorijum; otisak identičan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01168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EDF4F0"/>
          </a:solidFill>
          <a:ln w="12700">
            <a:solidFill>
              <a:srgbClr val="EDF4F0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11" name="Shape 9"/>
          <p:cNvSpPr/>
          <p:nvPr/>
        </p:nvSpPr>
        <p:spPr>
          <a:xfrm>
            <a:off x="594360" y="2171700"/>
            <a:ext cx="777240" cy="457200"/>
          </a:xfrm>
          <a:prstGeom prst="roundRect">
            <a:avLst>
              <a:gd name="adj" fmla="val 16000"/>
            </a:avLst>
          </a:prstGeom>
          <a:solidFill>
            <a:srgbClr val="1F4E3D"/>
          </a:solidFill>
          <a:ln w="12700">
            <a:solidFill>
              <a:srgbClr val="1F4E3D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12" name="Text 10"/>
          <p:cNvSpPr txBox="1"/>
          <p:nvPr/>
        </p:nvSpPr>
        <p:spPr>
          <a:xfrm>
            <a:off x="594360" y="217170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PITR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554480" y="2011680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TABLE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2788920" y="2011680"/>
            <a:ext cx="320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3108960" y="201168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99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0,66 s + 0,41 s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5303520" y="201168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--delta do tačke pre greške; otisak identičan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292608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EDF4F0"/>
          </a:solidFill>
          <a:ln w="12700">
            <a:solidFill>
              <a:srgbClr val="EDF4F0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18" name="Shape 16"/>
          <p:cNvSpPr/>
          <p:nvPr/>
        </p:nvSpPr>
        <p:spPr>
          <a:xfrm>
            <a:off x="594360" y="3086100"/>
            <a:ext cx="777240" cy="457200"/>
          </a:xfrm>
          <a:prstGeom prst="roundRect">
            <a:avLst>
              <a:gd name="adj" fmla="val 16000"/>
            </a:avLst>
          </a:prstGeom>
          <a:solidFill>
            <a:srgbClr val="1F4E3D"/>
          </a:solidFill>
          <a:ln w="12700">
            <a:solidFill>
              <a:srgbClr val="1F4E3D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19" name="Text 17"/>
          <p:cNvSpPr txBox="1"/>
          <p:nvPr/>
        </p:nvSpPr>
        <p:spPr>
          <a:xfrm>
            <a:off x="594360" y="308610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554480" y="2926080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posle backup-a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2788920" y="2926080"/>
            <a:ext cx="320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3108960" y="292608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99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vraćeno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5303520" y="292608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promene posle poslednjeg backup-a vraćene iz arhive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384048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EDF4F0"/>
          </a:solidFill>
          <a:ln w="12700">
            <a:solidFill>
              <a:srgbClr val="EDF4F0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25" name="Shape 23"/>
          <p:cNvSpPr/>
          <p:nvPr/>
        </p:nvSpPr>
        <p:spPr>
          <a:xfrm>
            <a:off x="594360" y="4000500"/>
            <a:ext cx="777240" cy="457200"/>
          </a:xfrm>
          <a:prstGeom prst="roundRect">
            <a:avLst>
              <a:gd name="adj" fmla="val 16000"/>
            </a:avLst>
          </a:prstGeom>
          <a:solidFill>
            <a:srgbClr val="1F4E3D"/>
          </a:solidFill>
          <a:ln w="12700">
            <a:solidFill>
              <a:srgbClr val="1F4E3D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26" name="Text 24"/>
          <p:cNvSpPr txBox="1"/>
          <p:nvPr/>
        </p:nvSpPr>
        <p:spPr>
          <a:xfrm>
            <a:off x="594360" y="400050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expire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1554480" y="3840480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pun backup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2788920" y="3840480"/>
            <a:ext cx="320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3108960" y="384048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99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−5 backup-a</a:t>
            </a:r>
            <a:endParaRPr lang="en-US" sz="1700" dirty="0"/>
          </a:p>
        </p:txBody>
      </p:sp>
      <p:sp>
        <p:nvSpPr>
          <p:cNvPr id="30" name="Text 28"/>
          <p:cNvSpPr txBox="1"/>
          <p:nvPr/>
        </p:nvSpPr>
        <p:spPr>
          <a:xfrm>
            <a:off x="5303520" y="384048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brišu se i svi zavisni backup-i i stari WAL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832104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4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Trajanje i procena nedeljne strategije</a:t>
            </a:r>
            <a:endParaRPr lang="en-US" sz="26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365760" y="1051560"/>
          <a:ext cx="566928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1"/>
          <p:cNvSpPr/>
          <p:nvPr/>
        </p:nvSpPr>
        <p:spPr>
          <a:xfrm>
            <a:off x="6263640" y="1188720"/>
            <a:ext cx="2468880" cy="1417320"/>
          </a:xfrm>
          <a:prstGeom prst="roundRect">
            <a:avLst>
              <a:gd name="adj" fmla="val 5161"/>
            </a:avLst>
          </a:prstGeom>
          <a:solidFill>
            <a:srgbClr val="EDF4F0"/>
          </a:solidFill>
          <a:ln w="12700">
            <a:solidFill>
              <a:srgbClr val="EDF4F0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5" name="Text 2"/>
          <p:cNvSpPr txBox="1"/>
          <p:nvPr/>
        </p:nvSpPr>
        <p:spPr>
          <a:xfrm>
            <a:off x="6446520" y="123444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D99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3,18 s</a:t>
            </a:r>
            <a:endParaRPr lang="en-US" sz="3800" dirty="0"/>
          </a:p>
        </p:txBody>
      </p:sp>
      <p:sp>
        <p:nvSpPr>
          <p:cNvPr id="6" name="Text 3"/>
          <p:cNvSpPr txBox="1"/>
          <p:nvPr/>
        </p:nvSpPr>
        <p:spPr>
          <a:xfrm>
            <a:off x="6446520" y="20116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 backup; ostali 0,76–1,13 s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6309360" y="2834640"/>
            <a:ext cx="2377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Inkrementi štede ≈ 70% prostora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 oporavak: do 7 backup-a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Vreme: pretežno fiksni trošak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32104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4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Diskusija i ograničenja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77640" cy="3520440"/>
          </a:xfrm>
          <a:prstGeom prst="roundRect">
            <a:avLst>
              <a:gd name="adj" fmla="val 2078"/>
            </a:avLst>
          </a:prstGeom>
          <a:solidFill>
            <a:srgbClr val="EDF4F0"/>
          </a:solidFill>
          <a:ln w="12700">
            <a:solidFill>
              <a:srgbClr val="EDF4F0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4" name="Shape 2"/>
          <p:cNvSpPr/>
          <p:nvPr/>
        </p:nvSpPr>
        <p:spPr>
          <a:xfrm>
            <a:off x="685800" y="1371600"/>
            <a:ext cx="457200" cy="457200"/>
          </a:xfrm>
          <a:prstGeom prst="ellipse">
            <a:avLst/>
          </a:prstGeom>
          <a:solidFill>
            <a:srgbClr val="D9962B"/>
          </a:solidFill>
          <a:ln w="12700">
            <a:solidFill>
              <a:srgbClr val="D9962B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5" name="Text 3"/>
          <p:cNvSpPr txBox="1"/>
          <p:nvPr/>
        </p:nvSpPr>
        <p:spPr>
          <a:xfrm>
            <a:off x="68580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3716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Zapažanja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011680"/>
            <a:ext cx="347472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Veličina inkrementa zavisi od izmenjenih fajlova, ne redova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incremental štedi prostor i prenos, ne čitanje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 je veći, ali skraćuje lanac za oporavak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 RPO obezbeđuje WAL arhiva, ne učestalost backup-a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09160" y="1188720"/>
            <a:ext cx="3977640" cy="3520440"/>
          </a:xfrm>
          <a:prstGeom prst="roundRect">
            <a:avLst>
              <a:gd name="adj" fmla="val 2078"/>
            </a:avLst>
          </a:prstGeom>
          <a:solidFill>
            <a:srgbClr val="EDF4F0"/>
          </a:solidFill>
          <a:ln w="12700">
            <a:solidFill>
              <a:srgbClr val="EDF4F0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9" name="Shape 7"/>
          <p:cNvSpPr/>
          <p:nvPr/>
        </p:nvSpPr>
        <p:spPr>
          <a:xfrm>
            <a:off x="4937760" y="1371600"/>
            <a:ext cx="457200" cy="457200"/>
          </a:xfrm>
          <a:prstGeom prst="ellipse">
            <a:avLst/>
          </a:prstGeom>
          <a:solidFill>
            <a:srgbClr val="1F4E3D"/>
          </a:solidFill>
          <a:ln w="12700">
            <a:solidFill>
              <a:srgbClr val="1F4E3D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10" name="Text 8"/>
          <p:cNvSpPr txBox="1"/>
          <p:nvPr/>
        </p:nvSpPr>
        <p:spPr>
          <a:xfrm>
            <a:off x="493776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532120" y="13716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Ograničenja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983480" y="2011680"/>
            <a:ext cx="347472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Jedan računar, repozitorijumi na istom disku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Mala baza (500 MB) – veliki udeo fiksnih troškova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Autovacuum isključen radi determinizma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podaci se kompresuju drugačije od stvarnih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32104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4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Zaključak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560320" cy="2514600"/>
          </a:xfrm>
          <a:prstGeom prst="roundRect">
            <a:avLst>
              <a:gd name="adj" fmla="val 2909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4" name="Shape 2"/>
          <p:cNvSpPr/>
          <p:nvPr/>
        </p:nvSpPr>
        <p:spPr>
          <a:xfrm>
            <a:off x="685800" y="1371600"/>
            <a:ext cx="502920" cy="502920"/>
          </a:xfrm>
          <a:prstGeom prst="ellipse">
            <a:avLst/>
          </a:prstGeom>
          <a:solidFill>
            <a:srgbClr val="D9962B"/>
          </a:solidFill>
          <a:ln w="12700">
            <a:solidFill>
              <a:srgbClr val="D9962B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5" name="Text 3"/>
          <p:cNvSpPr txBox="1"/>
          <p:nvPr/>
        </p:nvSpPr>
        <p:spPr>
          <a:xfrm>
            <a:off x="68580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3716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Šta je urađeno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011680"/>
            <a:ext cx="21031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Upoređeni full, diff i incr backup u pgBackRest-u, inkrement fajla i bloka, oporavak i retention.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91840" y="1188720"/>
            <a:ext cx="2560320" cy="2514600"/>
          </a:xfrm>
          <a:prstGeom prst="roundRect">
            <a:avLst>
              <a:gd name="adj" fmla="val 2909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9" name="Shape 7"/>
          <p:cNvSpPr/>
          <p:nvPr/>
        </p:nvSpPr>
        <p:spPr>
          <a:xfrm>
            <a:off x="3520440" y="1371600"/>
            <a:ext cx="502920" cy="502920"/>
          </a:xfrm>
          <a:prstGeom prst="ellipse">
            <a:avLst/>
          </a:prstGeom>
          <a:solidFill>
            <a:srgbClr val="D9962B"/>
          </a:solidFill>
          <a:ln w="12700">
            <a:solidFill>
              <a:srgbClr val="D9962B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10" name="Text 8"/>
          <p:cNvSpPr txBox="1"/>
          <p:nvPr/>
        </p:nvSpPr>
        <p:spPr>
          <a:xfrm>
            <a:off x="352044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160520" y="13716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Kako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3520440" y="2011680"/>
            <a:ext cx="21031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Automatizovana laboratorija: dva repozitorijuma, merenje, restore i PITR sa MD5 proverom.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26480" y="1188720"/>
            <a:ext cx="2560320" cy="2514600"/>
          </a:xfrm>
          <a:prstGeom prst="roundRect">
            <a:avLst>
              <a:gd name="adj" fmla="val 2909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14" name="Shape 12"/>
          <p:cNvSpPr/>
          <p:nvPr/>
        </p:nvSpPr>
        <p:spPr>
          <a:xfrm>
            <a:off x="6355080" y="1371600"/>
            <a:ext cx="502920" cy="502920"/>
          </a:xfrm>
          <a:prstGeom prst="ellipse">
            <a:avLst/>
          </a:prstGeom>
          <a:solidFill>
            <a:srgbClr val="D9962B"/>
          </a:solidFill>
          <a:ln w="12700">
            <a:solidFill>
              <a:srgbClr val="D9962B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15" name="Text 13"/>
          <p:cNvSpPr txBox="1"/>
          <p:nvPr/>
        </p:nvSpPr>
        <p:spPr>
          <a:xfrm>
            <a:off x="635508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995160" y="13716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Rezultati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6355080" y="2011680"/>
            <a:ext cx="21031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1% redova → 30,6% baze; block incremental 54,8 → 1,1 MB; oba oporavka uspešna.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3977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99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Hvala na </a:t>
            </a:r>
            <a:r>
              <a:rPr lang="en-US" sz="2800" b="1" dirty="0" err="1">
                <a:solidFill>
                  <a:srgbClr val="D99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pažnji</a:t>
            </a:r>
            <a:r>
              <a:rPr lang="en-US" sz="2800" b="1" dirty="0">
                <a:solidFill>
                  <a:srgbClr val="D99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800" dirty="0"/>
          </a:p>
        </p:txBody>
      </p:sp>
      <p:sp>
        <p:nvSpPr>
          <p:cNvPr id="19" name="Text 17"/>
          <p:cNvSpPr txBox="1"/>
          <p:nvPr/>
        </p:nvSpPr>
        <p:spPr>
          <a:xfrm>
            <a:off x="832104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7CF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2186</Words>
  <Application>Microsoft Office PowerPoint</Application>
  <PresentationFormat>On-screen Show (16:9)</PresentationFormat>
  <Paragraphs>178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Full vs Incremental backup korišćenjem pgBackRest alata</dc:title>
  <dc:subject>PptxGenJS Presentation</dc:subject>
  <dc:creator>PptxGenJS</dc:creator>
  <cp:lastModifiedBy>Katarina Milojković</cp:lastModifiedBy>
  <cp:revision>3</cp:revision>
  <dcterms:created xsi:type="dcterms:W3CDTF">2026-09-30T15:00:29Z</dcterms:created>
  <dcterms:modified xsi:type="dcterms:W3CDTF">2026-09-30T15:08:30Z</dcterms:modified>
</cp:coreProperties>
</file>