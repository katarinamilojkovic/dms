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48" y="6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9"/>
                </a:solidFill>
                <a:latin typeface="Calibri"/>
              </a:defRPr>
            </a:pPr>
            <a:r>
              <a:rPr lang="sr-Latn-RS" sz="1200" b="0" i="0" u="none" strike="noStrike">
                <a:solidFill>
                  <a:srgbClr val="1B2A49"/>
                </a:solidFill>
                <a:latin typeface="Calibri"/>
              </a:rPr>
              <a:t>Geometrijska sredina vremena upita [ms]</a:t>
            </a:r>
          </a:p>
        </c:rich>
      </c:tx>
      <c:overlay val="0"/>
    </c:title>
    <c:autoTitleDeleted val="0"/>
    <c:plotArea>
      <c:layout/>
      <c:barChart>
        <c:barDir val="col"/>
        <c:grouping val="clustered"/>
        <c:varyColors val="0"/>
        <c:ser>
          <c:idx val="0"/>
          <c:order val="0"/>
          <c:tx>
            <c:strRef>
              <c:f>Sheet1!$B$1</c:f>
              <c:strCache>
                <c:ptCount val="1"/>
                <c:pt idx="0">
                  <c:v>geomean [ms]</c:v>
                </c:pt>
              </c:strCache>
            </c:strRef>
          </c:tx>
          <c:spPr>
            <a:solidFill>
              <a:srgbClr val="1B2A49"/>
            </a:solidFill>
            <a:effectLst/>
          </c:spPr>
          <c:invertIfNegative val="0"/>
          <c:dLbls>
            <c:numFmt formatCode="0.0" sourceLinked="0"/>
            <c:spPr>
              <a:noFill/>
              <a:ln>
                <a:noFill/>
              </a:ln>
              <a:effectLst/>
            </c:spPr>
            <c:txPr>
              <a:bodyPr/>
              <a:lstStyle/>
              <a:p>
                <a:pPr>
                  <a:defRPr sz="1000" b="0" i="0" u="none" strike="noStrike">
                    <a:solidFill>
                      <a:srgbClr val="1F2937"/>
                    </a:solidFill>
                    <a:latin typeface="Arial"/>
                  </a:defRPr>
                </a:pPr>
                <a:endParaRPr lang="en-A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F0 baseline</c:v>
                </c:pt>
                <c:pt idx="1">
                  <c:v>F1 ANALYZE</c:v>
                </c:pt>
                <c:pt idx="2">
                  <c:v>F2 indeksi</c:v>
                </c:pt>
                <c:pt idx="3">
                  <c:v>F3 prepisivanje</c:v>
                </c:pt>
                <c:pt idx="4">
                  <c:v>F4 konfiguracija</c:v>
                </c:pt>
                <c:pt idx="5">
                  <c:v>F5 mat. pogled</c:v>
                </c:pt>
              </c:strCache>
            </c:strRef>
          </c:cat>
          <c:val>
            <c:numRef>
              <c:f>Sheet1!$B$2:$B$7</c:f>
              <c:numCache>
                <c:formatCode>General</c:formatCode>
                <c:ptCount val="6"/>
                <c:pt idx="0">
                  <c:v>374.5</c:v>
                </c:pt>
                <c:pt idx="1">
                  <c:v>246.2</c:v>
                </c:pt>
                <c:pt idx="2">
                  <c:v>102.9</c:v>
                </c:pt>
                <c:pt idx="3">
                  <c:v>73.3</c:v>
                </c:pt>
                <c:pt idx="4">
                  <c:v>68</c:v>
                </c:pt>
                <c:pt idx="5">
                  <c:v>41.9</c:v>
                </c:pt>
              </c:numCache>
            </c:numRef>
          </c:val>
          <c:extLst>
            <c:ext xmlns:c16="http://schemas.microsoft.com/office/drawing/2014/chart" uri="{C3380CC4-5D6E-409C-BE32-E72D297353CC}">
              <c16:uniqueId val="{00000000-056A-48F4-A159-9117F491EE3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9"/>
                </a:solidFill>
                <a:latin typeface="Calibri"/>
              </a:defRPr>
            </a:pPr>
            <a:r>
              <a:rPr sz="1200" b="0" i="0" u="none" strike="noStrike">
                <a:solidFill>
                  <a:srgbClr val="1B2A49"/>
                </a:solidFill>
                <a:latin typeface="Calibri"/>
              </a:rPr>
              <a:t>Throughput test u finalnoj fazi [upita/sat]</a:t>
            </a:r>
          </a:p>
        </c:rich>
      </c:tx>
      <c:overlay val="0"/>
    </c:title>
    <c:autoTitleDeleted val="0"/>
    <c:plotArea>
      <c:layout/>
      <c:barChart>
        <c:barDir val="col"/>
        <c:grouping val="clustered"/>
        <c:varyColors val="0"/>
        <c:ser>
          <c:idx val="0"/>
          <c:order val="0"/>
          <c:tx>
            <c:strRef>
              <c:f>Sheet1!$B$1</c:f>
              <c:strCache>
                <c:ptCount val="1"/>
                <c:pt idx="0">
                  <c:v>upita na sat</c:v>
                </c:pt>
              </c:strCache>
            </c:strRef>
          </c:tx>
          <c:spPr>
            <a:solidFill>
              <a:srgbClr val="1B2A49"/>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A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tok</c:v>
                </c:pt>
                <c:pt idx="1">
                  <c:v>2 toka</c:v>
                </c:pt>
                <c:pt idx="2">
                  <c:v>4 toka</c:v>
                </c:pt>
              </c:strCache>
            </c:strRef>
          </c:cat>
          <c:val>
            <c:numRef>
              <c:f>Sheet1!$B$2:$B$4</c:f>
              <c:numCache>
                <c:formatCode>General</c:formatCode>
                <c:ptCount val="3"/>
                <c:pt idx="0">
                  <c:v>34045</c:v>
                </c:pt>
                <c:pt idx="1">
                  <c:v>60196</c:v>
                </c:pt>
                <c:pt idx="2">
                  <c:v>89482</c:v>
                </c:pt>
              </c:numCache>
            </c:numRef>
          </c:val>
          <c:extLst>
            <c:ext xmlns:c16="http://schemas.microsoft.com/office/drawing/2014/chart" uri="{C3380CC4-5D6E-409C-BE32-E72D297353CC}">
              <c16:uniqueId val="{00000000-CE3B-49EB-AEFF-E6AD7B14F6E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094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Dobar dan. Tema moje prezentacije je optimizacija SQL upita primenom benchmarka po uzoru na standard TPC-H. Pokazaću kako se efekat svake tehnike optimizacije može objektivno izmeriti i šta su merenja pokazala na sistemu PostgreSQL.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je deklarativan jezik: mi opisujemo šta želimo da dobijemo, a sistem sam odlučuje kako će to izračunati. Tu odluku donosi optimizator upita, i to na osnovu informacija koje ima – statistike o podacima, raspoloživih indeksa, konfiguracije i oblika u kome je upit napisan.
Problem je u tome što ista intervencija ne pomaže svakom upitu. Indeks koji jedan upit ubrza stotinu puta, drugi upit može čak da uspori. Zato odluke ne treba donositi po osećaju, već na osnovu merenja.
Cilj rada je da se pet osnovnih tehnika optimizacije primeni na devet upita iz benchmarka TPC-H i da se izmeri efekat svake od njih. Benchmark TPC-H je izabran zato što definiše šemu, podatke, upite i metrike, pa su rezultati uporedivi i ponovljivi.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Upit prolazi kroz četiri faze: parser proverava sintaksu, rewriter primenjuje transformacije koje ne zavise od troškova, optimizator bira plan izvršavanja, a executor taj plan izvršava.
Optimizator zasnovan na troškovima procenjuje trošak svakog mogućeg plana – koliko stranica mora da se pročita i koliko redova da se obradi – i bira najjeftiniji. Najvažniji ulaz te procene je kardinalnost, odnosno broj redova koji izlazi iz svakog operatora.
Kardinalnost se procenjuje iz statistike koju prikuplja naredba ANALYZE. Kada statistike nema, PostgreSQL koristi fiksne vrednosti – na primer, pretpostavlja da uslov jednakosti propušta pola procenta redova. Videćemo da takva pretpostavka može da greši i više od sto puta.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radu je primenjeno pet tehnika. Prva je statistika. Druga su indeksi – pored običnog B-stabla, korišćeni su pokrivajući indeks, koji nosi i dodatne kolone pa se tabela uopšte ne čita, i kompozitni indeks nad dve kolone.
Treća tehnika je prepisivanje upita: uslov nad funkcijom kolone ne može da koristi indeks, pa se prepisuje u uslov opsega, a korelisani podupit se prepisuje tako da se računa samo jednom. Četvrta je konfiguracija – memorija, paralelizam i JIT – a peta materijalizovani pogled, koji čuva unapred izračunat rezultat.
Efekat se sumira metrikama iz TPC-H standarda. Ključna je geometrijska sredina vremena, jer daje isti značaj relativnom ubrzanju svakog upita.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Eksperiment ima četiri koraka. Najpre se kreira TPC-H šema, namerno bez ključeva i indeksa, i generišu se podaci za faktor skaliranja 0,3 – oko milion i osamsto hiljada stavki narudžbina.
Zatim se kroz šest faza, od kojih svaka zadržava prethodne optimizacije, meri devet upita. Svaki upit se izvrši jednom radi zagrevanja keša, a zatim tri puta, i uzima se medijana.
Treći korak je provera: rezultat svakog upita poredi se sa referentnim otiskom, pa znamo da optimizacija nije promenila rezultat, a planovi izvršavanja se čuvaju za analizu. Na kraju se računaju zbirne metrike i pravi izveštaj.
Svaki upit ima i vremensko ograničenje od šezdeset sekundi, kako jedan loš plan ne bi zaustavio ceo eksperiment. Ako upit prekorači to vreme, beleži se kao donja granica.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 eksperiment izvodi jedna Python skripta od 1258 linija. Podaci se generišu u samoj bazi, uz fiksno seme, pa isti faktor skaliranja uvek daje iste podatke.
Svaki upit postoji u do tri varijante: originalnoj, prepisanoj i varijanti nad materijalizovanim pogledom. Faze su opisane deklarativno, listom PHASES, pa glavna petlja za svaku fazu primeni optimizaciju, izmeri sve upite i zapiše rezultate.
Throughput test pokreće više paralelnih tokova upita, a na kraju skripta pravi izveštaj, CSV fajl, 54 plana izvršavanja i tri grafika.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Ovo je glavni rezultat. Geometrijska sredina vremena devet upita pala je sa 374,5 milisekundi u polaznom stanju na 41,9 milisekundi u finalnoj fazi, odnosno 8,9 puta.
Svaka faza je doprinela, ali ne podjednako. Najveći pojedinačni skok doneli su indeksi – 2,4 puta – a najmanji podešavanje konfiguracije, svega sedam procenata. Ono što grafik ne pokazuje je da svaka tehnika deluje na drugi skup upita, i to ćemo videti na sledećim slajdovima.
Važno je i da su svi upiti, u svim fazama, vratili isti rezultat kao polazno izvršavanje. To znači da su ubrzanja dobijena bez promene rezultata, što skripta proverava otiskom svakog rezultata.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Prva faza pokazuje koliko je statistika važna. Bez nje, za uslov nad zastavicom povraćaja optimizator je procenio 3.218 redova, a stvarno ih je 445 hiljada. Najveća greška bila je 148 puta.
Posle naredbe ANALYZE, koja je trajala manje od sekunde, sve procene su tačne unutar dva procenta. Sa tačnim procenama optimizator bira bolje planove, pa je geometrijska sredina pala 1,5 puta – bez ijednog novog indeksa. To je najjeftinija optimizacija u celom eksperimentu.
Posledice loše procene bile su konkretne: upiti Q1 i Q18 su zbog nje birali sortiranje koje ne staje u memoriju, pa su podatke prelivali na disk. U produkciji ovu ulogu ima pozadinski proces autovacuum, a eksperiment pokazuje koliko je opasno kada statistika nije ažurna.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Indeksi su doneli najveća pojedinačna ubrzanja. Upit Q17 sa korelisanim podupitom nije završen ni za šezdeset sekundi; sa indeksom traje osamdeset milisekundi, a posle dekorelacije pedeset. Upit Q6 je zahvaljujući pokrivajućem indeksu čitao dvadeset puta manje blokova.
Upit Q14 pokazuje da je oblik upita jednako važan: indeks je postojao, ali ga je upit koristio tek kada je uslov prepisan u oblik opsega.
Poslednji red je upozorenje. Upit Q3 je posle uvođenja indeksa postao sporiji, jer je optimizator izabrao plan koji je po modelu troškova jeftiniji, a u stvarnosti sporiji. Skripta je ovu regresiju otkrila automatski. Zato se svaki indeks mora opravdati merenjem – indeksi u eksperimentu zauzimaju 161 megabajt, skoro polovinu veličine podataka, i usporavaju svaki upis.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Podešavanje memorije i paralelizma pomoglo je samo upitima koji obrađuju milione redova – Q1 i Q18 su brži za dvadesetak procenata – dok kratki upiti ne dobijaju ništa.
Materijalizovani pogled je dao najveće ubrzanje: upit Q1 čita nekoliko hiljada dnevnih zbirova umesto 1,8 miliona stavki, i ubrzan je 532 puta.
Grafik pokazuje throughput test. Četiri paralelna toka daju 2,6 puta veću propusnu moć od jednog, a ne četiri puta, jer tokovi dele procesor, memoriju i paralelne radnike servera. To je u skladu sa Amdahlovim zakonom: deo posla koji se ne može paralelizovati ograničava ukupno ubrzanje.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Rezultati potvrđuju literaturu: procena kardinalnosti je najslabija karika optimizacije, indeksi pomažu samo selektivnim upitima, a oblik upita odlučuje da li se indeks uopšte može iskoristiti.
Treba navesti i ograničenja. Podaci su generisani po uzoru na TPC-H, korišćeno je devet od dvadeset dva upita, pa rezultat nije zvanični TPC-H rezultat. Faktor skaliranja je mali, merenje je rađeno na toplom kešu, a za Q17 u prve dve faze zabeležena je samo donja granica od šezdeset sekundi.
Uočena je i jedna prividna regresija: Q17 je u poslednjoj fazi izmeren sporije, iako se ni plan ni broj pročitanih blokova nisu promenili. To je uticaj okruženja – drugih procesa i keša operativnog sistema – i pokazuje zašto svaku prijavljenu regresiju treba proveriti uvidom u plan.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zaključim. U radu je izmeren efekat pet tehnika optimizacije na devet TPC-H upita, kroz šest faza. Merenje izvodi skripta koja automatski generiše podatke, meri upite, proverava rezultate, čuva planove i otkriva regresije.
Geometrijska sredina vremena smanjena je 8,9 puta. Statistika je najjeftinija optimizacija, indeksi daju najveća ubrzanja, ali uz rizik regresije, a materijalizovani pogled ubrzava analitiku stotinama puta po cenu svežine podataka. Glavni zaključak je da optimizacija nije jedna tehnika, već niz intervencija čiji se efekat pouzdano utvrđuje samo merenjem.
Hvala na pažnji. Rado ću odgovoriti na pitanja.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a:effectLst/>
      </p:bgPr>
    </p:bg>
    <p:spTree>
      <p:nvGrpSpPr>
        <p:cNvPr id="1" name=""/>
        <p:cNvGrpSpPr/>
        <p:nvPr/>
      </p:nvGrpSpPr>
      <p:grpSpPr>
        <a:xfrm>
          <a:off x="0" y="0"/>
          <a:ext cx="0" cy="0"/>
          <a:chOff x="0" y="0"/>
          <a:chExt cx="0" cy="0"/>
        </a:xfrm>
      </p:grpSpPr>
      <p:sp>
        <p:nvSpPr>
          <p:cNvPr id="2" name="Shape 0"/>
          <p:cNvSpPr/>
          <p:nvPr/>
        </p:nvSpPr>
        <p:spPr>
          <a:xfrm>
            <a:off x="6949440" y="457200"/>
            <a:ext cx="1737360" cy="1737360"/>
          </a:xfrm>
          <a:prstGeom prst="ellipse">
            <a:avLst/>
          </a:prstGeom>
          <a:solidFill>
            <a:srgbClr val="E8772E">
              <a:alpha val="85000"/>
            </a:srgbClr>
          </a:solidFill>
          <a:ln w="12700">
            <a:solidFill>
              <a:srgbClr val="E8772E">
                <a:alpha val="85000"/>
              </a:srgbClr>
            </a:solidFill>
            <a:prstDash val="solid"/>
          </a:ln>
        </p:spPr>
        <p:txBody>
          <a:bodyPr/>
          <a:lstStyle/>
          <a:p>
            <a:endParaRPr lang="en-AT"/>
          </a:p>
        </p:txBody>
      </p:sp>
      <p:sp>
        <p:nvSpPr>
          <p:cNvPr id="3" name="Shape 1"/>
          <p:cNvSpPr/>
          <p:nvPr/>
        </p:nvSpPr>
        <p:spPr>
          <a:xfrm>
            <a:off x="7955280" y="1737360"/>
            <a:ext cx="822960" cy="822960"/>
          </a:xfrm>
          <a:prstGeom prst="ellipse">
            <a:avLst/>
          </a:prstGeom>
          <a:solidFill>
            <a:srgbClr val="FFFFFF">
              <a:alpha val="20000"/>
            </a:srgbClr>
          </a:solidFill>
          <a:ln w="12700">
            <a:solidFill>
              <a:srgbClr val="FFFFFF">
                <a:alpha val="20000"/>
              </a:srgbClr>
            </a:solidFill>
            <a:prstDash val="solid"/>
          </a:ln>
        </p:spPr>
        <p:txBody>
          <a:bodyPr/>
          <a:lstStyle/>
          <a:p>
            <a:endParaRPr lang="en-AT"/>
          </a:p>
        </p:txBody>
      </p:sp>
      <p:sp>
        <p:nvSpPr>
          <p:cNvPr id="4" name="Text 2"/>
          <p:cNvSpPr txBox="1"/>
          <p:nvPr/>
        </p:nvSpPr>
        <p:spPr>
          <a:xfrm>
            <a:off x="640080" y="822960"/>
            <a:ext cx="5943600" cy="320040"/>
          </a:xfrm>
          <a:prstGeom prst="rect">
            <a:avLst/>
          </a:prstGeom>
          <a:noFill/>
          <a:ln/>
        </p:spPr>
        <p:txBody>
          <a:bodyPr wrap="square" lIns="0" tIns="0" rIns="0" bIns="0" rtlCol="0" anchor="ctr"/>
          <a:lstStyle/>
          <a:p>
            <a:pPr marL="0" indent="0">
              <a:buNone/>
            </a:pPr>
            <a:r>
              <a:rPr lang="en-US" sz="1300" b="1" kern="0" spc="300" dirty="0">
                <a:solidFill>
                  <a:srgbClr val="E8772E"/>
                </a:solidFill>
                <a:latin typeface="Calibri" pitchFamily="34" charset="0"/>
                <a:ea typeface="Calibri" pitchFamily="34" charset="-122"/>
                <a:cs typeface="Calibri" pitchFamily="34" charset="-120"/>
              </a:rPr>
              <a:t>SEMINARSKI RAD</a:t>
            </a:r>
            <a:endParaRPr lang="en-US" sz="1300" dirty="0"/>
          </a:p>
        </p:txBody>
      </p:sp>
      <p:sp>
        <p:nvSpPr>
          <p:cNvPr id="5" name="Text 3"/>
          <p:cNvSpPr txBox="1"/>
          <p:nvPr/>
        </p:nvSpPr>
        <p:spPr>
          <a:xfrm>
            <a:off x="640080" y="1234440"/>
            <a:ext cx="6217920" cy="173736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Optimizacija upita primenom TPC-like benchmarking pristupa</a:t>
            </a:r>
            <a:endParaRPr lang="en-US" sz="3200" dirty="0"/>
          </a:p>
        </p:txBody>
      </p:sp>
      <p:sp>
        <p:nvSpPr>
          <p:cNvPr id="6" name="Text 4"/>
          <p:cNvSpPr txBox="1"/>
          <p:nvPr/>
        </p:nvSpPr>
        <p:spPr>
          <a:xfrm>
            <a:off x="640080" y="2971800"/>
            <a:ext cx="6217920" cy="457200"/>
          </a:xfrm>
          <a:prstGeom prst="rect">
            <a:avLst/>
          </a:prstGeom>
          <a:noFill/>
          <a:ln/>
        </p:spPr>
        <p:txBody>
          <a:bodyPr wrap="square" lIns="0" tIns="0" rIns="0" bIns="0" rtlCol="0" anchor="ctr"/>
          <a:lstStyle/>
          <a:p>
            <a:pPr marL="0" indent="0">
              <a:buNone/>
            </a:pPr>
            <a:r>
              <a:rPr lang="en-US" sz="1600" dirty="0">
                <a:solidFill>
                  <a:srgbClr val="DDE3EE"/>
                </a:solidFill>
                <a:latin typeface="Calibri" pitchFamily="34" charset="0"/>
                <a:ea typeface="Calibri" pitchFamily="34" charset="-122"/>
                <a:cs typeface="Calibri" pitchFamily="34" charset="-120"/>
              </a:rPr>
              <a:t>Eksperimentalna analiza na sistemu PostgreSQL 18</a:t>
            </a:r>
            <a:endParaRPr lang="en-US" sz="1600" dirty="0"/>
          </a:p>
        </p:txBody>
      </p:sp>
      <p:sp>
        <p:nvSpPr>
          <p:cNvPr id="7" name="Text 5"/>
          <p:cNvSpPr txBox="1"/>
          <p:nvPr/>
        </p:nvSpPr>
        <p:spPr>
          <a:xfrm>
            <a:off x="640080" y="3886200"/>
            <a:ext cx="6217920" cy="822960"/>
          </a:xfrm>
          <a:prstGeom prst="rect">
            <a:avLst/>
          </a:prstGeom>
          <a:noFill/>
          <a:ln/>
        </p:spPr>
        <p:txBody>
          <a:bodyPr wrap="square" lIns="0" tIns="0" rIns="0" bIns="0" rtlCol="0" anchor="t"/>
          <a:lstStyle/>
          <a:p>
            <a:pPr marL="0" indent="0">
              <a:buNone/>
            </a:pPr>
            <a:r>
              <a:rPr lang="en-US" sz="1200" dirty="0">
                <a:solidFill>
                  <a:srgbClr val="C7CFDD"/>
                </a:solidFill>
                <a:latin typeface="Calibri" pitchFamily="34" charset="0"/>
                <a:ea typeface="Calibri" pitchFamily="34" charset="-122"/>
                <a:cs typeface="Calibri" pitchFamily="34" charset="-120"/>
              </a:rPr>
              <a:t>Katarina Milojković · 2083/25</a:t>
            </a:r>
            <a:endParaRPr lang="en-US" sz="1200" dirty="0"/>
          </a:p>
          <a:p>
            <a:pPr marL="0" indent="0">
              <a:buNone/>
            </a:pPr>
            <a:r>
              <a:rPr lang="pl-PL" sz="1200" dirty="0">
                <a:solidFill>
                  <a:srgbClr val="C7CFDD"/>
                </a:solidFill>
                <a:latin typeface="Calibri" pitchFamily="34" charset="0"/>
                <a:ea typeface="Calibri" pitchFamily="34" charset="-122"/>
                <a:cs typeface="Calibri" pitchFamily="34" charset="-120"/>
              </a:rPr>
              <a:t>Sistemi za upravljanje bazama podataka</a:t>
            </a:r>
            <a:r>
              <a:rPr lang="en-US" sz="1200" dirty="0">
                <a:solidFill>
                  <a:srgbClr val="C7CFDD"/>
                </a:solidFill>
                <a:latin typeface="Calibri" pitchFamily="34" charset="0"/>
                <a:ea typeface="Calibri" pitchFamily="34" charset="-122"/>
                <a:cs typeface="Calibri" pitchFamily="34" charset="-120"/>
              </a:rPr>
              <a:t> · Mentor: Aleksandar S. </a:t>
            </a:r>
            <a:r>
              <a:rPr lang="en-US" sz="1200" dirty="0" err="1">
                <a:solidFill>
                  <a:srgbClr val="C7CFDD"/>
                </a:solidFill>
                <a:latin typeface="Calibri" pitchFamily="34" charset="0"/>
                <a:ea typeface="Calibri" pitchFamily="34" charset="-122"/>
                <a:cs typeface="Calibri" pitchFamily="34" charset="-120"/>
              </a:rPr>
              <a:t>Stanimirović</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Problem i cilj rada</a:t>
            </a:r>
            <a:endParaRPr lang="en-US" sz="2600" dirty="0"/>
          </a:p>
        </p:txBody>
      </p:sp>
      <p:sp>
        <p:nvSpPr>
          <p:cNvPr id="3" name="Shape 1"/>
          <p:cNvSpPr/>
          <p:nvPr/>
        </p:nvSpPr>
        <p:spPr>
          <a:xfrm>
            <a:off x="457200" y="1234440"/>
            <a:ext cx="2560320" cy="3200400"/>
          </a:xfrm>
          <a:prstGeom prst="roundRect">
            <a:avLst>
              <a:gd name="adj" fmla="val 2857"/>
            </a:avLst>
          </a:prstGeom>
          <a:solidFill>
            <a:srgbClr val="EEF2F8"/>
          </a:solidFill>
          <a:ln w="12700">
            <a:solidFill>
              <a:srgbClr val="EEF2F8"/>
            </a:solidFill>
            <a:prstDash val="solid"/>
          </a:ln>
        </p:spPr>
        <p:txBody>
          <a:bodyPr/>
          <a:lstStyle/>
          <a:p>
            <a:endParaRPr lang="en-AT"/>
          </a:p>
        </p:txBody>
      </p:sp>
      <p:sp>
        <p:nvSpPr>
          <p:cNvPr id="4" name="Shape 2"/>
          <p:cNvSpPr/>
          <p:nvPr/>
        </p:nvSpPr>
        <p:spPr>
          <a:xfrm>
            <a:off x="731520" y="1508760"/>
            <a:ext cx="548640" cy="548640"/>
          </a:xfrm>
          <a:prstGeom prst="ellipse">
            <a:avLst/>
          </a:prstGeom>
          <a:solidFill>
            <a:srgbClr val="E8772E"/>
          </a:solidFill>
          <a:ln w="12700">
            <a:solidFill>
              <a:srgbClr val="E8772E"/>
            </a:solidFill>
            <a:prstDash val="solid"/>
          </a:ln>
        </p:spPr>
        <p:txBody>
          <a:bodyPr/>
          <a:lstStyle/>
          <a:p>
            <a:endParaRPr lang="en-AT"/>
          </a:p>
        </p:txBody>
      </p:sp>
      <p:sp>
        <p:nvSpPr>
          <p:cNvPr id="5" name="Text 3"/>
          <p:cNvSpPr txBox="1"/>
          <p:nvPr/>
        </p:nvSpPr>
        <p:spPr>
          <a:xfrm>
            <a:off x="731520" y="15087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731520" y="2240280"/>
            <a:ext cx="2011680" cy="2103120"/>
          </a:xfrm>
          <a:prstGeom prst="rect">
            <a:avLst/>
          </a:prstGeom>
          <a:noFill/>
          <a:ln/>
        </p:spPr>
        <p:txBody>
          <a:bodyPr wrap="square" lIns="0" tIns="0" rIns="0" bIns="0" rtlCol="0" anchor="t"/>
          <a:lstStyle/>
          <a:p>
            <a:pPr marL="0" indent="0">
              <a:spcAft>
                <a:spcPts val="400"/>
              </a:spcAft>
              <a:buNone/>
            </a:pPr>
            <a:r>
              <a:rPr lang="en-US" sz="2000" b="1" dirty="0">
                <a:solidFill>
                  <a:srgbClr val="1B2A49"/>
                </a:solidFill>
                <a:latin typeface="Calibri" pitchFamily="34" charset="0"/>
                <a:ea typeface="Calibri" pitchFamily="34" charset="-122"/>
                <a:cs typeface="Calibri" pitchFamily="34" charset="-120"/>
              </a:rPr>
              <a:t>Problem</a:t>
            </a:r>
            <a:endParaRPr lang="en-US" sz="2000" dirty="0"/>
          </a:p>
          <a:p>
            <a:pPr marL="0" indent="0">
              <a:buNone/>
            </a:pPr>
            <a:r>
              <a:rPr lang="en-US" sz="1500" dirty="0">
                <a:solidFill>
                  <a:srgbClr val="1F2937"/>
                </a:solidFill>
                <a:latin typeface="Calibri" pitchFamily="34" charset="0"/>
                <a:ea typeface="Calibri" pitchFamily="34" charset="-122"/>
                <a:cs typeface="Calibri" pitchFamily="34" charset="-120"/>
              </a:rPr>
              <a:t>SQL je deklarativan: optimizator bira plan na osnovu statistike, indeksa, konfiguracije i oblika upita.</a:t>
            </a:r>
            <a:endParaRPr lang="en-US" sz="2000" dirty="0"/>
          </a:p>
        </p:txBody>
      </p:sp>
      <p:sp>
        <p:nvSpPr>
          <p:cNvPr id="7" name="Shape 5"/>
          <p:cNvSpPr/>
          <p:nvPr/>
        </p:nvSpPr>
        <p:spPr>
          <a:xfrm>
            <a:off x="3291840" y="1234440"/>
            <a:ext cx="2560320" cy="3200400"/>
          </a:xfrm>
          <a:prstGeom prst="roundRect">
            <a:avLst>
              <a:gd name="adj" fmla="val 2857"/>
            </a:avLst>
          </a:prstGeom>
          <a:solidFill>
            <a:srgbClr val="EEF2F8"/>
          </a:solidFill>
          <a:ln w="12700">
            <a:solidFill>
              <a:srgbClr val="EEF2F8"/>
            </a:solidFill>
            <a:prstDash val="solid"/>
          </a:ln>
        </p:spPr>
        <p:txBody>
          <a:bodyPr/>
          <a:lstStyle/>
          <a:p>
            <a:endParaRPr lang="en-AT"/>
          </a:p>
        </p:txBody>
      </p:sp>
      <p:sp>
        <p:nvSpPr>
          <p:cNvPr id="8" name="Shape 6"/>
          <p:cNvSpPr/>
          <p:nvPr/>
        </p:nvSpPr>
        <p:spPr>
          <a:xfrm>
            <a:off x="3566160" y="1508760"/>
            <a:ext cx="548640" cy="548640"/>
          </a:xfrm>
          <a:prstGeom prst="ellipse">
            <a:avLst/>
          </a:prstGeom>
          <a:solidFill>
            <a:srgbClr val="E8772E"/>
          </a:solidFill>
          <a:ln w="12700">
            <a:solidFill>
              <a:srgbClr val="E8772E"/>
            </a:solidFill>
            <a:prstDash val="solid"/>
          </a:ln>
        </p:spPr>
        <p:txBody>
          <a:bodyPr/>
          <a:lstStyle/>
          <a:p>
            <a:endParaRPr lang="en-AT"/>
          </a:p>
        </p:txBody>
      </p:sp>
      <p:sp>
        <p:nvSpPr>
          <p:cNvPr id="9" name="Text 7"/>
          <p:cNvSpPr txBox="1"/>
          <p:nvPr/>
        </p:nvSpPr>
        <p:spPr>
          <a:xfrm>
            <a:off x="3566160" y="15087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3566160" y="2240280"/>
            <a:ext cx="2011680" cy="2103120"/>
          </a:xfrm>
          <a:prstGeom prst="rect">
            <a:avLst/>
          </a:prstGeom>
          <a:noFill/>
          <a:ln/>
        </p:spPr>
        <p:txBody>
          <a:bodyPr wrap="square" lIns="0" tIns="0" rIns="0" bIns="0" rtlCol="0" anchor="t"/>
          <a:lstStyle/>
          <a:p>
            <a:pPr marL="0" indent="0">
              <a:spcAft>
                <a:spcPts val="400"/>
              </a:spcAft>
              <a:buNone/>
            </a:pPr>
            <a:r>
              <a:rPr lang="en-US" sz="2000" b="1" dirty="0">
                <a:solidFill>
                  <a:srgbClr val="1B2A49"/>
                </a:solidFill>
                <a:latin typeface="Calibri" pitchFamily="34" charset="0"/>
                <a:ea typeface="Calibri" pitchFamily="34" charset="-122"/>
                <a:cs typeface="Calibri" pitchFamily="34" charset="-120"/>
              </a:rPr>
              <a:t>Rizik</a:t>
            </a:r>
            <a:endParaRPr lang="en-US" sz="2000" dirty="0"/>
          </a:p>
          <a:p>
            <a:pPr marL="0" indent="0">
              <a:buNone/>
            </a:pPr>
            <a:r>
              <a:rPr lang="en-US" sz="1500" dirty="0">
                <a:solidFill>
                  <a:srgbClr val="1F2937"/>
                </a:solidFill>
                <a:latin typeface="Calibri" pitchFamily="34" charset="0"/>
                <a:ea typeface="Calibri" pitchFamily="34" charset="-122"/>
                <a:cs typeface="Calibri" pitchFamily="34" charset="-120"/>
              </a:rPr>
              <a:t>Ista intervencija ne pomaže svakom upitu – neke čak usporavaju.</a:t>
            </a:r>
            <a:endParaRPr lang="en-US" sz="2000" dirty="0"/>
          </a:p>
        </p:txBody>
      </p:sp>
      <p:sp>
        <p:nvSpPr>
          <p:cNvPr id="11" name="Shape 9"/>
          <p:cNvSpPr/>
          <p:nvPr/>
        </p:nvSpPr>
        <p:spPr>
          <a:xfrm>
            <a:off x="6126480" y="1234440"/>
            <a:ext cx="2560320" cy="3200400"/>
          </a:xfrm>
          <a:prstGeom prst="roundRect">
            <a:avLst>
              <a:gd name="adj" fmla="val 2857"/>
            </a:avLst>
          </a:prstGeom>
          <a:solidFill>
            <a:srgbClr val="EEF2F8"/>
          </a:solidFill>
          <a:ln w="12700">
            <a:solidFill>
              <a:srgbClr val="EEF2F8"/>
            </a:solidFill>
            <a:prstDash val="solid"/>
          </a:ln>
        </p:spPr>
        <p:txBody>
          <a:bodyPr/>
          <a:lstStyle/>
          <a:p>
            <a:endParaRPr lang="en-AT"/>
          </a:p>
        </p:txBody>
      </p:sp>
      <p:sp>
        <p:nvSpPr>
          <p:cNvPr id="12" name="Shape 10"/>
          <p:cNvSpPr/>
          <p:nvPr/>
        </p:nvSpPr>
        <p:spPr>
          <a:xfrm>
            <a:off x="6400800" y="1508760"/>
            <a:ext cx="548640" cy="548640"/>
          </a:xfrm>
          <a:prstGeom prst="ellipse">
            <a:avLst/>
          </a:prstGeom>
          <a:solidFill>
            <a:srgbClr val="E8772E"/>
          </a:solidFill>
          <a:ln w="12700">
            <a:solidFill>
              <a:srgbClr val="E8772E"/>
            </a:solidFill>
            <a:prstDash val="solid"/>
          </a:ln>
        </p:spPr>
        <p:txBody>
          <a:bodyPr/>
          <a:lstStyle/>
          <a:p>
            <a:endParaRPr lang="en-AT"/>
          </a:p>
        </p:txBody>
      </p:sp>
      <p:sp>
        <p:nvSpPr>
          <p:cNvPr id="13" name="Text 11"/>
          <p:cNvSpPr txBox="1"/>
          <p:nvPr/>
        </p:nvSpPr>
        <p:spPr>
          <a:xfrm>
            <a:off x="6400800" y="15087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6400800" y="2240280"/>
            <a:ext cx="2011680" cy="2103120"/>
          </a:xfrm>
          <a:prstGeom prst="rect">
            <a:avLst/>
          </a:prstGeom>
          <a:noFill/>
          <a:ln/>
        </p:spPr>
        <p:txBody>
          <a:bodyPr wrap="square" lIns="0" tIns="0" rIns="0" bIns="0" rtlCol="0" anchor="t"/>
          <a:lstStyle/>
          <a:p>
            <a:pPr marL="0" indent="0">
              <a:spcAft>
                <a:spcPts val="400"/>
              </a:spcAft>
              <a:buNone/>
            </a:pPr>
            <a:r>
              <a:rPr lang="en-US" sz="2000" b="1" dirty="0">
                <a:solidFill>
                  <a:srgbClr val="1B2A49"/>
                </a:solidFill>
                <a:latin typeface="Calibri" pitchFamily="34" charset="0"/>
                <a:ea typeface="Calibri" pitchFamily="34" charset="-122"/>
                <a:cs typeface="Calibri" pitchFamily="34" charset="-120"/>
              </a:rPr>
              <a:t>Cilj</a:t>
            </a:r>
            <a:endParaRPr lang="en-US" sz="2000" dirty="0"/>
          </a:p>
          <a:p>
            <a:pPr marL="0" indent="0">
              <a:buNone/>
            </a:pPr>
            <a:r>
              <a:rPr lang="en-US" sz="1500" dirty="0">
                <a:solidFill>
                  <a:srgbClr val="1F2937"/>
                </a:solidFill>
                <a:latin typeface="Calibri" pitchFamily="34" charset="0"/>
                <a:ea typeface="Calibri" pitchFamily="34" charset="-122"/>
                <a:cs typeface="Calibri" pitchFamily="34" charset="-120"/>
              </a:rPr>
              <a:t>Izmeriti efekat pet tehnika optimizacije na devet TPC-H upita.</a:t>
            </a:r>
            <a:endParaRPr lang="en-US" sz="2000" dirty="0"/>
          </a:p>
        </p:txBody>
      </p:sp>
      <p:sp>
        <p:nvSpPr>
          <p:cNvPr id="15" name="Text 1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Kako optimizator bira plan</a:t>
            </a:r>
            <a:endParaRPr lang="en-US" sz="2600" dirty="0"/>
          </a:p>
        </p:txBody>
      </p:sp>
      <p:pic>
        <p:nvPicPr>
          <p:cNvPr id="3" name="Image 0" descr="/tmp/claude-0/-home-user-DMS/301aa003-dcc0-59ff-8316-a4c89c795fe8/scratchpad/figs/sem1/dijagram_obrada_upita.png"/>
          <p:cNvPicPr>
            <a:picLocks noChangeAspect="1"/>
          </p:cNvPicPr>
          <p:nvPr/>
        </p:nvPicPr>
        <p:blipFill>
          <a:blip r:embed="rId3"/>
          <a:stretch>
            <a:fillRect/>
          </a:stretch>
        </p:blipFill>
        <p:spPr>
          <a:xfrm>
            <a:off x="731520" y="1024128"/>
            <a:ext cx="7680960" cy="2457907"/>
          </a:xfrm>
          <a:prstGeom prst="rect">
            <a:avLst/>
          </a:prstGeom>
        </p:spPr>
      </p:pic>
      <p:sp>
        <p:nvSpPr>
          <p:cNvPr id="4" name="Text 1"/>
          <p:cNvSpPr txBox="1"/>
          <p:nvPr/>
        </p:nvSpPr>
        <p:spPr>
          <a:xfrm>
            <a:off x="548640" y="3600907"/>
            <a:ext cx="3931920" cy="1245413"/>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Parser → rewriter → optimizator → executor</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Trošak plana = čitanje stranica (I/O) + obrada redova (CPU)</a:t>
            </a:r>
            <a:endParaRPr lang="en-US" sz="1400" dirty="0"/>
          </a:p>
        </p:txBody>
      </p:sp>
      <p:sp>
        <p:nvSpPr>
          <p:cNvPr id="5" name="Text 2"/>
          <p:cNvSpPr txBox="1"/>
          <p:nvPr/>
        </p:nvSpPr>
        <p:spPr>
          <a:xfrm>
            <a:off x="4754880" y="3600907"/>
            <a:ext cx="3931920" cy="1245413"/>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Ključni ulaz: kardinalnost – procenjeni broj redova</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Bez statistike: fiksne selektivnosti 0,005 i 1/3</a:t>
            </a:r>
            <a:endParaRPr lang="en-US" sz="1400" dirty="0"/>
          </a:p>
        </p:txBody>
      </p:sp>
      <p:sp>
        <p:nvSpPr>
          <p:cNvPr id="6"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Tehnike optimizacije i metrike</a:t>
            </a:r>
            <a:endParaRPr lang="en-US" sz="2600" dirty="0"/>
          </a:p>
        </p:txBody>
      </p:sp>
      <p:sp>
        <p:nvSpPr>
          <p:cNvPr id="3" name="Shape 1"/>
          <p:cNvSpPr/>
          <p:nvPr/>
        </p:nvSpPr>
        <p:spPr>
          <a:xfrm>
            <a:off x="457200" y="1188720"/>
            <a:ext cx="2560320" cy="1623060"/>
          </a:xfrm>
          <a:prstGeom prst="roundRect">
            <a:avLst>
              <a:gd name="adj" fmla="val 4507"/>
            </a:avLst>
          </a:prstGeom>
          <a:solidFill>
            <a:srgbClr val="EEF2F8"/>
          </a:solidFill>
          <a:ln w="12700">
            <a:solidFill>
              <a:srgbClr val="EEF2F8"/>
            </a:solidFill>
            <a:prstDash val="solid"/>
          </a:ln>
        </p:spPr>
        <p:txBody>
          <a:bodyPr/>
          <a:lstStyle/>
          <a:p>
            <a:endParaRPr lang="en-AT"/>
          </a:p>
        </p:txBody>
      </p:sp>
      <p:sp>
        <p:nvSpPr>
          <p:cNvPr id="4" name="Shape 2"/>
          <p:cNvSpPr/>
          <p:nvPr/>
        </p:nvSpPr>
        <p:spPr>
          <a:xfrm>
            <a:off x="640080" y="1371600"/>
            <a:ext cx="411480" cy="411480"/>
          </a:xfrm>
          <a:prstGeom prst="ellipse">
            <a:avLst/>
          </a:prstGeom>
          <a:solidFill>
            <a:srgbClr val="1B2A49"/>
          </a:solidFill>
          <a:ln w="12700">
            <a:solidFill>
              <a:srgbClr val="1B2A49"/>
            </a:solidFill>
            <a:prstDash val="solid"/>
          </a:ln>
        </p:spPr>
        <p:txBody>
          <a:bodyPr/>
          <a:lstStyle/>
          <a:p>
            <a:endParaRPr lang="en-AT"/>
          </a:p>
        </p:txBody>
      </p:sp>
      <p:sp>
        <p:nvSpPr>
          <p:cNvPr id="5" name="Text 3"/>
          <p:cNvSpPr txBox="1"/>
          <p:nvPr/>
        </p:nvSpPr>
        <p:spPr>
          <a:xfrm>
            <a:off x="640080" y="13716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88720" y="137160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Statistika</a:t>
            </a:r>
            <a:endParaRPr lang="en-US" sz="1600" dirty="0"/>
          </a:p>
        </p:txBody>
      </p:sp>
      <p:sp>
        <p:nvSpPr>
          <p:cNvPr id="7" name="Text 5"/>
          <p:cNvSpPr txBox="1"/>
          <p:nvPr/>
        </p:nvSpPr>
        <p:spPr>
          <a:xfrm>
            <a:off x="640080" y="1901952"/>
            <a:ext cx="2194560" cy="8001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ANALYZE: najčešće vrednosti i histogrami za procenu kardinalnosti</a:t>
            </a:r>
            <a:endParaRPr lang="en-US" sz="1300" dirty="0"/>
          </a:p>
        </p:txBody>
      </p:sp>
      <p:sp>
        <p:nvSpPr>
          <p:cNvPr id="8" name="Shape 6"/>
          <p:cNvSpPr/>
          <p:nvPr/>
        </p:nvSpPr>
        <p:spPr>
          <a:xfrm>
            <a:off x="3291840" y="1188720"/>
            <a:ext cx="2560320" cy="1623060"/>
          </a:xfrm>
          <a:prstGeom prst="roundRect">
            <a:avLst>
              <a:gd name="adj" fmla="val 4507"/>
            </a:avLst>
          </a:prstGeom>
          <a:solidFill>
            <a:srgbClr val="EEF2F8"/>
          </a:solidFill>
          <a:ln w="12700">
            <a:solidFill>
              <a:srgbClr val="EEF2F8"/>
            </a:solidFill>
            <a:prstDash val="solid"/>
          </a:ln>
        </p:spPr>
        <p:txBody>
          <a:bodyPr/>
          <a:lstStyle/>
          <a:p>
            <a:endParaRPr lang="en-AT"/>
          </a:p>
        </p:txBody>
      </p:sp>
      <p:sp>
        <p:nvSpPr>
          <p:cNvPr id="9" name="Shape 7"/>
          <p:cNvSpPr/>
          <p:nvPr/>
        </p:nvSpPr>
        <p:spPr>
          <a:xfrm>
            <a:off x="3474720" y="1371600"/>
            <a:ext cx="411480" cy="411480"/>
          </a:xfrm>
          <a:prstGeom prst="ellipse">
            <a:avLst/>
          </a:prstGeom>
          <a:solidFill>
            <a:srgbClr val="1B2A49"/>
          </a:solidFill>
          <a:ln w="12700">
            <a:solidFill>
              <a:srgbClr val="1B2A49"/>
            </a:solidFill>
            <a:prstDash val="solid"/>
          </a:ln>
        </p:spPr>
        <p:txBody>
          <a:bodyPr/>
          <a:lstStyle/>
          <a:p>
            <a:endParaRPr lang="en-AT"/>
          </a:p>
        </p:txBody>
      </p:sp>
      <p:sp>
        <p:nvSpPr>
          <p:cNvPr id="10" name="Text 8"/>
          <p:cNvSpPr txBox="1"/>
          <p:nvPr/>
        </p:nvSpPr>
        <p:spPr>
          <a:xfrm>
            <a:off x="3474720" y="13716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4023360" y="137160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Indeksi</a:t>
            </a:r>
            <a:endParaRPr lang="en-US" sz="1600" dirty="0"/>
          </a:p>
        </p:txBody>
      </p:sp>
      <p:sp>
        <p:nvSpPr>
          <p:cNvPr id="12" name="Text 10"/>
          <p:cNvSpPr txBox="1"/>
          <p:nvPr/>
        </p:nvSpPr>
        <p:spPr>
          <a:xfrm>
            <a:off x="3474720" y="1901952"/>
            <a:ext cx="2194560" cy="8001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B-stablo; pokrivajući (INCLUDE) i kompozitni indeks</a:t>
            </a:r>
            <a:endParaRPr lang="en-US" sz="1300" dirty="0"/>
          </a:p>
        </p:txBody>
      </p:sp>
      <p:sp>
        <p:nvSpPr>
          <p:cNvPr id="13" name="Shape 11"/>
          <p:cNvSpPr/>
          <p:nvPr/>
        </p:nvSpPr>
        <p:spPr>
          <a:xfrm>
            <a:off x="6126480" y="1188720"/>
            <a:ext cx="2560320" cy="1623060"/>
          </a:xfrm>
          <a:prstGeom prst="roundRect">
            <a:avLst>
              <a:gd name="adj" fmla="val 4507"/>
            </a:avLst>
          </a:prstGeom>
          <a:solidFill>
            <a:srgbClr val="EEF2F8"/>
          </a:solidFill>
          <a:ln w="12700">
            <a:solidFill>
              <a:srgbClr val="EEF2F8"/>
            </a:solidFill>
            <a:prstDash val="solid"/>
          </a:ln>
        </p:spPr>
        <p:txBody>
          <a:bodyPr/>
          <a:lstStyle/>
          <a:p>
            <a:endParaRPr lang="en-AT"/>
          </a:p>
        </p:txBody>
      </p:sp>
      <p:sp>
        <p:nvSpPr>
          <p:cNvPr id="14" name="Shape 12"/>
          <p:cNvSpPr/>
          <p:nvPr/>
        </p:nvSpPr>
        <p:spPr>
          <a:xfrm>
            <a:off x="6309360" y="1371600"/>
            <a:ext cx="411480" cy="411480"/>
          </a:xfrm>
          <a:prstGeom prst="ellipse">
            <a:avLst/>
          </a:prstGeom>
          <a:solidFill>
            <a:srgbClr val="1B2A49"/>
          </a:solidFill>
          <a:ln w="12700">
            <a:solidFill>
              <a:srgbClr val="1B2A49"/>
            </a:solidFill>
            <a:prstDash val="solid"/>
          </a:ln>
        </p:spPr>
        <p:txBody>
          <a:bodyPr/>
          <a:lstStyle/>
          <a:p>
            <a:endParaRPr lang="en-AT"/>
          </a:p>
        </p:txBody>
      </p:sp>
      <p:sp>
        <p:nvSpPr>
          <p:cNvPr id="15" name="Text 13"/>
          <p:cNvSpPr txBox="1"/>
          <p:nvPr/>
        </p:nvSpPr>
        <p:spPr>
          <a:xfrm>
            <a:off x="6309360" y="13716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6858000" y="137160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Prepisivanje upita</a:t>
            </a:r>
            <a:endParaRPr lang="en-US" sz="1600" dirty="0"/>
          </a:p>
        </p:txBody>
      </p:sp>
      <p:sp>
        <p:nvSpPr>
          <p:cNvPr id="17" name="Text 15"/>
          <p:cNvSpPr txBox="1"/>
          <p:nvPr/>
        </p:nvSpPr>
        <p:spPr>
          <a:xfrm>
            <a:off x="6309360" y="1901952"/>
            <a:ext cx="2194560" cy="8001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sargable predikati i dekorelacija podupita</a:t>
            </a:r>
            <a:endParaRPr lang="en-US" sz="1300" dirty="0"/>
          </a:p>
        </p:txBody>
      </p:sp>
      <p:sp>
        <p:nvSpPr>
          <p:cNvPr id="18" name="Shape 16"/>
          <p:cNvSpPr/>
          <p:nvPr/>
        </p:nvSpPr>
        <p:spPr>
          <a:xfrm>
            <a:off x="457200" y="3086100"/>
            <a:ext cx="2560320" cy="1623060"/>
          </a:xfrm>
          <a:prstGeom prst="roundRect">
            <a:avLst>
              <a:gd name="adj" fmla="val 4507"/>
            </a:avLst>
          </a:prstGeom>
          <a:solidFill>
            <a:srgbClr val="EEF2F8"/>
          </a:solidFill>
          <a:ln w="12700">
            <a:solidFill>
              <a:srgbClr val="EEF2F8"/>
            </a:solidFill>
            <a:prstDash val="solid"/>
          </a:ln>
        </p:spPr>
        <p:txBody>
          <a:bodyPr/>
          <a:lstStyle/>
          <a:p>
            <a:endParaRPr lang="en-AT"/>
          </a:p>
        </p:txBody>
      </p:sp>
      <p:sp>
        <p:nvSpPr>
          <p:cNvPr id="19" name="Shape 17"/>
          <p:cNvSpPr/>
          <p:nvPr/>
        </p:nvSpPr>
        <p:spPr>
          <a:xfrm>
            <a:off x="640080" y="3268980"/>
            <a:ext cx="411480" cy="411480"/>
          </a:xfrm>
          <a:prstGeom prst="ellipse">
            <a:avLst/>
          </a:prstGeom>
          <a:solidFill>
            <a:srgbClr val="1B2A49"/>
          </a:solidFill>
          <a:ln w="12700">
            <a:solidFill>
              <a:srgbClr val="1B2A49"/>
            </a:solidFill>
            <a:prstDash val="solid"/>
          </a:ln>
        </p:spPr>
        <p:txBody>
          <a:bodyPr/>
          <a:lstStyle/>
          <a:p>
            <a:endParaRPr lang="en-AT"/>
          </a:p>
        </p:txBody>
      </p:sp>
      <p:sp>
        <p:nvSpPr>
          <p:cNvPr id="20" name="Text 18"/>
          <p:cNvSpPr txBox="1"/>
          <p:nvPr/>
        </p:nvSpPr>
        <p:spPr>
          <a:xfrm>
            <a:off x="640080" y="32689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1188720" y="326898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Konfiguracija</a:t>
            </a:r>
            <a:endParaRPr lang="en-US" sz="1600" dirty="0"/>
          </a:p>
        </p:txBody>
      </p:sp>
      <p:sp>
        <p:nvSpPr>
          <p:cNvPr id="22" name="Text 20"/>
          <p:cNvSpPr txBox="1"/>
          <p:nvPr/>
        </p:nvSpPr>
        <p:spPr>
          <a:xfrm>
            <a:off x="640080" y="3799332"/>
            <a:ext cx="2194560" cy="8001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work_mem, paralelni radnici, random_page_cost, JIT</a:t>
            </a:r>
            <a:endParaRPr lang="en-US" sz="1300" dirty="0"/>
          </a:p>
        </p:txBody>
      </p:sp>
      <p:sp>
        <p:nvSpPr>
          <p:cNvPr id="23" name="Shape 21"/>
          <p:cNvSpPr/>
          <p:nvPr/>
        </p:nvSpPr>
        <p:spPr>
          <a:xfrm>
            <a:off x="3291840" y="3086100"/>
            <a:ext cx="2560320" cy="1623060"/>
          </a:xfrm>
          <a:prstGeom prst="roundRect">
            <a:avLst>
              <a:gd name="adj" fmla="val 4507"/>
            </a:avLst>
          </a:prstGeom>
          <a:solidFill>
            <a:srgbClr val="EEF2F8"/>
          </a:solidFill>
          <a:ln w="12700">
            <a:solidFill>
              <a:srgbClr val="EEF2F8"/>
            </a:solidFill>
            <a:prstDash val="solid"/>
          </a:ln>
        </p:spPr>
        <p:txBody>
          <a:bodyPr/>
          <a:lstStyle/>
          <a:p>
            <a:endParaRPr lang="en-AT"/>
          </a:p>
        </p:txBody>
      </p:sp>
      <p:sp>
        <p:nvSpPr>
          <p:cNvPr id="24" name="Shape 22"/>
          <p:cNvSpPr/>
          <p:nvPr/>
        </p:nvSpPr>
        <p:spPr>
          <a:xfrm>
            <a:off x="3474720" y="3268980"/>
            <a:ext cx="411480" cy="411480"/>
          </a:xfrm>
          <a:prstGeom prst="ellipse">
            <a:avLst/>
          </a:prstGeom>
          <a:solidFill>
            <a:srgbClr val="1B2A49"/>
          </a:solidFill>
          <a:ln w="12700">
            <a:solidFill>
              <a:srgbClr val="1B2A49"/>
            </a:solidFill>
            <a:prstDash val="solid"/>
          </a:ln>
        </p:spPr>
        <p:txBody>
          <a:bodyPr/>
          <a:lstStyle/>
          <a:p>
            <a:endParaRPr lang="en-AT"/>
          </a:p>
        </p:txBody>
      </p:sp>
      <p:sp>
        <p:nvSpPr>
          <p:cNvPr id="25" name="Text 23"/>
          <p:cNvSpPr txBox="1"/>
          <p:nvPr/>
        </p:nvSpPr>
        <p:spPr>
          <a:xfrm>
            <a:off x="3474720" y="32689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4023360" y="326898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Materijalizovani pogled</a:t>
            </a:r>
            <a:endParaRPr lang="en-US" sz="1600" dirty="0"/>
          </a:p>
        </p:txBody>
      </p:sp>
      <p:sp>
        <p:nvSpPr>
          <p:cNvPr id="27" name="Text 25"/>
          <p:cNvSpPr txBox="1"/>
          <p:nvPr/>
        </p:nvSpPr>
        <p:spPr>
          <a:xfrm>
            <a:off x="3474720" y="3799332"/>
            <a:ext cx="2194560" cy="8001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unapred izračunat rezultat; mora se osvežavati</a:t>
            </a:r>
            <a:endParaRPr lang="en-US" sz="1300" dirty="0"/>
          </a:p>
        </p:txBody>
      </p:sp>
      <p:sp>
        <p:nvSpPr>
          <p:cNvPr id="28" name="Shape 26"/>
          <p:cNvSpPr/>
          <p:nvPr/>
        </p:nvSpPr>
        <p:spPr>
          <a:xfrm>
            <a:off x="6126480" y="3086100"/>
            <a:ext cx="2560320" cy="1623060"/>
          </a:xfrm>
          <a:prstGeom prst="roundRect">
            <a:avLst>
              <a:gd name="adj" fmla="val 4507"/>
            </a:avLst>
          </a:prstGeom>
          <a:solidFill>
            <a:srgbClr val="EEF2F8"/>
          </a:solidFill>
          <a:ln w="12700">
            <a:solidFill>
              <a:srgbClr val="EEF2F8"/>
            </a:solidFill>
            <a:prstDash val="solid"/>
          </a:ln>
        </p:spPr>
        <p:txBody>
          <a:bodyPr/>
          <a:lstStyle/>
          <a:p>
            <a:endParaRPr lang="en-AT"/>
          </a:p>
        </p:txBody>
      </p:sp>
      <p:sp>
        <p:nvSpPr>
          <p:cNvPr id="29" name="Shape 27"/>
          <p:cNvSpPr/>
          <p:nvPr/>
        </p:nvSpPr>
        <p:spPr>
          <a:xfrm>
            <a:off x="6309360" y="3268980"/>
            <a:ext cx="411480" cy="411480"/>
          </a:xfrm>
          <a:prstGeom prst="ellipse">
            <a:avLst/>
          </a:prstGeom>
          <a:solidFill>
            <a:srgbClr val="1B2A49"/>
          </a:solidFill>
          <a:ln w="12700">
            <a:solidFill>
              <a:srgbClr val="1B2A49"/>
            </a:solidFill>
            <a:prstDash val="solid"/>
          </a:ln>
        </p:spPr>
        <p:txBody>
          <a:bodyPr/>
          <a:lstStyle/>
          <a:p>
            <a:endParaRPr lang="en-AT"/>
          </a:p>
        </p:txBody>
      </p:sp>
      <p:sp>
        <p:nvSpPr>
          <p:cNvPr id="30" name="Text 28"/>
          <p:cNvSpPr txBox="1"/>
          <p:nvPr/>
        </p:nvSpPr>
        <p:spPr>
          <a:xfrm>
            <a:off x="6309360" y="32689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6858000" y="326898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TPC-H metrike</a:t>
            </a:r>
            <a:endParaRPr lang="en-US" sz="1600" dirty="0"/>
          </a:p>
        </p:txBody>
      </p:sp>
      <p:sp>
        <p:nvSpPr>
          <p:cNvPr id="32" name="Text 30"/>
          <p:cNvSpPr txBox="1"/>
          <p:nvPr/>
        </p:nvSpPr>
        <p:spPr>
          <a:xfrm>
            <a:off x="6309360" y="3799332"/>
            <a:ext cx="2194560" cy="8001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geometrijska sredina, Power i Throughput test</a:t>
            </a:r>
            <a:endParaRPr lang="en-US" sz="1300" dirty="0"/>
          </a:p>
        </p:txBody>
      </p:sp>
      <p:sp>
        <p:nvSpPr>
          <p:cNvPr id="33" name="Text 31"/>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Metodologija eksperimenta</a:t>
            </a:r>
            <a:endParaRPr lang="en-US" sz="2600" dirty="0"/>
          </a:p>
        </p:txBody>
      </p:sp>
      <p:sp>
        <p:nvSpPr>
          <p:cNvPr id="3" name="Shape 1"/>
          <p:cNvSpPr/>
          <p:nvPr/>
        </p:nvSpPr>
        <p:spPr>
          <a:xfrm>
            <a:off x="1383030" y="1691640"/>
            <a:ext cx="6377940" cy="0"/>
          </a:xfrm>
          <a:prstGeom prst="line">
            <a:avLst/>
          </a:prstGeom>
          <a:noFill/>
          <a:ln w="19050">
            <a:solidFill>
              <a:srgbClr val="64748B"/>
            </a:solidFill>
            <a:prstDash val="dash"/>
          </a:ln>
        </p:spPr>
        <p:txBody>
          <a:bodyPr/>
          <a:lstStyle/>
          <a:p>
            <a:endParaRPr lang="en-AT"/>
          </a:p>
        </p:txBody>
      </p:sp>
      <p:sp>
        <p:nvSpPr>
          <p:cNvPr id="4" name="Shape 2"/>
          <p:cNvSpPr/>
          <p:nvPr/>
        </p:nvSpPr>
        <p:spPr>
          <a:xfrm>
            <a:off x="1017270" y="1325880"/>
            <a:ext cx="731520" cy="731520"/>
          </a:xfrm>
          <a:prstGeom prst="ellipse">
            <a:avLst/>
          </a:prstGeom>
          <a:solidFill>
            <a:srgbClr val="E8772E"/>
          </a:solidFill>
          <a:ln w="12700">
            <a:solidFill>
              <a:srgbClr val="E8772E"/>
            </a:solidFill>
            <a:prstDash val="solid"/>
          </a:ln>
        </p:spPr>
        <p:txBody>
          <a:bodyPr/>
          <a:lstStyle/>
          <a:p>
            <a:endParaRPr lang="en-AT"/>
          </a:p>
        </p:txBody>
      </p:sp>
      <p:sp>
        <p:nvSpPr>
          <p:cNvPr id="5" name="Text 3"/>
          <p:cNvSpPr txBox="1"/>
          <p:nvPr/>
        </p:nvSpPr>
        <p:spPr>
          <a:xfrm>
            <a:off x="101727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457200" y="2240280"/>
            <a:ext cx="1851660" cy="411480"/>
          </a:xfrm>
          <a:prstGeom prst="rect">
            <a:avLst/>
          </a:prstGeom>
          <a:noFill/>
          <a:ln/>
        </p:spPr>
        <p:txBody>
          <a:bodyPr wrap="square" lIns="0" tIns="0" rIns="0" bIns="0" rtlCol="0" anchor="ctr"/>
          <a:lstStyle/>
          <a:p>
            <a:pPr marL="0" indent="0" algn="ctr">
              <a:buNone/>
            </a:pPr>
            <a:r>
              <a:rPr lang="en-US" sz="1800" b="1" dirty="0">
                <a:solidFill>
                  <a:srgbClr val="1B2A49"/>
                </a:solidFill>
                <a:latin typeface="Calibri" pitchFamily="34" charset="0"/>
                <a:ea typeface="Calibri" pitchFamily="34" charset="-122"/>
                <a:cs typeface="Calibri" pitchFamily="34" charset="-120"/>
              </a:rPr>
              <a:t>Priprema</a:t>
            </a:r>
            <a:endParaRPr lang="en-US" sz="1800" dirty="0"/>
          </a:p>
        </p:txBody>
      </p:sp>
      <p:sp>
        <p:nvSpPr>
          <p:cNvPr id="7" name="Text 5"/>
          <p:cNvSpPr txBox="1"/>
          <p:nvPr/>
        </p:nvSpPr>
        <p:spPr>
          <a:xfrm>
            <a:off x="50292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TPC-H šema bez ključeva i indeksa; SF = 0,3 (1,8 mil. stavki)</a:t>
            </a:r>
            <a:endParaRPr lang="en-US" sz="1300" dirty="0"/>
          </a:p>
        </p:txBody>
      </p:sp>
      <p:sp>
        <p:nvSpPr>
          <p:cNvPr id="8" name="Shape 6"/>
          <p:cNvSpPr/>
          <p:nvPr/>
        </p:nvSpPr>
        <p:spPr>
          <a:xfrm>
            <a:off x="3143250" y="1325880"/>
            <a:ext cx="731520" cy="731520"/>
          </a:xfrm>
          <a:prstGeom prst="ellipse">
            <a:avLst/>
          </a:prstGeom>
          <a:solidFill>
            <a:srgbClr val="E8772E"/>
          </a:solidFill>
          <a:ln w="12700">
            <a:solidFill>
              <a:srgbClr val="E8772E"/>
            </a:solidFill>
            <a:prstDash val="solid"/>
          </a:ln>
        </p:spPr>
        <p:txBody>
          <a:bodyPr/>
          <a:lstStyle/>
          <a:p>
            <a:endParaRPr lang="en-AT"/>
          </a:p>
        </p:txBody>
      </p:sp>
      <p:sp>
        <p:nvSpPr>
          <p:cNvPr id="9" name="Text 7"/>
          <p:cNvSpPr txBox="1"/>
          <p:nvPr/>
        </p:nvSpPr>
        <p:spPr>
          <a:xfrm>
            <a:off x="314325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2583180" y="2240280"/>
            <a:ext cx="1851660" cy="411480"/>
          </a:xfrm>
          <a:prstGeom prst="rect">
            <a:avLst/>
          </a:prstGeom>
          <a:noFill/>
          <a:ln/>
        </p:spPr>
        <p:txBody>
          <a:bodyPr wrap="square" lIns="0" tIns="0" rIns="0" bIns="0" rtlCol="0" anchor="ctr"/>
          <a:lstStyle/>
          <a:p>
            <a:pPr marL="0" indent="0" algn="ctr">
              <a:buNone/>
            </a:pPr>
            <a:r>
              <a:rPr lang="en-US" sz="1800" b="1" dirty="0">
                <a:solidFill>
                  <a:srgbClr val="1B2A49"/>
                </a:solidFill>
                <a:latin typeface="Calibri" pitchFamily="34" charset="0"/>
                <a:ea typeface="Calibri" pitchFamily="34" charset="-122"/>
                <a:cs typeface="Calibri" pitchFamily="34" charset="-120"/>
              </a:rPr>
              <a:t>Merenje</a:t>
            </a:r>
            <a:endParaRPr lang="en-US" sz="1800" dirty="0"/>
          </a:p>
        </p:txBody>
      </p:sp>
      <p:sp>
        <p:nvSpPr>
          <p:cNvPr id="11" name="Text 9"/>
          <p:cNvSpPr txBox="1"/>
          <p:nvPr/>
        </p:nvSpPr>
        <p:spPr>
          <a:xfrm>
            <a:off x="262890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6 kumulativnih faza × 9 upita; zagrevanje, 3 merenja, medijana, timeout 60 s</a:t>
            </a:r>
            <a:endParaRPr lang="en-US" sz="1300" dirty="0"/>
          </a:p>
        </p:txBody>
      </p:sp>
      <p:sp>
        <p:nvSpPr>
          <p:cNvPr id="12" name="Shape 10"/>
          <p:cNvSpPr/>
          <p:nvPr/>
        </p:nvSpPr>
        <p:spPr>
          <a:xfrm>
            <a:off x="5269230" y="1325880"/>
            <a:ext cx="731520" cy="731520"/>
          </a:xfrm>
          <a:prstGeom prst="ellipse">
            <a:avLst/>
          </a:prstGeom>
          <a:solidFill>
            <a:srgbClr val="E8772E"/>
          </a:solidFill>
          <a:ln w="12700">
            <a:solidFill>
              <a:srgbClr val="E8772E"/>
            </a:solidFill>
            <a:prstDash val="solid"/>
          </a:ln>
        </p:spPr>
        <p:txBody>
          <a:bodyPr/>
          <a:lstStyle/>
          <a:p>
            <a:endParaRPr lang="en-AT"/>
          </a:p>
        </p:txBody>
      </p:sp>
      <p:sp>
        <p:nvSpPr>
          <p:cNvPr id="13" name="Text 11"/>
          <p:cNvSpPr txBox="1"/>
          <p:nvPr/>
        </p:nvSpPr>
        <p:spPr>
          <a:xfrm>
            <a:off x="526923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4709160" y="2240280"/>
            <a:ext cx="1851660" cy="411480"/>
          </a:xfrm>
          <a:prstGeom prst="rect">
            <a:avLst/>
          </a:prstGeom>
          <a:noFill/>
          <a:ln/>
        </p:spPr>
        <p:txBody>
          <a:bodyPr wrap="square" lIns="0" tIns="0" rIns="0" bIns="0" rtlCol="0" anchor="ctr"/>
          <a:lstStyle/>
          <a:p>
            <a:pPr marL="0" indent="0" algn="ctr">
              <a:buNone/>
            </a:pPr>
            <a:r>
              <a:rPr lang="en-US" sz="1800" b="1" dirty="0">
                <a:solidFill>
                  <a:srgbClr val="1B2A49"/>
                </a:solidFill>
                <a:latin typeface="Calibri" pitchFamily="34" charset="0"/>
                <a:ea typeface="Calibri" pitchFamily="34" charset="-122"/>
                <a:cs typeface="Calibri" pitchFamily="34" charset="-120"/>
              </a:rPr>
              <a:t>Provera</a:t>
            </a:r>
            <a:endParaRPr lang="en-US" sz="1800" dirty="0"/>
          </a:p>
        </p:txBody>
      </p:sp>
      <p:sp>
        <p:nvSpPr>
          <p:cNvPr id="15" name="Text 13"/>
          <p:cNvSpPr txBox="1"/>
          <p:nvPr/>
        </p:nvSpPr>
        <p:spPr>
          <a:xfrm>
            <a:off x="475488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MD5 otisak rezultata, EXPLAIN (ANALYZE, BUFFERS), otkrivanje regresija</a:t>
            </a:r>
            <a:endParaRPr lang="en-US" sz="1300" dirty="0"/>
          </a:p>
        </p:txBody>
      </p:sp>
      <p:sp>
        <p:nvSpPr>
          <p:cNvPr id="16" name="Shape 14"/>
          <p:cNvSpPr/>
          <p:nvPr/>
        </p:nvSpPr>
        <p:spPr>
          <a:xfrm>
            <a:off x="7395210" y="1325880"/>
            <a:ext cx="731520" cy="731520"/>
          </a:xfrm>
          <a:prstGeom prst="ellipse">
            <a:avLst/>
          </a:prstGeom>
          <a:solidFill>
            <a:srgbClr val="E8772E"/>
          </a:solidFill>
          <a:ln w="12700">
            <a:solidFill>
              <a:srgbClr val="E8772E"/>
            </a:solidFill>
            <a:prstDash val="solid"/>
          </a:ln>
        </p:spPr>
        <p:txBody>
          <a:bodyPr/>
          <a:lstStyle/>
          <a:p>
            <a:endParaRPr lang="en-AT"/>
          </a:p>
        </p:txBody>
      </p:sp>
      <p:sp>
        <p:nvSpPr>
          <p:cNvPr id="17" name="Text 15"/>
          <p:cNvSpPr txBox="1"/>
          <p:nvPr/>
        </p:nvSpPr>
        <p:spPr>
          <a:xfrm>
            <a:off x="739521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txBox="1"/>
          <p:nvPr/>
        </p:nvSpPr>
        <p:spPr>
          <a:xfrm>
            <a:off x="6835140" y="2240280"/>
            <a:ext cx="1851660" cy="411480"/>
          </a:xfrm>
          <a:prstGeom prst="rect">
            <a:avLst/>
          </a:prstGeom>
          <a:noFill/>
          <a:ln/>
        </p:spPr>
        <p:txBody>
          <a:bodyPr wrap="square" lIns="0" tIns="0" rIns="0" bIns="0" rtlCol="0" anchor="ctr"/>
          <a:lstStyle/>
          <a:p>
            <a:pPr marL="0" indent="0" algn="ctr">
              <a:buNone/>
            </a:pPr>
            <a:r>
              <a:rPr lang="en-US" sz="1800" b="1" dirty="0">
                <a:solidFill>
                  <a:srgbClr val="1B2A49"/>
                </a:solidFill>
                <a:latin typeface="Calibri" pitchFamily="34" charset="0"/>
                <a:ea typeface="Calibri" pitchFamily="34" charset="-122"/>
                <a:cs typeface="Calibri" pitchFamily="34" charset="-120"/>
              </a:rPr>
              <a:t>Sumiranje</a:t>
            </a:r>
            <a:endParaRPr lang="en-US" sz="1800" dirty="0"/>
          </a:p>
        </p:txBody>
      </p:sp>
      <p:sp>
        <p:nvSpPr>
          <p:cNvPr id="19" name="Text 17"/>
          <p:cNvSpPr txBox="1"/>
          <p:nvPr/>
        </p:nvSpPr>
        <p:spPr>
          <a:xfrm>
            <a:off x="688086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geomean, Power-like i Throughput-like metrika; izveštaj i grafici</a:t>
            </a:r>
            <a:endParaRPr lang="en-US" sz="1300" dirty="0"/>
          </a:p>
        </p:txBody>
      </p:sp>
      <p:sp>
        <p:nvSpPr>
          <p:cNvPr id="20" name="Shape 18"/>
          <p:cNvSpPr/>
          <p:nvPr/>
        </p:nvSpPr>
        <p:spPr>
          <a:xfrm>
            <a:off x="457200" y="4160520"/>
            <a:ext cx="8229600" cy="502920"/>
          </a:xfrm>
          <a:prstGeom prst="roundRect">
            <a:avLst>
              <a:gd name="adj" fmla="val 14545"/>
            </a:avLst>
          </a:prstGeom>
          <a:solidFill>
            <a:srgbClr val="EEF2F8"/>
          </a:solidFill>
          <a:ln w="12700">
            <a:solidFill>
              <a:srgbClr val="EEF2F8"/>
            </a:solidFill>
            <a:prstDash val="solid"/>
          </a:ln>
        </p:spPr>
        <p:txBody>
          <a:bodyPr/>
          <a:lstStyle/>
          <a:p>
            <a:endParaRPr lang="en-AT"/>
          </a:p>
        </p:txBody>
      </p:sp>
      <p:sp>
        <p:nvSpPr>
          <p:cNvPr id="21" name="Text 19"/>
          <p:cNvSpPr txBox="1"/>
          <p:nvPr/>
        </p:nvSpPr>
        <p:spPr>
          <a:xfrm>
            <a:off x="640080" y="4160520"/>
            <a:ext cx="7863840" cy="502920"/>
          </a:xfrm>
          <a:prstGeom prst="rect">
            <a:avLst/>
          </a:prstGeom>
          <a:noFill/>
          <a:ln/>
        </p:spPr>
        <p:txBody>
          <a:bodyPr wrap="square" lIns="0" tIns="0" rIns="0" bIns="0" rtlCol="0" anchor="ctr"/>
          <a:lstStyle/>
          <a:p>
            <a:pPr marL="0" indent="0">
              <a:buNone/>
            </a:pPr>
            <a:r>
              <a:rPr lang="en-US" sz="1300" dirty="0">
                <a:solidFill>
                  <a:srgbClr val="1B2A49"/>
                </a:solidFill>
                <a:latin typeface="Calibri" pitchFamily="34" charset="0"/>
                <a:ea typeface="Calibri" pitchFamily="34" charset="-122"/>
                <a:cs typeface="Calibri" pitchFamily="34" charset="-120"/>
              </a:rPr>
              <a:t>PostgreSQL 18.4 · Python + psycopg2 · 12 procesorskih jezgara</a:t>
            </a:r>
            <a:endParaRPr lang="en-US" sz="1300" dirty="0"/>
          </a:p>
        </p:txBody>
      </p:sp>
      <p:sp>
        <p:nvSpPr>
          <p:cNvPr id="22" name="Text 20"/>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Implementacija: skripta tpc_optimizacija.py</a:t>
            </a:r>
            <a:endParaRPr lang="en-US" sz="26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500" i="1" dirty="0">
                <a:solidFill>
                  <a:srgbClr val="E8772E"/>
                </a:solidFill>
                <a:latin typeface="Calibri" pitchFamily="34" charset="0"/>
                <a:ea typeface="Calibri" pitchFamily="34" charset="-122"/>
                <a:cs typeface="Calibri" pitchFamily="34" charset="-120"/>
              </a:rPr>
              <a:t>1258 linija Python koda – ceo eksperiment jednom komandom</a:t>
            </a:r>
            <a:endParaRPr lang="en-US" sz="1500" dirty="0"/>
          </a:p>
        </p:txBody>
      </p:sp>
      <p:sp>
        <p:nvSpPr>
          <p:cNvPr id="4" name="Shape 2"/>
          <p:cNvSpPr/>
          <p:nvPr/>
        </p:nvSpPr>
        <p:spPr>
          <a:xfrm>
            <a:off x="457200" y="1463040"/>
            <a:ext cx="2560320" cy="1485900"/>
          </a:xfrm>
          <a:prstGeom prst="roundRect">
            <a:avLst>
              <a:gd name="adj" fmla="val 4923"/>
            </a:avLst>
          </a:prstGeom>
          <a:solidFill>
            <a:srgbClr val="EEF2F8"/>
          </a:solidFill>
          <a:ln w="12700">
            <a:solidFill>
              <a:srgbClr val="EEF2F8"/>
            </a:solidFill>
            <a:prstDash val="solid"/>
          </a:ln>
        </p:spPr>
        <p:txBody>
          <a:bodyPr/>
          <a:lstStyle/>
          <a:p>
            <a:endParaRPr lang="en-AT"/>
          </a:p>
        </p:txBody>
      </p:sp>
      <p:sp>
        <p:nvSpPr>
          <p:cNvPr id="5" name="Shape 3"/>
          <p:cNvSpPr/>
          <p:nvPr/>
        </p:nvSpPr>
        <p:spPr>
          <a:xfrm>
            <a:off x="640080" y="1645920"/>
            <a:ext cx="411480" cy="411480"/>
          </a:xfrm>
          <a:prstGeom prst="ellipse">
            <a:avLst/>
          </a:prstGeom>
          <a:solidFill>
            <a:srgbClr val="1B2A49"/>
          </a:solidFill>
          <a:ln w="12700">
            <a:solidFill>
              <a:srgbClr val="1B2A49"/>
            </a:solidFill>
            <a:prstDash val="solid"/>
          </a:ln>
        </p:spPr>
        <p:txBody>
          <a:bodyPr/>
          <a:lstStyle/>
          <a:p>
            <a:endParaRPr lang="en-AT"/>
          </a:p>
        </p:txBody>
      </p:sp>
      <p:sp>
        <p:nvSpPr>
          <p:cNvPr id="6" name="Text 4"/>
          <p:cNvSpPr txBox="1"/>
          <p:nvPr/>
        </p:nvSpPr>
        <p:spPr>
          <a:xfrm>
            <a:off x="640080" y="164592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88720" y="164592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Šema i podaci</a:t>
            </a:r>
            <a:endParaRPr lang="en-US" sz="1600" dirty="0"/>
          </a:p>
        </p:txBody>
      </p:sp>
      <p:sp>
        <p:nvSpPr>
          <p:cNvPr id="8" name="Text 6"/>
          <p:cNvSpPr txBox="1"/>
          <p:nvPr/>
        </p:nvSpPr>
        <p:spPr>
          <a:xfrm>
            <a:off x="640080" y="217627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SCHEMA_DDL; generator u bazi (generate_series), fiksno seme</a:t>
            </a:r>
            <a:endParaRPr lang="en-US" sz="1300" dirty="0"/>
          </a:p>
        </p:txBody>
      </p:sp>
      <p:sp>
        <p:nvSpPr>
          <p:cNvPr id="9" name="Shape 7"/>
          <p:cNvSpPr/>
          <p:nvPr/>
        </p:nvSpPr>
        <p:spPr>
          <a:xfrm>
            <a:off x="3291840" y="1463040"/>
            <a:ext cx="2560320" cy="1485900"/>
          </a:xfrm>
          <a:prstGeom prst="roundRect">
            <a:avLst>
              <a:gd name="adj" fmla="val 4923"/>
            </a:avLst>
          </a:prstGeom>
          <a:solidFill>
            <a:srgbClr val="EEF2F8"/>
          </a:solidFill>
          <a:ln w="12700">
            <a:solidFill>
              <a:srgbClr val="EEF2F8"/>
            </a:solidFill>
            <a:prstDash val="solid"/>
          </a:ln>
        </p:spPr>
        <p:txBody>
          <a:bodyPr/>
          <a:lstStyle/>
          <a:p>
            <a:endParaRPr lang="en-AT"/>
          </a:p>
        </p:txBody>
      </p:sp>
      <p:sp>
        <p:nvSpPr>
          <p:cNvPr id="10" name="Shape 8"/>
          <p:cNvSpPr/>
          <p:nvPr/>
        </p:nvSpPr>
        <p:spPr>
          <a:xfrm>
            <a:off x="3474720" y="1645920"/>
            <a:ext cx="411480" cy="411480"/>
          </a:xfrm>
          <a:prstGeom prst="ellipse">
            <a:avLst/>
          </a:prstGeom>
          <a:solidFill>
            <a:srgbClr val="1B2A49"/>
          </a:solidFill>
          <a:ln w="12700">
            <a:solidFill>
              <a:srgbClr val="1B2A49"/>
            </a:solidFill>
            <a:prstDash val="solid"/>
          </a:ln>
        </p:spPr>
        <p:txBody>
          <a:bodyPr/>
          <a:lstStyle/>
          <a:p>
            <a:endParaRPr lang="en-AT"/>
          </a:p>
        </p:txBody>
      </p:sp>
      <p:sp>
        <p:nvSpPr>
          <p:cNvPr id="11" name="Text 9"/>
          <p:cNvSpPr txBox="1"/>
          <p:nvPr/>
        </p:nvSpPr>
        <p:spPr>
          <a:xfrm>
            <a:off x="3474720" y="164592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023360" y="164592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Upiti</a:t>
            </a:r>
            <a:endParaRPr lang="en-US" sz="1600" dirty="0"/>
          </a:p>
        </p:txBody>
      </p:sp>
      <p:sp>
        <p:nvSpPr>
          <p:cNvPr id="13" name="Text 11"/>
          <p:cNvSpPr txBox="1"/>
          <p:nvPr/>
        </p:nvSpPr>
        <p:spPr>
          <a:xfrm>
            <a:off x="3474720" y="217627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QUERIES: original, prepisana i varijanta nad pogledom</a:t>
            </a:r>
            <a:endParaRPr lang="en-US" sz="1300" dirty="0"/>
          </a:p>
        </p:txBody>
      </p:sp>
      <p:sp>
        <p:nvSpPr>
          <p:cNvPr id="14" name="Shape 12"/>
          <p:cNvSpPr/>
          <p:nvPr/>
        </p:nvSpPr>
        <p:spPr>
          <a:xfrm>
            <a:off x="6126480" y="1463040"/>
            <a:ext cx="2560320" cy="1485900"/>
          </a:xfrm>
          <a:prstGeom prst="roundRect">
            <a:avLst>
              <a:gd name="adj" fmla="val 4923"/>
            </a:avLst>
          </a:prstGeom>
          <a:solidFill>
            <a:srgbClr val="EEF2F8"/>
          </a:solidFill>
          <a:ln w="12700">
            <a:solidFill>
              <a:srgbClr val="EEF2F8"/>
            </a:solidFill>
            <a:prstDash val="solid"/>
          </a:ln>
        </p:spPr>
        <p:txBody>
          <a:bodyPr/>
          <a:lstStyle/>
          <a:p>
            <a:endParaRPr lang="en-AT"/>
          </a:p>
        </p:txBody>
      </p:sp>
      <p:sp>
        <p:nvSpPr>
          <p:cNvPr id="15" name="Shape 13"/>
          <p:cNvSpPr/>
          <p:nvPr/>
        </p:nvSpPr>
        <p:spPr>
          <a:xfrm>
            <a:off x="6309360" y="1645920"/>
            <a:ext cx="411480" cy="411480"/>
          </a:xfrm>
          <a:prstGeom prst="ellipse">
            <a:avLst/>
          </a:prstGeom>
          <a:solidFill>
            <a:srgbClr val="1B2A49"/>
          </a:solidFill>
          <a:ln w="12700">
            <a:solidFill>
              <a:srgbClr val="1B2A49"/>
            </a:solidFill>
            <a:prstDash val="solid"/>
          </a:ln>
        </p:spPr>
        <p:txBody>
          <a:bodyPr/>
          <a:lstStyle/>
          <a:p>
            <a:endParaRPr lang="en-AT"/>
          </a:p>
        </p:txBody>
      </p:sp>
      <p:sp>
        <p:nvSpPr>
          <p:cNvPr id="16" name="Text 14"/>
          <p:cNvSpPr txBox="1"/>
          <p:nvPr/>
        </p:nvSpPr>
        <p:spPr>
          <a:xfrm>
            <a:off x="6309360" y="164592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858000" y="164592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Faze</a:t>
            </a:r>
            <a:endParaRPr lang="en-US" sz="1600" dirty="0"/>
          </a:p>
        </p:txBody>
      </p:sp>
      <p:sp>
        <p:nvSpPr>
          <p:cNvPr id="18" name="Text 16"/>
          <p:cNvSpPr txBox="1"/>
          <p:nvPr/>
        </p:nvSpPr>
        <p:spPr>
          <a:xfrm>
            <a:off x="6309360" y="217627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PHASES: deklarativni opis šest faza optimizacije</a:t>
            </a:r>
            <a:endParaRPr lang="en-US" sz="1300" dirty="0"/>
          </a:p>
        </p:txBody>
      </p:sp>
      <p:sp>
        <p:nvSpPr>
          <p:cNvPr id="19" name="Shape 17"/>
          <p:cNvSpPr/>
          <p:nvPr/>
        </p:nvSpPr>
        <p:spPr>
          <a:xfrm>
            <a:off x="457200" y="3223260"/>
            <a:ext cx="2560320" cy="1485900"/>
          </a:xfrm>
          <a:prstGeom prst="roundRect">
            <a:avLst>
              <a:gd name="adj" fmla="val 4923"/>
            </a:avLst>
          </a:prstGeom>
          <a:solidFill>
            <a:srgbClr val="EEF2F8"/>
          </a:solidFill>
          <a:ln w="12700">
            <a:solidFill>
              <a:srgbClr val="EEF2F8"/>
            </a:solidFill>
            <a:prstDash val="solid"/>
          </a:ln>
        </p:spPr>
        <p:txBody>
          <a:bodyPr/>
          <a:lstStyle/>
          <a:p>
            <a:endParaRPr lang="en-AT"/>
          </a:p>
        </p:txBody>
      </p:sp>
      <p:sp>
        <p:nvSpPr>
          <p:cNvPr id="20" name="Shape 18"/>
          <p:cNvSpPr/>
          <p:nvPr/>
        </p:nvSpPr>
        <p:spPr>
          <a:xfrm>
            <a:off x="640080" y="3406140"/>
            <a:ext cx="411480" cy="411480"/>
          </a:xfrm>
          <a:prstGeom prst="ellipse">
            <a:avLst/>
          </a:prstGeom>
          <a:solidFill>
            <a:srgbClr val="1B2A49"/>
          </a:solidFill>
          <a:ln w="12700">
            <a:solidFill>
              <a:srgbClr val="1B2A49"/>
            </a:solidFill>
            <a:prstDash val="solid"/>
          </a:ln>
        </p:spPr>
        <p:txBody>
          <a:bodyPr/>
          <a:lstStyle/>
          <a:p>
            <a:endParaRPr lang="en-AT"/>
          </a:p>
        </p:txBody>
      </p:sp>
      <p:sp>
        <p:nvSpPr>
          <p:cNvPr id="21" name="Text 19"/>
          <p:cNvSpPr txBox="1"/>
          <p:nvPr/>
        </p:nvSpPr>
        <p:spPr>
          <a:xfrm>
            <a:off x="640080" y="340614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188720" y="340614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Merenje</a:t>
            </a:r>
            <a:endParaRPr lang="en-US" sz="1600" dirty="0"/>
          </a:p>
        </p:txBody>
      </p:sp>
      <p:sp>
        <p:nvSpPr>
          <p:cNvPr id="23" name="Text 21"/>
          <p:cNvSpPr txBox="1"/>
          <p:nvPr/>
        </p:nvSpPr>
        <p:spPr>
          <a:xfrm>
            <a:off x="640080" y="393649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run_query i explain: vreme, blokovi, planovi, otisak</a:t>
            </a:r>
            <a:endParaRPr lang="en-US" sz="1300" dirty="0"/>
          </a:p>
        </p:txBody>
      </p:sp>
      <p:sp>
        <p:nvSpPr>
          <p:cNvPr id="24" name="Shape 22"/>
          <p:cNvSpPr/>
          <p:nvPr/>
        </p:nvSpPr>
        <p:spPr>
          <a:xfrm>
            <a:off x="3291840" y="3223260"/>
            <a:ext cx="2560320" cy="1485900"/>
          </a:xfrm>
          <a:prstGeom prst="roundRect">
            <a:avLst>
              <a:gd name="adj" fmla="val 4923"/>
            </a:avLst>
          </a:prstGeom>
          <a:solidFill>
            <a:srgbClr val="EEF2F8"/>
          </a:solidFill>
          <a:ln w="12700">
            <a:solidFill>
              <a:srgbClr val="EEF2F8"/>
            </a:solidFill>
            <a:prstDash val="solid"/>
          </a:ln>
        </p:spPr>
        <p:txBody>
          <a:bodyPr/>
          <a:lstStyle/>
          <a:p>
            <a:endParaRPr lang="en-AT"/>
          </a:p>
        </p:txBody>
      </p:sp>
      <p:sp>
        <p:nvSpPr>
          <p:cNvPr id="25" name="Shape 23"/>
          <p:cNvSpPr/>
          <p:nvPr/>
        </p:nvSpPr>
        <p:spPr>
          <a:xfrm>
            <a:off x="3474720" y="3406140"/>
            <a:ext cx="411480" cy="411480"/>
          </a:xfrm>
          <a:prstGeom prst="ellipse">
            <a:avLst/>
          </a:prstGeom>
          <a:solidFill>
            <a:srgbClr val="1B2A49"/>
          </a:solidFill>
          <a:ln w="12700">
            <a:solidFill>
              <a:srgbClr val="1B2A49"/>
            </a:solidFill>
            <a:prstDash val="solid"/>
          </a:ln>
        </p:spPr>
        <p:txBody>
          <a:bodyPr/>
          <a:lstStyle/>
          <a:p>
            <a:endParaRPr lang="en-AT"/>
          </a:p>
        </p:txBody>
      </p:sp>
      <p:sp>
        <p:nvSpPr>
          <p:cNvPr id="26" name="Text 24"/>
          <p:cNvSpPr txBox="1"/>
          <p:nvPr/>
        </p:nvSpPr>
        <p:spPr>
          <a:xfrm>
            <a:off x="3474720" y="340614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4023360" y="340614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Throughput</a:t>
            </a:r>
            <a:endParaRPr lang="en-US" sz="1600" dirty="0"/>
          </a:p>
        </p:txBody>
      </p:sp>
      <p:sp>
        <p:nvSpPr>
          <p:cNvPr id="28" name="Text 26"/>
          <p:cNvSpPr txBox="1"/>
          <p:nvPr/>
        </p:nvSpPr>
        <p:spPr>
          <a:xfrm>
            <a:off x="3474720" y="393649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throughput_test: paralelni tokovi sa barijerom</a:t>
            </a:r>
            <a:endParaRPr lang="en-US" sz="1300" dirty="0"/>
          </a:p>
        </p:txBody>
      </p:sp>
      <p:sp>
        <p:nvSpPr>
          <p:cNvPr id="29" name="Shape 27"/>
          <p:cNvSpPr/>
          <p:nvPr/>
        </p:nvSpPr>
        <p:spPr>
          <a:xfrm>
            <a:off x="6126480" y="3223260"/>
            <a:ext cx="2560320" cy="1485900"/>
          </a:xfrm>
          <a:prstGeom prst="roundRect">
            <a:avLst>
              <a:gd name="adj" fmla="val 4923"/>
            </a:avLst>
          </a:prstGeom>
          <a:solidFill>
            <a:srgbClr val="EEF2F8"/>
          </a:solidFill>
          <a:ln w="12700">
            <a:solidFill>
              <a:srgbClr val="EEF2F8"/>
            </a:solidFill>
            <a:prstDash val="solid"/>
          </a:ln>
        </p:spPr>
        <p:txBody>
          <a:bodyPr/>
          <a:lstStyle/>
          <a:p>
            <a:endParaRPr lang="en-AT"/>
          </a:p>
        </p:txBody>
      </p:sp>
      <p:sp>
        <p:nvSpPr>
          <p:cNvPr id="30" name="Shape 28"/>
          <p:cNvSpPr/>
          <p:nvPr/>
        </p:nvSpPr>
        <p:spPr>
          <a:xfrm>
            <a:off x="6309360" y="3406140"/>
            <a:ext cx="411480" cy="411480"/>
          </a:xfrm>
          <a:prstGeom prst="ellipse">
            <a:avLst/>
          </a:prstGeom>
          <a:solidFill>
            <a:srgbClr val="1B2A49"/>
          </a:solidFill>
          <a:ln w="12700">
            <a:solidFill>
              <a:srgbClr val="1B2A49"/>
            </a:solidFill>
            <a:prstDash val="solid"/>
          </a:ln>
        </p:spPr>
        <p:txBody>
          <a:bodyPr/>
          <a:lstStyle/>
          <a:p>
            <a:endParaRPr lang="en-AT"/>
          </a:p>
        </p:txBody>
      </p:sp>
      <p:sp>
        <p:nvSpPr>
          <p:cNvPr id="31" name="Text 29"/>
          <p:cNvSpPr txBox="1"/>
          <p:nvPr/>
        </p:nvSpPr>
        <p:spPr>
          <a:xfrm>
            <a:off x="6309360" y="340614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6858000" y="3406140"/>
            <a:ext cx="1691640" cy="4114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Izlaz</a:t>
            </a:r>
            <a:endParaRPr lang="en-US" sz="1600" dirty="0"/>
          </a:p>
        </p:txBody>
      </p:sp>
      <p:sp>
        <p:nvSpPr>
          <p:cNvPr id="33" name="Text 31"/>
          <p:cNvSpPr txBox="1"/>
          <p:nvPr/>
        </p:nvSpPr>
        <p:spPr>
          <a:xfrm>
            <a:off x="6309360" y="393649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izvestaj.md, rezultati.csv, 54 plana, 3 grafika</a:t>
            </a:r>
            <a:endParaRPr lang="en-US" sz="1300" dirty="0"/>
          </a:p>
        </p:txBody>
      </p:sp>
      <p:sp>
        <p:nvSpPr>
          <p:cNvPr id="34" name="Text 32"/>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Rezultat: geometrijska sredina po fazama</a:t>
            </a:r>
            <a:endParaRPr lang="en-US" sz="2600" dirty="0"/>
          </a:p>
        </p:txBody>
      </p:sp>
      <p:graphicFrame>
        <p:nvGraphicFramePr>
          <p:cNvPr id="3" name="Chart 0"/>
          <p:cNvGraphicFramePr/>
          <p:nvPr/>
        </p:nvGraphicFramePr>
        <p:xfrm>
          <a:off x="365760" y="1051560"/>
          <a:ext cx="56692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263640" y="1188720"/>
            <a:ext cx="2468880" cy="1417320"/>
          </a:xfrm>
          <a:prstGeom prst="roundRect">
            <a:avLst>
              <a:gd name="adj" fmla="val 5161"/>
            </a:avLst>
          </a:prstGeom>
          <a:solidFill>
            <a:srgbClr val="EEF2F8"/>
          </a:solidFill>
          <a:ln w="12700">
            <a:solidFill>
              <a:srgbClr val="EEF2F8"/>
            </a:solidFill>
            <a:prstDash val="solid"/>
          </a:ln>
        </p:spPr>
        <p:txBody>
          <a:bodyPr/>
          <a:lstStyle/>
          <a:p>
            <a:endParaRPr lang="en-AT"/>
          </a:p>
        </p:txBody>
      </p:sp>
      <p:sp>
        <p:nvSpPr>
          <p:cNvPr id="5" name="Text 2"/>
          <p:cNvSpPr txBox="1"/>
          <p:nvPr/>
        </p:nvSpPr>
        <p:spPr>
          <a:xfrm>
            <a:off x="6446520" y="1234440"/>
            <a:ext cx="2103120" cy="777240"/>
          </a:xfrm>
          <a:prstGeom prst="rect">
            <a:avLst/>
          </a:prstGeom>
          <a:noFill/>
          <a:ln/>
        </p:spPr>
        <p:txBody>
          <a:bodyPr wrap="square" lIns="0" tIns="0" rIns="0" bIns="0" rtlCol="0" anchor="ctr"/>
          <a:lstStyle/>
          <a:p>
            <a:pPr marL="0" indent="0">
              <a:buNone/>
            </a:pPr>
            <a:r>
              <a:rPr lang="en-US" sz="3800" b="1" dirty="0">
                <a:solidFill>
                  <a:srgbClr val="E8772E"/>
                </a:solidFill>
                <a:latin typeface="Cambria" pitchFamily="34" charset="0"/>
                <a:ea typeface="Cambria" pitchFamily="34" charset="-122"/>
                <a:cs typeface="Cambria" pitchFamily="34" charset="-120"/>
              </a:rPr>
              <a:t>8,9×</a:t>
            </a:r>
            <a:endParaRPr lang="en-US" sz="3800" dirty="0"/>
          </a:p>
        </p:txBody>
      </p:sp>
      <p:sp>
        <p:nvSpPr>
          <p:cNvPr id="6" name="Text 3"/>
          <p:cNvSpPr txBox="1"/>
          <p:nvPr/>
        </p:nvSpPr>
        <p:spPr>
          <a:xfrm>
            <a:off x="6446520" y="2011680"/>
            <a:ext cx="21031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brže: 374,5 → 41,9 ms</a:t>
            </a:r>
            <a:endParaRPr lang="en-US" sz="1200" dirty="0"/>
          </a:p>
        </p:txBody>
      </p:sp>
      <p:sp>
        <p:nvSpPr>
          <p:cNvPr id="7" name="Text 4"/>
          <p:cNvSpPr txBox="1"/>
          <p:nvPr/>
        </p:nvSpPr>
        <p:spPr>
          <a:xfrm>
            <a:off x="6309360" y="2834640"/>
            <a:ext cx="237744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Svaka faza smanjuje vreme</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Najveći skok: indeksi (×2,4)</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Najmanji: konfiguracija (7%)</a:t>
            </a:r>
            <a:endParaRPr lang="en-US" sz="1300" dirty="0"/>
          </a:p>
        </p:txBody>
      </p:sp>
      <p:sp>
        <p:nvSpPr>
          <p:cNvPr id="8" name="Text 5"/>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Statistika: procena kardinalnosti</a:t>
            </a:r>
            <a:endParaRPr lang="en-US" sz="2600" dirty="0"/>
          </a:p>
        </p:txBody>
      </p:sp>
      <p:sp>
        <p:nvSpPr>
          <p:cNvPr id="3" name="Shape 1"/>
          <p:cNvSpPr/>
          <p:nvPr/>
        </p:nvSpPr>
        <p:spPr>
          <a:xfrm>
            <a:off x="457200" y="1280160"/>
            <a:ext cx="1885950" cy="2103120"/>
          </a:xfrm>
          <a:prstGeom prst="roundRect">
            <a:avLst>
              <a:gd name="adj" fmla="val 3879"/>
            </a:avLst>
          </a:prstGeom>
          <a:solidFill>
            <a:srgbClr val="EEF2F8"/>
          </a:solidFill>
          <a:ln w="12700">
            <a:solidFill>
              <a:srgbClr val="EEF2F8"/>
            </a:solidFill>
            <a:prstDash val="solid"/>
          </a:ln>
        </p:spPr>
        <p:txBody>
          <a:bodyPr/>
          <a:lstStyle/>
          <a:p>
            <a:endParaRPr lang="en-AT"/>
          </a:p>
        </p:txBody>
      </p:sp>
      <p:sp>
        <p:nvSpPr>
          <p:cNvPr id="4" name="Text 2"/>
          <p:cNvSpPr txBox="1"/>
          <p:nvPr/>
        </p:nvSpPr>
        <p:spPr>
          <a:xfrm>
            <a:off x="594360" y="1417320"/>
            <a:ext cx="1611630" cy="914400"/>
          </a:xfrm>
          <a:prstGeom prst="rect">
            <a:avLst/>
          </a:prstGeom>
          <a:noFill/>
          <a:ln/>
        </p:spPr>
        <p:txBody>
          <a:bodyPr wrap="square" lIns="0" tIns="0" rIns="0" bIns="0" rtlCol="0" anchor="ctr"/>
          <a:lstStyle/>
          <a:p>
            <a:pPr marL="0" indent="0" algn="ctr">
              <a:buNone/>
            </a:pPr>
            <a:r>
              <a:rPr lang="en-US" sz="3600" b="1" dirty="0">
                <a:solidFill>
                  <a:srgbClr val="E8772E"/>
                </a:solidFill>
                <a:latin typeface="Cambria" pitchFamily="34" charset="0"/>
                <a:ea typeface="Cambria" pitchFamily="34" charset="-122"/>
                <a:cs typeface="Cambria" pitchFamily="34" charset="-120"/>
              </a:rPr>
              <a:t>148×</a:t>
            </a:r>
            <a:endParaRPr lang="en-US" sz="3600" dirty="0"/>
          </a:p>
        </p:txBody>
      </p:sp>
      <p:sp>
        <p:nvSpPr>
          <p:cNvPr id="5" name="Text 3"/>
          <p:cNvSpPr txBox="1"/>
          <p:nvPr/>
        </p:nvSpPr>
        <p:spPr>
          <a:xfrm>
            <a:off x="59436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najveća greška procene bez statistike</a:t>
            </a:r>
            <a:endParaRPr lang="en-US" sz="1300" dirty="0"/>
          </a:p>
        </p:txBody>
      </p:sp>
      <p:sp>
        <p:nvSpPr>
          <p:cNvPr id="6" name="Shape 4"/>
          <p:cNvSpPr/>
          <p:nvPr/>
        </p:nvSpPr>
        <p:spPr>
          <a:xfrm>
            <a:off x="2571750" y="1280160"/>
            <a:ext cx="1885950" cy="2103120"/>
          </a:xfrm>
          <a:prstGeom prst="roundRect">
            <a:avLst>
              <a:gd name="adj" fmla="val 3879"/>
            </a:avLst>
          </a:prstGeom>
          <a:solidFill>
            <a:srgbClr val="EEF2F8"/>
          </a:solidFill>
          <a:ln w="12700">
            <a:solidFill>
              <a:srgbClr val="EEF2F8"/>
            </a:solidFill>
            <a:prstDash val="solid"/>
          </a:ln>
        </p:spPr>
        <p:txBody>
          <a:bodyPr/>
          <a:lstStyle/>
          <a:p>
            <a:endParaRPr lang="en-AT"/>
          </a:p>
        </p:txBody>
      </p:sp>
      <p:sp>
        <p:nvSpPr>
          <p:cNvPr id="7" name="Text 5"/>
          <p:cNvSpPr txBox="1"/>
          <p:nvPr/>
        </p:nvSpPr>
        <p:spPr>
          <a:xfrm>
            <a:off x="2708910" y="1417320"/>
            <a:ext cx="1611630" cy="914400"/>
          </a:xfrm>
          <a:prstGeom prst="rect">
            <a:avLst/>
          </a:prstGeom>
          <a:noFill/>
          <a:ln/>
        </p:spPr>
        <p:txBody>
          <a:bodyPr wrap="square" lIns="0" tIns="0" rIns="0" bIns="0" rtlCol="0" anchor="ctr"/>
          <a:lstStyle/>
          <a:p>
            <a:pPr marL="0" indent="0" algn="ctr">
              <a:buNone/>
            </a:pPr>
            <a:r>
              <a:rPr lang="en-US" sz="3600" b="1" dirty="0">
                <a:solidFill>
                  <a:srgbClr val="1B2A49"/>
                </a:solidFill>
                <a:latin typeface="Cambria" pitchFamily="34" charset="0"/>
                <a:ea typeface="Cambria" pitchFamily="34" charset="-122"/>
                <a:cs typeface="Cambria" pitchFamily="34" charset="-120"/>
              </a:rPr>
              <a:t>&lt; 2%</a:t>
            </a:r>
            <a:endParaRPr lang="en-US" sz="3600" dirty="0"/>
          </a:p>
        </p:txBody>
      </p:sp>
      <p:sp>
        <p:nvSpPr>
          <p:cNvPr id="8" name="Text 6"/>
          <p:cNvSpPr txBox="1"/>
          <p:nvPr/>
        </p:nvSpPr>
        <p:spPr>
          <a:xfrm>
            <a:off x="270891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greška posle ANALYZE</a:t>
            </a:r>
            <a:endParaRPr lang="en-US" sz="1300" dirty="0"/>
          </a:p>
        </p:txBody>
      </p:sp>
      <p:sp>
        <p:nvSpPr>
          <p:cNvPr id="9" name="Shape 7"/>
          <p:cNvSpPr/>
          <p:nvPr/>
        </p:nvSpPr>
        <p:spPr>
          <a:xfrm>
            <a:off x="4686300" y="1280160"/>
            <a:ext cx="1885950" cy="2103120"/>
          </a:xfrm>
          <a:prstGeom prst="roundRect">
            <a:avLst>
              <a:gd name="adj" fmla="val 3879"/>
            </a:avLst>
          </a:prstGeom>
          <a:solidFill>
            <a:srgbClr val="EEF2F8"/>
          </a:solidFill>
          <a:ln w="12700">
            <a:solidFill>
              <a:srgbClr val="EEF2F8"/>
            </a:solidFill>
            <a:prstDash val="solid"/>
          </a:ln>
        </p:spPr>
        <p:txBody>
          <a:bodyPr/>
          <a:lstStyle/>
          <a:p>
            <a:endParaRPr lang="en-AT"/>
          </a:p>
        </p:txBody>
      </p:sp>
      <p:sp>
        <p:nvSpPr>
          <p:cNvPr id="10" name="Text 8"/>
          <p:cNvSpPr txBox="1"/>
          <p:nvPr/>
        </p:nvSpPr>
        <p:spPr>
          <a:xfrm>
            <a:off x="4823460" y="1417320"/>
            <a:ext cx="1611630" cy="914400"/>
          </a:xfrm>
          <a:prstGeom prst="rect">
            <a:avLst/>
          </a:prstGeom>
          <a:noFill/>
          <a:ln/>
        </p:spPr>
        <p:txBody>
          <a:bodyPr wrap="square" lIns="0" tIns="0" rIns="0" bIns="0" rtlCol="0" anchor="ctr"/>
          <a:lstStyle/>
          <a:p>
            <a:pPr marL="0" indent="0" algn="ctr">
              <a:buNone/>
            </a:pPr>
            <a:r>
              <a:rPr lang="en-US" sz="3600" b="1" dirty="0">
                <a:solidFill>
                  <a:srgbClr val="1B2A49"/>
                </a:solidFill>
                <a:latin typeface="Cambria" pitchFamily="34" charset="0"/>
                <a:ea typeface="Cambria" pitchFamily="34" charset="-122"/>
                <a:cs typeface="Cambria" pitchFamily="34" charset="-120"/>
              </a:rPr>
              <a:t>0,74 s</a:t>
            </a:r>
            <a:endParaRPr lang="en-US" sz="3600" dirty="0"/>
          </a:p>
        </p:txBody>
      </p:sp>
      <p:sp>
        <p:nvSpPr>
          <p:cNvPr id="11" name="Text 9"/>
          <p:cNvSpPr txBox="1"/>
          <p:nvPr/>
        </p:nvSpPr>
        <p:spPr>
          <a:xfrm>
            <a:off x="482346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trajanje ANALYZE za 8 tabela</a:t>
            </a:r>
            <a:endParaRPr lang="en-US" sz="1300" dirty="0"/>
          </a:p>
        </p:txBody>
      </p:sp>
      <p:sp>
        <p:nvSpPr>
          <p:cNvPr id="12" name="Shape 10"/>
          <p:cNvSpPr/>
          <p:nvPr/>
        </p:nvSpPr>
        <p:spPr>
          <a:xfrm>
            <a:off x="6800850" y="1280160"/>
            <a:ext cx="1885950" cy="2103120"/>
          </a:xfrm>
          <a:prstGeom prst="roundRect">
            <a:avLst>
              <a:gd name="adj" fmla="val 3879"/>
            </a:avLst>
          </a:prstGeom>
          <a:solidFill>
            <a:srgbClr val="EEF2F8"/>
          </a:solidFill>
          <a:ln w="12700">
            <a:solidFill>
              <a:srgbClr val="EEF2F8"/>
            </a:solidFill>
            <a:prstDash val="solid"/>
          </a:ln>
        </p:spPr>
        <p:txBody>
          <a:bodyPr/>
          <a:lstStyle/>
          <a:p>
            <a:endParaRPr lang="en-AT"/>
          </a:p>
        </p:txBody>
      </p:sp>
      <p:sp>
        <p:nvSpPr>
          <p:cNvPr id="13" name="Text 11"/>
          <p:cNvSpPr txBox="1"/>
          <p:nvPr/>
        </p:nvSpPr>
        <p:spPr>
          <a:xfrm>
            <a:off x="6938010" y="1417320"/>
            <a:ext cx="1611630" cy="914400"/>
          </a:xfrm>
          <a:prstGeom prst="rect">
            <a:avLst/>
          </a:prstGeom>
          <a:noFill/>
          <a:ln/>
        </p:spPr>
        <p:txBody>
          <a:bodyPr wrap="square" lIns="0" tIns="0" rIns="0" bIns="0" rtlCol="0" anchor="ctr"/>
          <a:lstStyle/>
          <a:p>
            <a:pPr marL="0" indent="0" algn="ctr">
              <a:buNone/>
            </a:pPr>
            <a:r>
              <a:rPr lang="en-US" sz="3600" b="1" dirty="0">
                <a:solidFill>
                  <a:srgbClr val="1B2A49"/>
                </a:solidFill>
                <a:latin typeface="Cambria" pitchFamily="34" charset="0"/>
                <a:ea typeface="Cambria" pitchFamily="34" charset="-122"/>
                <a:cs typeface="Cambria" pitchFamily="34" charset="-120"/>
              </a:rPr>
              <a:t>1,5×</a:t>
            </a:r>
            <a:endParaRPr lang="en-US" sz="3600" dirty="0"/>
          </a:p>
        </p:txBody>
      </p:sp>
      <p:sp>
        <p:nvSpPr>
          <p:cNvPr id="14" name="Text 12"/>
          <p:cNvSpPr txBox="1"/>
          <p:nvPr/>
        </p:nvSpPr>
        <p:spPr>
          <a:xfrm>
            <a:off x="693801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manja geometrijska sredina</a:t>
            </a:r>
            <a:endParaRPr lang="en-US" sz="1300" dirty="0"/>
          </a:p>
        </p:txBody>
      </p:sp>
      <p:sp>
        <p:nvSpPr>
          <p:cNvPr id="15" name="Shape 13"/>
          <p:cNvSpPr/>
          <p:nvPr/>
        </p:nvSpPr>
        <p:spPr>
          <a:xfrm>
            <a:off x="457200" y="3840480"/>
            <a:ext cx="457200" cy="457200"/>
          </a:xfrm>
          <a:prstGeom prst="ellipse">
            <a:avLst/>
          </a:prstGeom>
          <a:solidFill>
            <a:srgbClr val="1B2A49"/>
          </a:solidFill>
          <a:ln w="12700">
            <a:solidFill>
              <a:srgbClr val="1B2A49"/>
            </a:solidFill>
            <a:prstDash val="solid"/>
          </a:ln>
        </p:spPr>
        <p:txBody>
          <a:bodyPr/>
          <a:lstStyle/>
          <a:p>
            <a:endParaRPr lang="en-AT"/>
          </a:p>
        </p:txBody>
      </p:sp>
      <p:sp>
        <p:nvSpPr>
          <p:cNvPr id="16" name="Text 14"/>
          <p:cNvSpPr txBox="1"/>
          <p:nvPr/>
        </p:nvSpPr>
        <p:spPr>
          <a:xfrm>
            <a:off x="457200"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17" name="Text 15"/>
          <p:cNvSpPr txBox="1"/>
          <p:nvPr/>
        </p:nvSpPr>
        <p:spPr>
          <a:xfrm>
            <a:off x="1097280" y="3794760"/>
            <a:ext cx="7589520" cy="548640"/>
          </a:xfrm>
          <a:prstGeom prst="rect">
            <a:avLst/>
          </a:prstGeom>
          <a:noFill/>
          <a:ln/>
        </p:spPr>
        <p:txBody>
          <a:bodyPr wrap="square" lIns="0" tIns="0" rIns="0" bIns="0" rtlCol="0" anchor="ctr"/>
          <a:lstStyle/>
          <a:p>
            <a:pPr marL="0" indent="0">
              <a:buNone/>
            </a:pPr>
            <a:r>
              <a:rPr lang="en-US" sz="1500" i="1" dirty="0">
                <a:solidFill>
                  <a:srgbClr val="1F2937"/>
                </a:solidFill>
                <a:latin typeface="Calibri" pitchFamily="34" charset="0"/>
                <a:ea typeface="Calibri" pitchFamily="34" charset="-122"/>
                <a:cs typeface="Calibri" pitchFamily="34" charset="-120"/>
              </a:rPr>
              <a:t>Primer: l_returnflag = 'R' – procena 3.218 redova, stvarno 445.031</a:t>
            </a:r>
            <a:endParaRPr lang="en-US" sz="1500" dirty="0"/>
          </a:p>
        </p:txBody>
      </p:sp>
      <p:sp>
        <p:nvSpPr>
          <p:cNvPr id="18" name="Text 16"/>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Indeksi i prepisivanje upita</a:t>
            </a:r>
            <a:endParaRPr lang="en-US" sz="2600" dirty="0"/>
          </a:p>
        </p:txBody>
      </p:sp>
      <p:sp>
        <p:nvSpPr>
          <p:cNvPr id="3" name="Shape 1"/>
          <p:cNvSpPr/>
          <p:nvPr/>
        </p:nvSpPr>
        <p:spPr>
          <a:xfrm>
            <a:off x="457200" y="1097280"/>
            <a:ext cx="8229600" cy="777240"/>
          </a:xfrm>
          <a:prstGeom prst="roundRect">
            <a:avLst>
              <a:gd name="adj" fmla="val 9412"/>
            </a:avLst>
          </a:prstGeom>
          <a:solidFill>
            <a:srgbClr val="EEF2F8"/>
          </a:solidFill>
          <a:ln w="12700">
            <a:solidFill>
              <a:srgbClr val="EEF2F8"/>
            </a:solidFill>
            <a:prstDash val="solid"/>
          </a:ln>
        </p:spPr>
        <p:txBody>
          <a:bodyPr/>
          <a:lstStyle/>
          <a:p>
            <a:endParaRPr lang="en-AT"/>
          </a:p>
        </p:txBody>
      </p:sp>
      <p:sp>
        <p:nvSpPr>
          <p:cNvPr id="4" name="Shape 2"/>
          <p:cNvSpPr/>
          <p:nvPr/>
        </p:nvSpPr>
        <p:spPr>
          <a:xfrm>
            <a:off x="594360" y="1257300"/>
            <a:ext cx="777240" cy="457200"/>
          </a:xfrm>
          <a:prstGeom prst="roundRect">
            <a:avLst>
              <a:gd name="adj" fmla="val 16000"/>
            </a:avLst>
          </a:prstGeom>
          <a:solidFill>
            <a:srgbClr val="1B2A49"/>
          </a:solidFill>
          <a:ln w="12700">
            <a:solidFill>
              <a:srgbClr val="1B2A49"/>
            </a:solidFill>
            <a:prstDash val="solid"/>
          </a:ln>
        </p:spPr>
        <p:txBody>
          <a:bodyPr/>
          <a:lstStyle/>
          <a:p>
            <a:endParaRPr lang="en-AT"/>
          </a:p>
        </p:txBody>
      </p:sp>
      <p:sp>
        <p:nvSpPr>
          <p:cNvPr id="5" name="Text 3"/>
          <p:cNvSpPr txBox="1"/>
          <p:nvPr/>
        </p:nvSpPr>
        <p:spPr>
          <a:xfrm>
            <a:off x="594360" y="12573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Q17</a:t>
            </a:r>
            <a:endParaRPr lang="en-US" sz="1500" dirty="0"/>
          </a:p>
        </p:txBody>
      </p:sp>
      <p:sp>
        <p:nvSpPr>
          <p:cNvPr id="6" name="Text 4"/>
          <p:cNvSpPr txBox="1"/>
          <p:nvPr/>
        </p:nvSpPr>
        <p:spPr>
          <a:xfrm>
            <a:off x="1554480" y="10972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 60 s</a:t>
            </a:r>
            <a:endParaRPr lang="en-US" sz="1500" dirty="0"/>
          </a:p>
        </p:txBody>
      </p:sp>
      <p:sp>
        <p:nvSpPr>
          <p:cNvPr id="7" name="Text 5"/>
          <p:cNvSpPr txBox="1"/>
          <p:nvPr/>
        </p:nvSpPr>
        <p:spPr>
          <a:xfrm>
            <a:off x="2788920" y="10972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3108960" y="1097280"/>
            <a:ext cx="2103120" cy="777240"/>
          </a:xfrm>
          <a:prstGeom prst="rect">
            <a:avLst/>
          </a:prstGeom>
          <a:noFill/>
          <a:ln/>
        </p:spPr>
        <p:txBody>
          <a:bodyPr wrap="square" lIns="0" tIns="0" rIns="0" bIns="0" rtlCol="0" anchor="ctr"/>
          <a:lstStyle/>
          <a:p>
            <a:pPr marL="0" indent="0">
              <a:buNone/>
            </a:pPr>
            <a:r>
              <a:rPr lang="en-US" sz="1700" b="1" dirty="0">
                <a:solidFill>
                  <a:srgbClr val="E8772E"/>
                </a:solidFill>
                <a:latin typeface="Calibri" pitchFamily="34" charset="0"/>
                <a:ea typeface="Calibri" pitchFamily="34" charset="-122"/>
                <a:cs typeface="Calibri" pitchFamily="34" charset="-120"/>
              </a:rPr>
              <a:t>79,7 ms → 50 ms</a:t>
            </a:r>
            <a:endParaRPr lang="en-US" sz="1700" dirty="0"/>
          </a:p>
        </p:txBody>
      </p:sp>
      <p:sp>
        <p:nvSpPr>
          <p:cNvPr id="9" name="Text 7"/>
          <p:cNvSpPr txBox="1"/>
          <p:nvPr/>
        </p:nvSpPr>
        <p:spPr>
          <a:xfrm>
            <a:off x="5303520" y="10972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indeks nad l_partkey, zatim dekorelacija</a:t>
            </a:r>
            <a:endParaRPr lang="en-US" sz="1300" dirty="0"/>
          </a:p>
        </p:txBody>
      </p:sp>
      <p:sp>
        <p:nvSpPr>
          <p:cNvPr id="10" name="Shape 8"/>
          <p:cNvSpPr/>
          <p:nvPr/>
        </p:nvSpPr>
        <p:spPr>
          <a:xfrm>
            <a:off x="457200" y="2011680"/>
            <a:ext cx="8229600" cy="777240"/>
          </a:xfrm>
          <a:prstGeom prst="roundRect">
            <a:avLst>
              <a:gd name="adj" fmla="val 9412"/>
            </a:avLst>
          </a:prstGeom>
          <a:solidFill>
            <a:srgbClr val="EEF2F8"/>
          </a:solidFill>
          <a:ln w="12700">
            <a:solidFill>
              <a:srgbClr val="EEF2F8"/>
            </a:solidFill>
            <a:prstDash val="solid"/>
          </a:ln>
        </p:spPr>
        <p:txBody>
          <a:bodyPr/>
          <a:lstStyle/>
          <a:p>
            <a:endParaRPr lang="en-AT"/>
          </a:p>
        </p:txBody>
      </p:sp>
      <p:sp>
        <p:nvSpPr>
          <p:cNvPr id="11" name="Shape 9"/>
          <p:cNvSpPr/>
          <p:nvPr/>
        </p:nvSpPr>
        <p:spPr>
          <a:xfrm>
            <a:off x="594360" y="2171700"/>
            <a:ext cx="777240" cy="457200"/>
          </a:xfrm>
          <a:prstGeom prst="roundRect">
            <a:avLst>
              <a:gd name="adj" fmla="val 16000"/>
            </a:avLst>
          </a:prstGeom>
          <a:solidFill>
            <a:srgbClr val="1B2A49"/>
          </a:solidFill>
          <a:ln w="12700">
            <a:solidFill>
              <a:srgbClr val="1B2A49"/>
            </a:solidFill>
            <a:prstDash val="solid"/>
          </a:ln>
        </p:spPr>
        <p:txBody>
          <a:bodyPr/>
          <a:lstStyle/>
          <a:p>
            <a:endParaRPr lang="en-AT"/>
          </a:p>
        </p:txBody>
      </p:sp>
      <p:sp>
        <p:nvSpPr>
          <p:cNvPr id="12" name="Text 10"/>
          <p:cNvSpPr txBox="1"/>
          <p:nvPr/>
        </p:nvSpPr>
        <p:spPr>
          <a:xfrm>
            <a:off x="594360" y="21717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Q6</a:t>
            </a:r>
            <a:endParaRPr lang="en-US" sz="1500" dirty="0"/>
          </a:p>
        </p:txBody>
      </p:sp>
      <p:sp>
        <p:nvSpPr>
          <p:cNvPr id="13" name="Text 11"/>
          <p:cNvSpPr txBox="1"/>
          <p:nvPr/>
        </p:nvSpPr>
        <p:spPr>
          <a:xfrm>
            <a:off x="1554480" y="20116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56,1 ms</a:t>
            </a:r>
            <a:endParaRPr lang="en-US" sz="1500" dirty="0"/>
          </a:p>
        </p:txBody>
      </p:sp>
      <p:sp>
        <p:nvSpPr>
          <p:cNvPr id="14" name="Text 12"/>
          <p:cNvSpPr txBox="1"/>
          <p:nvPr/>
        </p:nvSpPr>
        <p:spPr>
          <a:xfrm>
            <a:off x="2788920" y="20116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3108960" y="2011680"/>
            <a:ext cx="2103120" cy="777240"/>
          </a:xfrm>
          <a:prstGeom prst="rect">
            <a:avLst/>
          </a:prstGeom>
          <a:noFill/>
          <a:ln/>
        </p:spPr>
        <p:txBody>
          <a:bodyPr wrap="square" lIns="0" tIns="0" rIns="0" bIns="0" rtlCol="0" anchor="ctr"/>
          <a:lstStyle/>
          <a:p>
            <a:pPr marL="0" indent="0">
              <a:buNone/>
            </a:pPr>
            <a:r>
              <a:rPr lang="en-US" sz="1700" b="1" dirty="0">
                <a:solidFill>
                  <a:srgbClr val="E8772E"/>
                </a:solidFill>
                <a:latin typeface="Calibri" pitchFamily="34" charset="0"/>
                <a:ea typeface="Calibri" pitchFamily="34" charset="-122"/>
                <a:cs typeface="Calibri" pitchFamily="34" charset="-120"/>
              </a:rPr>
              <a:t>18,9 ms</a:t>
            </a:r>
            <a:endParaRPr lang="en-US" sz="1700" dirty="0"/>
          </a:p>
        </p:txBody>
      </p:sp>
      <p:sp>
        <p:nvSpPr>
          <p:cNvPr id="16" name="Text 14"/>
          <p:cNvSpPr txBox="1"/>
          <p:nvPr/>
        </p:nvSpPr>
        <p:spPr>
          <a:xfrm>
            <a:off x="5303520" y="20116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pokrivajući indeks: 32.181 → 1.643 bloka</a:t>
            </a:r>
            <a:endParaRPr lang="en-US" sz="1300" dirty="0"/>
          </a:p>
        </p:txBody>
      </p:sp>
      <p:sp>
        <p:nvSpPr>
          <p:cNvPr id="17" name="Shape 15"/>
          <p:cNvSpPr/>
          <p:nvPr/>
        </p:nvSpPr>
        <p:spPr>
          <a:xfrm>
            <a:off x="457200" y="2926080"/>
            <a:ext cx="8229600" cy="777240"/>
          </a:xfrm>
          <a:prstGeom prst="roundRect">
            <a:avLst>
              <a:gd name="adj" fmla="val 9412"/>
            </a:avLst>
          </a:prstGeom>
          <a:solidFill>
            <a:srgbClr val="EEF2F8"/>
          </a:solidFill>
          <a:ln w="12700">
            <a:solidFill>
              <a:srgbClr val="EEF2F8"/>
            </a:solidFill>
            <a:prstDash val="solid"/>
          </a:ln>
        </p:spPr>
        <p:txBody>
          <a:bodyPr/>
          <a:lstStyle/>
          <a:p>
            <a:endParaRPr lang="en-AT"/>
          </a:p>
        </p:txBody>
      </p:sp>
      <p:sp>
        <p:nvSpPr>
          <p:cNvPr id="18" name="Shape 16"/>
          <p:cNvSpPr/>
          <p:nvPr/>
        </p:nvSpPr>
        <p:spPr>
          <a:xfrm>
            <a:off x="594360" y="3086100"/>
            <a:ext cx="777240" cy="457200"/>
          </a:xfrm>
          <a:prstGeom prst="roundRect">
            <a:avLst>
              <a:gd name="adj" fmla="val 16000"/>
            </a:avLst>
          </a:prstGeom>
          <a:solidFill>
            <a:srgbClr val="1B2A49"/>
          </a:solidFill>
          <a:ln w="12700">
            <a:solidFill>
              <a:srgbClr val="1B2A49"/>
            </a:solidFill>
            <a:prstDash val="solid"/>
          </a:ln>
        </p:spPr>
        <p:txBody>
          <a:bodyPr/>
          <a:lstStyle/>
          <a:p>
            <a:endParaRPr lang="en-AT"/>
          </a:p>
        </p:txBody>
      </p:sp>
      <p:sp>
        <p:nvSpPr>
          <p:cNvPr id="19" name="Text 17"/>
          <p:cNvSpPr txBox="1"/>
          <p:nvPr/>
        </p:nvSpPr>
        <p:spPr>
          <a:xfrm>
            <a:off x="594360" y="30861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Q14</a:t>
            </a:r>
            <a:endParaRPr lang="en-US" sz="1500" dirty="0"/>
          </a:p>
        </p:txBody>
      </p:sp>
      <p:sp>
        <p:nvSpPr>
          <p:cNvPr id="20" name="Text 18"/>
          <p:cNvSpPr txBox="1"/>
          <p:nvPr/>
        </p:nvSpPr>
        <p:spPr>
          <a:xfrm>
            <a:off x="1554480" y="29260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146,8 ms</a:t>
            </a:r>
            <a:endParaRPr lang="en-US" sz="1500" dirty="0"/>
          </a:p>
        </p:txBody>
      </p:sp>
      <p:sp>
        <p:nvSpPr>
          <p:cNvPr id="21" name="Text 19"/>
          <p:cNvSpPr txBox="1"/>
          <p:nvPr/>
        </p:nvSpPr>
        <p:spPr>
          <a:xfrm>
            <a:off x="2788920" y="29260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3108960" y="2926080"/>
            <a:ext cx="2103120" cy="777240"/>
          </a:xfrm>
          <a:prstGeom prst="rect">
            <a:avLst/>
          </a:prstGeom>
          <a:noFill/>
          <a:ln/>
        </p:spPr>
        <p:txBody>
          <a:bodyPr wrap="square" lIns="0" tIns="0" rIns="0" bIns="0" rtlCol="0" anchor="ctr"/>
          <a:lstStyle/>
          <a:p>
            <a:pPr marL="0" indent="0">
              <a:buNone/>
            </a:pPr>
            <a:r>
              <a:rPr lang="en-US" sz="1700" b="1" dirty="0">
                <a:solidFill>
                  <a:srgbClr val="E8772E"/>
                </a:solidFill>
                <a:latin typeface="Calibri" pitchFamily="34" charset="0"/>
                <a:ea typeface="Calibri" pitchFamily="34" charset="-122"/>
                <a:cs typeface="Calibri" pitchFamily="34" charset="-120"/>
              </a:rPr>
              <a:t>10,7 ms</a:t>
            </a:r>
            <a:endParaRPr lang="en-US" sz="1700" dirty="0"/>
          </a:p>
        </p:txBody>
      </p:sp>
      <p:sp>
        <p:nvSpPr>
          <p:cNvPr id="23" name="Text 21"/>
          <p:cNvSpPr txBox="1"/>
          <p:nvPr/>
        </p:nvSpPr>
        <p:spPr>
          <a:xfrm>
            <a:off x="5303520" y="29260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sargable uslov umesto date_trunc</a:t>
            </a:r>
            <a:endParaRPr lang="en-US" sz="1300" dirty="0"/>
          </a:p>
        </p:txBody>
      </p:sp>
      <p:sp>
        <p:nvSpPr>
          <p:cNvPr id="24" name="Shape 22"/>
          <p:cNvSpPr/>
          <p:nvPr/>
        </p:nvSpPr>
        <p:spPr>
          <a:xfrm>
            <a:off x="457200" y="3840480"/>
            <a:ext cx="8229600" cy="777240"/>
          </a:xfrm>
          <a:prstGeom prst="roundRect">
            <a:avLst>
              <a:gd name="adj" fmla="val 9412"/>
            </a:avLst>
          </a:prstGeom>
          <a:solidFill>
            <a:srgbClr val="FBEAEA"/>
          </a:solidFill>
          <a:ln w="12700">
            <a:solidFill>
              <a:srgbClr val="FBEAEA"/>
            </a:solidFill>
            <a:prstDash val="solid"/>
          </a:ln>
        </p:spPr>
        <p:txBody>
          <a:bodyPr/>
          <a:lstStyle/>
          <a:p>
            <a:endParaRPr lang="en-AT"/>
          </a:p>
        </p:txBody>
      </p:sp>
      <p:sp>
        <p:nvSpPr>
          <p:cNvPr id="25" name="Shape 23"/>
          <p:cNvSpPr/>
          <p:nvPr/>
        </p:nvSpPr>
        <p:spPr>
          <a:xfrm>
            <a:off x="594360" y="4000500"/>
            <a:ext cx="777240" cy="457200"/>
          </a:xfrm>
          <a:prstGeom prst="roundRect">
            <a:avLst>
              <a:gd name="adj" fmla="val 16000"/>
            </a:avLst>
          </a:prstGeom>
          <a:solidFill>
            <a:srgbClr val="B42318"/>
          </a:solidFill>
          <a:ln w="12700">
            <a:solidFill>
              <a:srgbClr val="B42318"/>
            </a:solidFill>
            <a:prstDash val="solid"/>
          </a:ln>
        </p:spPr>
        <p:txBody>
          <a:bodyPr/>
          <a:lstStyle/>
          <a:p>
            <a:endParaRPr lang="en-AT"/>
          </a:p>
        </p:txBody>
      </p:sp>
      <p:sp>
        <p:nvSpPr>
          <p:cNvPr id="26" name="Text 24"/>
          <p:cNvSpPr txBox="1"/>
          <p:nvPr/>
        </p:nvSpPr>
        <p:spPr>
          <a:xfrm>
            <a:off x="594360" y="40005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Q3</a:t>
            </a:r>
            <a:endParaRPr lang="en-US" sz="1500" dirty="0"/>
          </a:p>
        </p:txBody>
      </p:sp>
      <p:sp>
        <p:nvSpPr>
          <p:cNvPr id="27" name="Text 25"/>
          <p:cNvSpPr txBox="1"/>
          <p:nvPr/>
        </p:nvSpPr>
        <p:spPr>
          <a:xfrm>
            <a:off x="1554480" y="38404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75,7 ms</a:t>
            </a:r>
            <a:endParaRPr lang="en-US" sz="1500" dirty="0"/>
          </a:p>
        </p:txBody>
      </p:sp>
      <p:sp>
        <p:nvSpPr>
          <p:cNvPr id="28" name="Text 26"/>
          <p:cNvSpPr txBox="1"/>
          <p:nvPr/>
        </p:nvSpPr>
        <p:spPr>
          <a:xfrm>
            <a:off x="2788920" y="38404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29" name="Text 27"/>
          <p:cNvSpPr txBox="1"/>
          <p:nvPr/>
        </p:nvSpPr>
        <p:spPr>
          <a:xfrm>
            <a:off x="3108960" y="3840480"/>
            <a:ext cx="2103120" cy="777240"/>
          </a:xfrm>
          <a:prstGeom prst="rect">
            <a:avLst/>
          </a:prstGeom>
          <a:noFill/>
          <a:ln/>
        </p:spPr>
        <p:txBody>
          <a:bodyPr wrap="square" lIns="0" tIns="0" rIns="0" bIns="0" rtlCol="0" anchor="ctr"/>
          <a:lstStyle/>
          <a:p>
            <a:pPr marL="0" indent="0">
              <a:buNone/>
            </a:pPr>
            <a:r>
              <a:rPr lang="en-US" sz="1700" b="1" dirty="0">
                <a:solidFill>
                  <a:srgbClr val="B42318"/>
                </a:solidFill>
                <a:latin typeface="Calibri" pitchFamily="34" charset="0"/>
                <a:ea typeface="Calibri" pitchFamily="34" charset="-122"/>
                <a:cs typeface="Calibri" pitchFamily="34" charset="-120"/>
              </a:rPr>
              <a:t>108,7 ms</a:t>
            </a:r>
            <a:endParaRPr lang="en-US" sz="1700" dirty="0"/>
          </a:p>
        </p:txBody>
      </p:sp>
      <p:sp>
        <p:nvSpPr>
          <p:cNvPr id="30" name="Text 28"/>
          <p:cNvSpPr txBox="1"/>
          <p:nvPr/>
        </p:nvSpPr>
        <p:spPr>
          <a:xfrm>
            <a:off x="5303520" y="38404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regresija: plan sa indeksom je sporiji</a:t>
            </a:r>
            <a:endParaRPr lang="en-US" sz="1300" dirty="0"/>
          </a:p>
        </p:txBody>
      </p:sp>
      <p:sp>
        <p:nvSpPr>
          <p:cNvPr id="31" name="Text 29"/>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Konfiguracija, materijalizovani pogled i throughput</a:t>
            </a:r>
            <a:endParaRPr lang="en-US" sz="2600" dirty="0"/>
          </a:p>
        </p:txBody>
      </p:sp>
      <p:graphicFrame>
        <p:nvGraphicFramePr>
          <p:cNvPr id="3" name="Chart 0"/>
          <p:cNvGraphicFramePr/>
          <p:nvPr/>
        </p:nvGraphicFramePr>
        <p:xfrm>
          <a:off x="365760" y="1051560"/>
          <a:ext cx="56692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263640" y="1188720"/>
            <a:ext cx="2468880" cy="1417320"/>
          </a:xfrm>
          <a:prstGeom prst="roundRect">
            <a:avLst>
              <a:gd name="adj" fmla="val 5161"/>
            </a:avLst>
          </a:prstGeom>
          <a:solidFill>
            <a:srgbClr val="EEF2F8"/>
          </a:solidFill>
          <a:ln w="12700">
            <a:solidFill>
              <a:srgbClr val="EEF2F8"/>
            </a:solidFill>
            <a:prstDash val="solid"/>
          </a:ln>
        </p:spPr>
        <p:txBody>
          <a:bodyPr/>
          <a:lstStyle/>
          <a:p>
            <a:endParaRPr lang="en-AT"/>
          </a:p>
        </p:txBody>
      </p:sp>
      <p:sp>
        <p:nvSpPr>
          <p:cNvPr id="5" name="Text 2"/>
          <p:cNvSpPr txBox="1"/>
          <p:nvPr/>
        </p:nvSpPr>
        <p:spPr>
          <a:xfrm>
            <a:off x="6446520" y="1234440"/>
            <a:ext cx="2103120" cy="777240"/>
          </a:xfrm>
          <a:prstGeom prst="rect">
            <a:avLst/>
          </a:prstGeom>
          <a:noFill/>
          <a:ln/>
        </p:spPr>
        <p:txBody>
          <a:bodyPr wrap="square" lIns="0" tIns="0" rIns="0" bIns="0" rtlCol="0" anchor="ctr"/>
          <a:lstStyle/>
          <a:p>
            <a:pPr marL="0" indent="0">
              <a:buNone/>
            </a:pPr>
            <a:r>
              <a:rPr lang="en-US" sz="3800" b="1" dirty="0">
                <a:solidFill>
                  <a:srgbClr val="E8772E"/>
                </a:solidFill>
                <a:latin typeface="Cambria" pitchFamily="34" charset="0"/>
                <a:ea typeface="Cambria" pitchFamily="34" charset="-122"/>
                <a:cs typeface="Cambria" pitchFamily="34" charset="-120"/>
              </a:rPr>
              <a:t>532×</a:t>
            </a:r>
            <a:endParaRPr lang="en-US" sz="3800" dirty="0"/>
          </a:p>
        </p:txBody>
      </p:sp>
      <p:sp>
        <p:nvSpPr>
          <p:cNvPr id="6" name="Text 3"/>
          <p:cNvSpPr txBox="1"/>
          <p:nvPr/>
        </p:nvSpPr>
        <p:spPr>
          <a:xfrm>
            <a:off x="6446520" y="2011680"/>
            <a:ext cx="21031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Q1 sa pogledom: 191,6 → 1,0 ms</a:t>
            </a:r>
            <a:endParaRPr lang="en-US" sz="1200" dirty="0"/>
          </a:p>
        </p:txBody>
      </p:sp>
      <p:sp>
        <p:nvSpPr>
          <p:cNvPr id="7" name="Text 4"/>
          <p:cNvSpPr txBox="1"/>
          <p:nvPr/>
        </p:nvSpPr>
        <p:spPr>
          <a:xfrm>
            <a:off x="6309360" y="2834640"/>
            <a:ext cx="237744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Konfiguracija: Q1 i Q18 brži 22–28%</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4 toka: 2,6× veća propusna moć</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Skaliranje sublinearno</a:t>
            </a:r>
            <a:endParaRPr lang="en-US" sz="1300" dirty="0"/>
          </a:p>
        </p:txBody>
      </p:sp>
      <p:sp>
        <p:nvSpPr>
          <p:cNvPr id="8" name="Text 5"/>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Diskusija i ograničenja</a:t>
            </a:r>
            <a:endParaRPr lang="en-US" sz="2600" dirty="0"/>
          </a:p>
        </p:txBody>
      </p:sp>
      <p:sp>
        <p:nvSpPr>
          <p:cNvPr id="3" name="Shape 1"/>
          <p:cNvSpPr/>
          <p:nvPr/>
        </p:nvSpPr>
        <p:spPr>
          <a:xfrm>
            <a:off x="457200" y="1188720"/>
            <a:ext cx="3977640" cy="3520440"/>
          </a:xfrm>
          <a:prstGeom prst="roundRect">
            <a:avLst>
              <a:gd name="adj" fmla="val 2078"/>
            </a:avLst>
          </a:prstGeom>
          <a:solidFill>
            <a:srgbClr val="EEF2F8"/>
          </a:solidFill>
          <a:ln w="12700">
            <a:solidFill>
              <a:srgbClr val="EEF2F8"/>
            </a:solidFill>
            <a:prstDash val="solid"/>
          </a:ln>
        </p:spPr>
        <p:txBody>
          <a:bodyPr/>
          <a:lstStyle/>
          <a:p>
            <a:endParaRPr lang="en-AT"/>
          </a:p>
        </p:txBody>
      </p:sp>
      <p:sp>
        <p:nvSpPr>
          <p:cNvPr id="4" name="Shape 2"/>
          <p:cNvSpPr/>
          <p:nvPr/>
        </p:nvSpPr>
        <p:spPr>
          <a:xfrm>
            <a:off x="685800" y="1371600"/>
            <a:ext cx="457200" cy="457200"/>
          </a:xfrm>
          <a:prstGeom prst="ellipse">
            <a:avLst/>
          </a:prstGeom>
          <a:solidFill>
            <a:srgbClr val="E8772E"/>
          </a:solidFill>
          <a:ln w="12700">
            <a:solidFill>
              <a:srgbClr val="E8772E"/>
            </a:solidFill>
            <a:prstDash val="solid"/>
          </a:ln>
        </p:spPr>
        <p:txBody>
          <a:bodyPr/>
          <a:lstStyle/>
          <a:p>
            <a:endParaRPr lang="en-AT"/>
          </a:p>
        </p:txBody>
      </p:sp>
      <p:sp>
        <p:nvSpPr>
          <p:cNvPr id="5" name="Text 3"/>
          <p:cNvSpPr txBox="1"/>
          <p:nvPr/>
        </p:nvSpPr>
        <p:spPr>
          <a:xfrm>
            <a:off x="68580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280160" y="1371600"/>
            <a:ext cx="2971800" cy="457200"/>
          </a:xfrm>
          <a:prstGeom prst="rect">
            <a:avLst/>
          </a:prstGeom>
          <a:noFill/>
          <a:ln/>
        </p:spPr>
        <p:txBody>
          <a:bodyPr wrap="square" lIns="0" tIns="0" rIns="0" bIns="0" rtlCol="0" anchor="ctr"/>
          <a:lstStyle/>
          <a:p>
            <a:pPr marL="0" indent="0">
              <a:buNone/>
            </a:pPr>
            <a:r>
              <a:rPr lang="en-US" sz="1800" b="1" dirty="0">
                <a:solidFill>
                  <a:srgbClr val="1B2A49"/>
                </a:solidFill>
                <a:latin typeface="Calibri" pitchFamily="34" charset="0"/>
                <a:ea typeface="Calibri" pitchFamily="34" charset="-122"/>
                <a:cs typeface="Calibri" pitchFamily="34" charset="-120"/>
              </a:rPr>
              <a:t>Zapažanja</a:t>
            </a:r>
            <a:endParaRPr lang="en-US" sz="1800" dirty="0"/>
          </a:p>
        </p:txBody>
      </p:sp>
      <p:sp>
        <p:nvSpPr>
          <p:cNvPr id="7" name="Text 5"/>
          <p:cNvSpPr txBox="1"/>
          <p:nvPr/>
        </p:nvSpPr>
        <p:spPr>
          <a:xfrm>
            <a:off x="731520" y="2011680"/>
            <a:ext cx="3474720" cy="2606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Procena kardinalnosti je najslabija karika optimizacije</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Indeksi pomažu samo selektivnim upitima i mogu izazvati regresiju</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Oblik upita odlučuje da li se indeks može koristiti</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Materijalizovani pogled: ogroman dobitak, ali podaci nisu uvek sveži</a:t>
            </a:r>
            <a:endParaRPr lang="en-US" sz="1400" dirty="0"/>
          </a:p>
        </p:txBody>
      </p:sp>
      <p:sp>
        <p:nvSpPr>
          <p:cNvPr id="8" name="Shape 6"/>
          <p:cNvSpPr/>
          <p:nvPr/>
        </p:nvSpPr>
        <p:spPr>
          <a:xfrm>
            <a:off x="4709160" y="1188720"/>
            <a:ext cx="3977640" cy="3520440"/>
          </a:xfrm>
          <a:prstGeom prst="roundRect">
            <a:avLst>
              <a:gd name="adj" fmla="val 2078"/>
            </a:avLst>
          </a:prstGeom>
          <a:solidFill>
            <a:srgbClr val="EEF2F8"/>
          </a:solidFill>
          <a:ln w="12700">
            <a:solidFill>
              <a:srgbClr val="EEF2F8"/>
            </a:solidFill>
            <a:prstDash val="solid"/>
          </a:ln>
        </p:spPr>
        <p:txBody>
          <a:bodyPr/>
          <a:lstStyle/>
          <a:p>
            <a:endParaRPr lang="en-AT"/>
          </a:p>
        </p:txBody>
      </p:sp>
      <p:sp>
        <p:nvSpPr>
          <p:cNvPr id="9" name="Shape 7"/>
          <p:cNvSpPr/>
          <p:nvPr/>
        </p:nvSpPr>
        <p:spPr>
          <a:xfrm>
            <a:off x="4937760" y="1371600"/>
            <a:ext cx="457200" cy="457200"/>
          </a:xfrm>
          <a:prstGeom prst="ellipse">
            <a:avLst/>
          </a:prstGeom>
          <a:solidFill>
            <a:srgbClr val="1B2A49"/>
          </a:solidFill>
          <a:ln w="12700">
            <a:solidFill>
              <a:srgbClr val="1B2A49"/>
            </a:solidFill>
            <a:prstDash val="solid"/>
          </a:ln>
        </p:spPr>
        <p:txBody>
          <a:bodyPr/>
          <a:lstStyle/>
          <a:p>
            <a:endParaRPr lang="en-AT"/>
          </a:p>
        </p:txBody>
      </p:sp>
      <p:sp>
        <p:nvSpPr>
          <p:cNvPr id="10" name="Text 8"/>
          <p:cNvSpPr txBox="1"/>
          <p:nvPr/>
        </p:nvSpPr>
        <p:spPr>
          <a:xfrm>
            <a:off x="493776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5532120" y="1371600"/>
            <a:ext cx="2971800" cy="457200"/>
          </a:xfrm>
          <a:prstGeom prst="rect">
            <a:avLst/>
          </a:prstGeom>
          <a:noFill/>
          <a:ln/>
        </p:spPr>
        <p:txBody>
          <a:bodyPr wrap="square" lIns="0" tIns="0" rIns="0" bIns="0" rtlCol="0" anchor="ctr"/>
          <a:lstStyle/>
          <a:p>
            <a:pPr marL="0" indent="0">
              <a:buNone/>
            </a:pPr>
            <a:r>
              <a:rPr lang="en-US" sz="1800" b="1" dirty="0">
                <a:solidFill>
                  <a:srgbClr val="1B2A49"/>
                </a:solidFill>
                <a:latin typeface="Calibri" pitchFamily="34" charset="0"/>
                <a:ea typeface="Calibri" pitchFamily="34" charset="-122"/>
                <a:cs typeface="Calibri" pitchFamily="34" charset="-120"/>
              </a:rPr>
              <a:t>Ograničenja</a:t>
            </a:r>
            <a:endParaRPr lang="en-US" sz="1800" dirty="0"/>
          </a:p>
        </p:txBody>
      </p:sp>
      <p:sp>
        <p:nvSpPr>
          <p:cNvPr id="12" name="Text 10"/>
          <p:cNvSpPr txBox="1"/>
          <p:nvPr/>
        </p:nvSpPr>
        <p:spPr>
          <a:xfrm>
            <a:off x="4983480" y="2011680"/>
            <a:ext cx="3474720" cy="2606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TPC-like podaci, 9 od 22 upita – nije zvanični TPC-H rezultat</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Mali SF: podaci delimično staju u memoriju</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Merenje na toplom kešu, desktop računar</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Q17 u fazama 0 i 1: donja granica od 60 s</a:t>
            </a:r>
            <a:endParaRPr lang="en-US" sz="1400" dirty="0"/>
          </a:p>
        </p:txBody>
      </p:sp>
      <p:sp>
        <p:nvSpPr>
          <p:cNvPr id="13" name="Text 11"/>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9"/>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Zaključak</a:t>
            </a:r>
            <a:endParaRPr lang="en-US" sz="2600" dirty="0"/>
          </a:p>
        </p:txBody>
      </p:sp>
      <p:sp>
        <p:nvSpPr>
          <p:cNvPr id="3" name="Shape 1"/>
          <p:cNvSpPr/>
          <p:nvPr/>
        </p:nvSpPr>
        <p:spPr>
          <a:xfrm>
            <a:off x="457200" y="1188720"/>
            <a:ext cx="2560320" cy="2514600"/>
          </a:xfrm>
          <a:prstGeom prst="roundRect">
            <a:avLst>
              <a:gd name="adj" fmla="val 2909"/>
            </a:avLst>
          </a:prstGeom>
          <a:solidFill>
            <a:srgbClr val="FFFFFF">
              <a:alpha val="12000"/>
            </a:srgbClr>
          </a:solidFill>
          <a:ln w="12700">
            <a:solidFill>
              <a:srgbClr val="FFFFFF">
                <a:alpha val="12000"/>
              </a:srgbClr>
            </a:solidFill>
            <a:prstDash val="solid"/>
          </a:ln>
        </p:spPr>
        <p:txBody>
          <a:bodyPr/>
          <a:lstStyle/>
          <a:p>
            <a:endParaRPr lang="en-AT"/>
          </a:p>
        </p:txBody>
      </p:sp>
      <p:sp>
        <p:nvSpPr>
          <p:cNvPr id="4" name="Shape 2"/>
          <p:cNvSpPr/>
          <p:nvPr/>
        </p:nvSpPr>
        <p:spPr>
          <a:xfrm>
            <a:off x="685800" y="1371600"/>
            <a:ext cx="502920" cy="502920"/>
          </a:xfrm>
          <a:prstGeom prst="ellipse">
            <a:avLst/>
          </a:prstGeom>
          <a:solidFill>
            <a:srgbClr val="E8772E"/>
          </a:solidFill>
          <a:ln w="12700">
            <a:solidFill>
              <a:srgbClr val="E8772E"/>
            </a:solidFill>
            <a:prstDash val="solid"/>
          </a:ln>
        </p:spPr>
        <p:txBody>
          <a:bodyPr/>
          <a:lstStyle/>
          <a:p>
            <a:endParaRPr lang="en-AT"/>
          </a:p>
        </p:txBody>
      </p:sp>
      <p:sp>
        <p:nvSpPr>
          <p:cNvPr id="5" name="Text 3"/>
          <p:cNvSpPr txBox="1"/>
          <p:nvPr/>
        </p:nvSpPr>
        <p:spPr>
          <a:xfrm>
            <a:off x="685800" y="13716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371600"/>
            <a:ext cx="155448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Šta je urađeno</a:t>
            </a:r>
            <a:endParaRPr lang="en-US" sz="1700" dirty="0"/>
          </a:p>
        </p:txBody>
      </p:sp>
      <p:sp>
        <p:nvSpPr>
          <p:cNvPr id="7" name="Text 5"/>
          <p:cNvSpPr txBox="1"/>
          <p:nvPr/>
        </p:nvSpPr>
        <p:spPr>
          <a:xfrm>
            <a:off x="685800" y="2011680"/>
            <a:ext cx="2103120" cy="1600200"/>
          </a:xfrm>
          <a:prstGeom prst="rect">
            <a:avLst/>
          </a:prstGeom>
          <a:noFill/>
          <a:ln/>
        </p:spPr>
        <p:txBody>
          <a:bodyPr wrap="square" lIns="0" tIns="0" rIns="0" bIns="0" rtlCol="0" anchor="t"/>
          <a:lstStyle/>
          <a:p>
            <a:pPr marL="0" indent="0">
              <a:buNone/>
            </a:pPr>
            <a:r>
              <a:rPr lang="en-US" sz="1400" dirty="0">
                <a:solidFill>
                  <a:srgbClr val="E5E9F0"/>
                </a:solidFill>
                <a:latin typeface="Calibri" pitchFamily="34" charset="0"/>
                <a:ea typeface="Calibri" pitchFamily="34" charset="-122"/>
                <a:cs typeface="Calibri" pitchFamily="34" charset="-120"/>
              </a:rPr>
              <a:t>Izmeren efekat pet tehnika optimizacije na devet TPC-H upita, kroz šest faza.</a:t>
            </a:r>
            <a:endParaRPr lang="en-US" sz="1400" dirty="0"/>
          </a:p>
        </p:txBody>
      </p:sp>
      <p:sp>
        <p:nvSpPr>
          <p:cNvPr id="8" name="Shape 6"/>
          <p:cNvSpPr/>
          <p:nvPr/>
        </p:nvSpPr>
        <p:spPr>
          <a:xfrm>
            <a:off x="3291840" y="1188720"/>
            <a:ext cx="2560320" cy="2514600"/>
          </a:xfrm>
          <a:prstGeom prst="roundRect">
            <a:avLst>
              <a:gd name="adj" fmla="val 2909"/>
            </a:avLst>
          </a:prstGeom>
          <a:solidFill>
            <a:srgbClr val="FFFFFF">
              <a:alpha val="12000"/>
            </a:srgbClr>
          </a:solidFill>
          <a:ln w="12700">
            <a:solidFill>
              <a:srgbClr val="FFFFFF">
                <a:alpha val="12000"/>
              </a:srgbClr>
            </a:solidFill>
            <a:prstDash val="solid"/>
          </a:ln>
        </p:spPr>
        <p:txBody>
          <a:bodyPr/>
          <a:lstStyle/>
          <a:p>
            <a:endParaRPr lang="en-AT"/>
          </a:p>
        </p:txBody>
      </p:sp>
      <p:sp>
        <p:nvSpPr>
          <p:cNvPr id="9" name="Shape 7"/>
          <p:cNvSpPr/>
          <p:nvPr/>
        </p:nvSpPr>
        <p:spPr>
          <a:xfrm>
            <a:off x="3520440" y="1371600"/>
            <a:ext cx="502920" cy="502920"/>
          </a:xfrm>
          <a:prstGeom prst="ellipse">
            <a:avLst/>
          </a:prstGeom>
          <a:solidFill>
            <a:srgbClr val="E8772E"/>
          </a:solidFill>
          <a:ln w="12700">
            <a:solidFill>
              <a:srgbClr val="E8772E"/>
            </a:solidFill>
            <a:prstDash val="solid"/>
          </a:ln>
        </p:spPr>
        <p:txBody>
          <a:bodyPr/>
          <a:lstStyle/>
          <a:p>
            <a:endParaRPr lang="en-AT"/>
          </a:p>
        </p:txBody>
      </p:sp>
      <p:sp>
        <p:nvSpPr>
          <p:cNvPr id="10" name="Text 8"/>
          <p:cNvSpPr txBox="1"/>
          <p:nvPr/>
        </p:nvSpPr>
        <p:spPr>
          <a:xfrm>
            <a:off x="3520440" y="13716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4160520" y="1371600"/>
            <a:ext cx="155448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Kako</a:t>
            </a:r>
            <a:endParaRPr lang="en-US" sz="1700" dirty="0"/>
          </a:p>
        </p:txBody>
      </p:sp>
      <p:sp>
        <p:nvSpPr>
          <p:cNvPr id="12" name="Text 10"/>
          <p:cNvSpPr txBox="1"/>
          <p:nvPr/>
        </p:nvSpPr>
        <p:spPr>
          <a:xfrm>
            <a:off x="3520440" y="2011680"/>
            <a:ext cx="2103120" cy="1600200"/>
          </a:xfrm>
          <a:prstGeom prst="rect">
            <a:avLst/>
          </a:prstGeom>
          <a:noFill/>
          <a:ln/>
        </p:spPr>
        <p:txBody>
          <a:bodyPr wrap="square" lIns="0" tIns="0" rIns="0" bIns="0" rtlCol="0" anchor="t"/>
          <a:lstStyle/>
          <a:p>
            <a:pPr marL="0" indent="0">
              <a:buNone/>
            </a:pPr>
            <a:r>
              <a:rPr lang="en-US" sz="1400" dirty="0">
                <a:solidFill>
                  <a:srgbClr val="E5E9F0"/>
                </a:solidFill>
                <a:latin typeface="Calibri" pitchFamily="34" charset="0"/>
                <a:ea typeface="Calibri" pitchFamily="34" charset="-122"/>
                <a:cs typeface="Calibri" pitchFamily="34" charset="-120"/>
              </a:rPr>
              <a:t>Automatizovana skripta: generisanje podataka, merenje, provera rezultata, planovi, regresije.</a:t>
            </a:r>
            <a:endParaRPr lang="en-US" sz="1400" dirty="0"/>
          </a:p>
        </p:txBody>
      </p:sp>
      <p:sp>
        <p:nvSpPr>
          <p:cNvPr id="13" name="Shape 11"/>
          <p:cNvSpPr/>
          <p:nvPr/>
        </p:nvSpPr>
        <p:spPr>
          <a:xfrm>
            <a:off x="6126480" y="1188720"/>
            <a:ext cx="2560320" cy="2514600"/>
          </a:xfrm>
          <a:prstGeom prst="roundRect">
            <a:avLst>
              <a:gd name="adj" fmla="val 2909"/>
            </a:avLst>
          </a:prstGeom>
          <a:solidFill>
            <a:srgbClr val="FFFFFF">
              <a:alpha val="12000"/>
            </a:srgbClr>
          </a:solidFill>
          <a:ln w="12700">
            <a:solidFill>
              <a:srgbClr val="FFFFFF">
                <a:alpha val="12000"/>
              </a:srgbClr>
            </a:solidFill>
            <a:prstDash val="solid"/>
          </a:ln>
        </p:spPr>
        <p:txBody>
          <a:bodyPr/>
          <a:lstStyle/>
          <a:p>
            <a:endParaRPr lang="en-AT"/>
          </a:p>
        </p:txBody>
      </p:sp>
      <p:sp>
        <p:nvSpPr>
          <p:cNvPr id="14" name="Shape 12"/>
          <p:cNvSpPr/>
          <p:nvPr/>
        </p:nvSpPr>
        <p:spPr>
          <a:xfrm>
            <a:off x="6355080" y="1371600"/>
            <a:ext cx="502920" cy="502920"/>
          </a:xfrm>
          <a:prstGeom prst="ellipse">
            <a:avLst/>
          </a:prstGeom>
          <a:solidFill>
            <a:srgbClr val="E8772E"/>
          </a:solidFill>
          <a:ln w="12700">
            <a:solidFill>
              <a:srgbClr val="E8772E"/>
            </a:solidFill>
            <a:prstDash val="solid"/>
          </a:ln>
        </p:spPr>
        <p:txBody>
          <a:bodyPr/>
          <a:lstStyle/>
          <a:p>
            <a:endParaRPr lang="en-AT"/>
          </a:p>
        </p:txBody>
      </p:sp>
      <p:sp>
        <p:nvSpPr>
          <p:cNvPr id="15" name="Text 13"/>
          <p:cNvSpPr txBox="1"/>
          <p:nvPr/>
        </p:nvSpPr>
        <p:spPr>
          <a:xfrm>
            <a:off x="6355080" y="13716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995160" y="1371600"/>
            <a:ext cx="155448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Rezultati</a:t>
            </a:r>
            <a:endParaRPr lang="en-US" sz="1700" dirty="0"/>
          </a:p>
        </p:txBody>
      </p:sp>
      <p:sp>
        <p:nvSpPr>
          <p:cNvPr id="17" name="Text 15"/>
          <p:cNvSpPr txBox="1"/>
          <p:nvPr/>
        </p:nvSpPr>
        <p:spPr>
          <a:xfrm>
            <a:off x="6355080" y="2011680"/>
            <a:ext cx="2103120" cy="1600200"/>
          </a:xfrm>
          <a:prstGeom prst="rect">
            <a:avLst/>
          </a:prstGeom>
          <a:noFill/>
          <a:ln/>
        </p:spPr>
        <p:txBody>
          <a:bodyPr wrap="square" lIns="0" tIns="0" rIns="0" bIns="0" rtlCol="0" anchor="t"/>
          <a:lstStyle/>
          <a:p>
            <a:pPr marL="0" indent="0">
              <a:buNone/>
            </a:pPr>
            <a:r>
              <a:rPr lang="en-US" sz="1400" dirty="0">
                <a:solidFill>
                  <a:srgbClr val="E5E9F0"/>
                </a:solidFill>
                <a:latin typeface="Calibri" pitchFamily="34" charset="0"/>
                <a:ea typeface="Calibri" pitchFamily="34" charset="-122"/>
                <a:cs typeface="Calibri" pitchFamily="34" charset="-120"/>
              </a:rPr>
              <a:t>Geomean 374,5 → 41,9 ms (8,9×); statistika najjeftinija; indeksi uz rizik regresije.</a:t>
            </a:r>
            <a:endParaRPr lang="en-US" sz="1400" dirty="0"/>
          </a:p>
        </p:txBody>
      </p:sp>
      <p:sp>
        <p:nvSpPr>
          <p:cNvPr id="18" name="Text 16"/>
          <p:cNvSpPr txBox="1"/>
          <p:nvPr/>
        </p:nvSpPr>
        <p:spPr>
          <a:xfrm>
            <a:off x="457200" y="3977640"/>
            <a:ext cx="8229600" cy="640080"/>
          </a:xfrm>
          <a:prstGeom prst="rect">
            <a:avLst/>
          </a:prstGeom>
          <a:noFill/>
          <a:ln/>
        </p:spPr>
        <p:txBody>
          <a:bodyPr wrap="square" lIns="0" tIns="0" rIns="0" bIns="0" rtlCol="0" anchor="ctr"/>
          <a:lstStyle/>
          <a:p>
            <a:pPr marL="0" indent="0" algn="ctr">
              <a:buNone/>
            </a:pPr>
            <a:r>
              <a:rPr lang="en-US" sz="2800" b="1" dirty="0">
                <a:solidFill>
                  <a:srgbClr val="E8772E"/>
                </a:solidFill>
                <a:latin typeface="Cambria" pitchFamily="34" charset="0"/>
                <a:ea typeface="Cambria" pitchFamily="34" charset="-122"/>
                <a:cs typeface="Cambria" pitchFamily="34" charset="-120"/>
              </a:rPr>
              <a:t>Hvala na </a:t>
            </a:r>
            <a:r>
              <a:rPr lang="en-US" sz="2800" b="1" dirty="0" err="1">
                <a:solidFill>
                  <a:srgbClr val="E8772E"/>
                </a:solidFill>
                <a:latin typeface="Cambria" pitchFamily="34" charset="0"/>
                <a:ea typeface="Cambria" pitchFamily="34" charset="-122"/>
                <a:cs typeface="Cambria" pitchFamily="34" charset="-120"/>
              </a:rPr>
              <a:t>pažnji</a:t>
            </a:r>
            <a:r>
              <a:rPr lang="en-US" sz="2800" b="1">
                <a:solidFill>
                  <a:srgbClr val="E8772E"/>
                </a:solidFill>
                <a:latin typeface="Cambria" pitchFamily="34" charset="0"/>
                <a:ea typeface="Cambria" pitchFamily="34" charset="-122"/>
                <a:cs typeface="Cambria" pitchFamily="34" charset="-120"/>
              </a:rPr>
              <a:t>!</a:t>
            </a:r>
            <a:endParaRPr lang="en-US" sz="2800" dirty="0"/>
          </a:p>
        </p:txBody>
      </p:sp>
      <p:sp>
        <p:nvSpPr>
          <p:cNvPr id="19" name="Text 17"/>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C7CFD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2137</Words>
  <Application>Microsoft Office PowerPoint</Application>
  <PresentationFormat>On-screen Show (16:9)</PresentationFormat>
  <Paragraphs>178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Optimizacija upita primenom TPC-like benchmarking pristupa</dc:title>
  <dc:subject>PptxGenJS Presentation</dc:subject>
  <dc:creator>PptxGenJS</dc:creator>
  <cp:lastModifiedBy>Katarina Milojković</cp:lastModifiedBy>
  <cp:revision>3</cp:revision>
  <dcterms:created xsi:type="dcterms:W3CDTF">2026-09-30T15:00:29Z</dcterms:created>
  <dcterms:modified xsi:type="dcterms:W3CDTF">2026-09-30T15:08:29Z</dcterms:modified>
</cp:coreProperties>
</file>