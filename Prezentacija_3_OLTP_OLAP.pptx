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0" d="100"/>
          <a:sy n="70" d="100"/>
        </p:scale>
        <p:origin x="48" y="6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4A1D3F"/>
                </a:solidFill>
                <a:latin typeface="Calibri"/>
              </a:defRPr>
            </a:pPr>
            <a:r>
              <a:rPr lang="pl-PL" sz="1200" b="0" i="0" u="none" strike="noStrike">
                <a:solidFill>
                  <a:srgbClr val="4A1D3F"/>
                </a:solidFill>
                <a:latin typeface="Calibri"/>
              </a:rPr>
              <a:t>Latencija transakcija po tipu [ms]</a:t>
            </a:r>
          </a:p>
        </c:rich>
      </c:tx>
      <c:overlay val="0"/>
    </c:title>
    <c:autoTitleDeleted val="0"/>
    <c:plotArea>
      <c:layout/>
      <c:barChart>
        <c:barDir val="col"/>
        <c:grouping val="clustered"/>
        <c:varyColors val="0"/>
        <c:ser>
          <c:idx val="0"/>
          <c:order val="0"/>
          <c:tx>
            <c:strRef>
              <c:f>Sheet1!$B$1</c:f>
              <c:strCache>
                <c:ptCount val="1"/>
                <c:pt idx="0">
                  <c:v>p50 [ms]</c:v>
                </c:pt>
              </c:strCache>
            </c:strRef>
          </c:tx>
          <c:spPr>
            <a:solidFill>
              <a:srgbClr val="4A1D3F"/>
            </a:solidFill>
            <a:effectLst/>
          </c:spPr>
          <c:invertIfNegative val="0"/>
          <c:dLbls>
            <c:numFmt formatCode="0.00" sourceLinked="0"/>
            <c:spPr>
              <a:noFill/>
              <a:ln>
                <a:noFill/>
              </a:ln>
              <a:effectLst/>
            </c:spPr>
            <c:txPr>
              <a:bodyPr/>
              <a:lstStyle/>
              <a:p>
                <a:pPr>
                  <a:defRPr sz="800" b="0" i="0" u="none" strike="noStrike">
                    <a:solidFill>
                      <a:srgbClr val="1F2937"/>
                    </a:solidFill>
                    <a:latin typeface="Arial"/>
                  </a:defRPr>
                </a:pPr>
                <a:endParaRPr lang="en-A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nova narudžbina</c:v>
                </c:pt>
                <c:pt idx="1">
                  <c:v>status narudžbine</c:v>
                </c:pt>
                <c:pt idx="2">
                  <c:v>isporuka</c:v>
                </c:pt>
              </c:strCache>
            </c:strRef>
          </c:cat>
          <c:val>
            <c:numRef>
              <c:f>Sheet1!$B$2:$B$4</c:f>
              <c:numCache>
                <c:formatCode>General</c:formatCode>
                <c:ptCount val="3"/>
                <c:pt idx="0">
                  <c:v>0.95</c:v>
                </c:pt>
                <c:pt idx="1">
                  <c:v>0.36</c:v>
                </c:pt>
                <c:pt idx="2">
                  <c:v>0.19</c:v>
                </c:pt>
              </c:numCache>
            </c:numRef>
          </c:val>
          <c:extLst>
            <c:ext xmlns:c16="http://schemas.microsoft.com/office/drawing/2014/chart" uri="{C3380CC4-5D6E-409C-BE32-E72D297353CC}">
              <c16:uniqueId val="{00000000-86CA-4AEA-A57B-926D051136A3}"/>
            </c:ext>
          </c:extLst>
        </c:ser>
        <c:ser>
          <c:idx val="1"/>
          <c:order val="1"/>
          <c:tx>
            <c:strRef>
              <c:f>Sheet1!$C$1</c:f>
              <c:strCache>
                <c:ptCount val="1"/>
                <c:pt idx="0">
                  <c:v>p95 [ms]</c:v>
                </c:pt>
              </c:strCache>
            </c:strRef>
          </c:tx>
          <c:spPr>
            <a:solidFill>
              <a:srgbClr val="1C8C84"/>
            </a:solidFill>
            <a:effectLst/>
          </c:spPr>
          <c:invertIfNegative val="0"/>
          <c:dLbls>
            <c:numFmt formatCode="0.00" sourceLinked="0"/>
            <c:spPr>
              <a:noFill/>
              <a:ln>
                <a:noFill/>
              </a:ln>
              <a:effectLst/>
            </c:spPr>
            <c:txPr>
              <a:bodyPr/>
              <a:lstStyle/>
              <a:p>
                <a:pPr>
                  <a:defRPr sz="800" b="0" i="0" u="none" strike="noStrike">
                    <a:solidFill>
                      <a:srgbClr val="1F2937"/>
                    </a:solidFill>
                    <a:latin typeface="Arial"/>
                  </a:defRPr>
                </a:pPr>
                <a:endParaRPr lang="en-A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nova narudžbina</c:v>
                </c:pt>
                <c:pt idx="1">
                  <c:v>status narudžbine</c:v>
                </c:pt>
                <c:pt idx="2">
                  <c:v>isporuka</c:v>
                </c:pt>
              </c:strCache>
            </c:strRef>
          </c:cat>
          <c:val>
            <c:numRef>
              <c:f>Sheet1!$C$2:$C$4</c:f>
              <c:numCache>
                <c:formatCode>General</c:formatCode>
                <c:ptCount val="3"/>
                <c:pt idx="0">
                  <c:v>1.5</c:v>
                </c:pt>
                <c:pt idx="1">
                  <c:v>0.45</c:v>
                </c:pt>
                <c:pt idx="2">
                  <c:v>0.26</c:v>
                </c:pt>
              </c:numCache>
            </c:numRef>
          </c:val>
          <c:extLst>
            <c:ext xmlns:c16="http://schemas.microsoft.com/office/drawing/2014/chart" uri="{C3380CC4-5D6E-409C-BE32-E72D297353CC}">
              <c16:uniqueId val="{00000001-86CA-4AEA-A57B-926D051136A3}"/>
            </c:ext>
          </c:extLst>
        </c:ser>
        <c:ser>
          <c:idx val="2"/>
          <c:order val="2"/>
          <c:tx>
            <c:strRef>
              <c:f>Sheet1!$D$1</c:f>
              <c:strCache>
                <c:ptCount val="1"/>
                <c:pt idx="0">
                  <c:v>p99 [ms]</c:v>
                </c:pt>
              </c:strCache>
            </c:strRef>
          </c:tx>
          <c:spPr>
            <a:solidFill>
              <a:srgbClr val="B07AA1"/>
            </a:solidFill>
            <a:effectLst/>
          </c:spPr>
          <c:invertIfNegative val="0"/>
          <c:dLbls>
            <c:numFmt formatCode="0.00" sourceLinked="0"/>
            <c:spPr>
              <a:noFill/>
              <a:ln>
                <a:noFill/>
              </a:ln>
              <a:effectLst/>
            </c:spPr>
            <c:txPr>
              <a:bodyPr/>
              <a:lstStyle/>
              <a:p>
                <a:pPr>
                  <a:defRPr sz="800" b="0" i="0" u="none" strike="noStrike">
                    <a:solidFill>
                      <a:srgbClr val="1F2937"/>
                    </a:solidFill>
                    <a:latin typeface="Arial"/>
                  </a:defRPr>
                </a:pPr>
                <a:endParaRPr lang="en-A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nova narudžbina</c:v>
                </c:pt>
                <c:pt idx="1">
                  <c:v>status narudžbine</c:v>
                </c:pt>
                <c:pt idx="2">
                  <c:v>isporuka</c:v>
                </c:pt>
              </c:strCache>
            </c:strRef>
          </c:cat>
          <c:val>
            <c:numRef>
              <c:f>Sheet1!$D$2:$D$4</c:f>
              <c:numCache>
                <c:formatCode>General</c:formatCode>
                <c:ptCount val="3"/>
                <c:pt idx="0">
                  <c:v>1.74</c:v>
                </c:pt>
                <c:pt idx="1">
                  <c:v>0.52</c:v>
                </c:pt>
                <c:pt idx="2">
                  <c:v>0.31</c:v>
                </c:pt>
              </c:numCache>
            </c:numRef>
          </c:val>
          <c:extLst>
            <c:ext xmlns:c16="http://schemas.microsoft.com/office/drawing/2014/chart" uri="{C3380CC4-5D6E-409C-BE32-E72D297353CC}">
              <c16:uniqueId val="{00000002-86CA-4AEA-A57B-926D051136A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937"/>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4A1D3F"/>
                </a:solidFill>
                <a:latin typeface="Calibri"/>
              </a:defRPr>
            </a:pPr>
            <a:r>
              <a:rPr lang="pl-PL" sz="1200" b="0" i="0" u="none" strike="noStrike">
                <a:solidFill>
                  <a:srgbClr val="4A1D3F"/>
                </a:solidFill>
                <a:latin typeface="Calibri"/>
              </a:rPr>
              <a:t>Prihod po regionu, kategoriji i godini [ms]</a:t>
            </a:r>
          </a:p>
        </c:rich>
      </c:tx>
      <c:overlay val="0"/>
    </c:title>
    <c:autoTitleDeleted val="0"/>
    <c:plotArea>
      <c:layout/>
      <c:barChart>
        <c:barDir val="col"/>
        <c:grouping val="clustered"/>
        <c:varyColors val="0"/>
        <c:ser>
          <c:idx val="0"/>
          <c:order val="0"/>
          <c:tx>
            <c:strRef>
              <c:f>Sheet1!$B$1</c:f>
              <c:strCache>
                <c:ptCount val="1"/>
                <c:pt idx="0">
                  <c:v>vreme [ms]</c:v>
                </c:pt>
              </c:strCache>
            </c:strRef>
          </c:tx>
          <c:spPr>
            <a:solidFill>
              <a:srgbClr val="4A1D3F"/>
            </a:solidFill>
            <a:effectLst/>
          </c:spPr>
          <c:invertIfNegative val="0"/>
          <c:dLbls>
            <c:numFmt formatCode="0.0" sourceLinked="0"/>
            <c:spPr>
              <a:noFill/>
              <a:ln>
                <a:noFill/>
              </a:ln>
              <a:effectLst/>
            </c:spPr>
            <c:txPr>
              <a:bodyPr/>
              <a:lstStyle/>
              <a:p>
                <a:pPr>
                  <a:defRPr sz="1000" b="0" i="0" u="none" strike="noStrike">
                    <a:solidFill>
                      <a:srgbClr val="1F2937"/>
                    </a:solidFill>
                    <a:latin typeface="Arial"/>
                  </a:defRPr>
                </a:pPr>
                <a:endParaRPr lang="en-A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3NF (OLTP šema)</c:v>
                </c:pt>
                <c:pt idx="1">
                  <c:v>zvezdasta šema</c:v>
                </c:pt>
                <c:pt idx="2">
                  <c:v>mat. pogled</c:v>
                </c:pt>
              </c:strCache>
            </c:strRef>
          </c:cat>
          <c:val>
            <c:numRef>
              <c:f>Sheet1!$B$2:$B$4</c:f>
              <c:numCache>
                <c:formatCode>General</c:formatCode>
                <c:ptCount val="3"/>
                <c:pt idx="0">
                  <c:v>340.5</c:v>
                </c:pt>
                <c:pt idx="1">
                  <c:v>86.4</c:v>
                </c:pt>
                <c:pt idx="2">
                  <c:v>0.4</c:v>
                </c:pt>
              </c:numCache>
            </c:numRef>
          </c:val>
          <c:extLst>
            <c:ext xmlns:c16="http://schemas.microsoft.com/office/drawing/2014/chart" uri="{C3380CC4-5D6E-409C-BE32-E72D297353CC}">
              <c16:uniqueId val="{00000000-A9D5-40D9-9352-A5937CC42451}"/>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4745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Dobar dan. Tema moje prezentacije su OLTP i OLAP sistemi – dva suštinski različita načina korišćenja podataka. Pokazaću kako su te razlike izmerene na jednom sistemu, PostgreSQL-u, i šta iz toga sledi za projektovanje baza podataka.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Operativni sistemi – prodavnice, banke, rezervacije – obrađuju veliki broj kratkih transakcija: kreiranje narudžbine, uplatu, promenu statusa. To je OLTP obrada.
Analitički sistemi iz istih podataka odgovaraju na pitanja poput „kako se kretala prodaja po regionima i kategorijama u poslednje tri godine“. To je OLAP obrada. Ova dva tipa obrade postavljaju suprotne zahteve, pa se u praksi najčešće razdvajaju.
Cilj rada je da se razlike izmere na istom sistemu: performanse transakcija, obrasci pristupa, ubrzanje koje daje skladište podataka, uticaj analitike na transakcije i kašnjenje podataka u skladištu. Obe šeme su namerno na istom serveru, kako bi se na istim podacima i istom hardveru mogao izmeriti i njihov međusobni uticaj.</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OLTP transakcije moraju da imaju ACID svojstva: da se izvrše cele ili nikako, da poštuju pravila integriteta, da ne vide tuđe nepotvrđene izmene i da potvrđene promene prežive pad sistema.
PostgreSQL izolaciju ostvaruje viševerzijskom kontrolom, pa čitaoci ne blokiraju pisce. Kada dve transakcije menjaju isti red, na primer zalihu proizvoda, red se zaključava naredbom SELECT FOR UPDATE, a zaključavanje u fiksnom redosledu sprečava uzajamno blokiranje.
OLTP šema je normalizovana, u trećoj normalnoj formi, kao na dijagramu. To je idealno za male izmene, ali analitički upit po regionu i kategoriji mora da spoji šest tabela: od stavke do narudžbine, kupca, grada i regiona, i od stavke do proizvoda i kategorije.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 analitiku se podaci prenose u skladište sa zvezdastom šemom: u centru je tabela činjenica sa merama, na primer prihodom, a oko nje dimenzije – datum, kupac i proizvod. Dimenzije su denormalizovane, pa isto pitanje zahteva samo tri spajanja.
Podaci se u skladište prenose ETL procesom; posle prvog punog učitavanja prenose se samo nove stavke, određene takozvanim watermark-om.
OLAP operacije – roll-up, drill-down, slice i dice – u SQL-u se izražavaju operatorima ROLLUP i CUBE i prozorskim funkcijama. Analitiku dodatno ubrzavaju materijalizovani pogled sa unapred izračunatim zbirovima i BRIN indeks, koji je vrlo mali.
Dimenzije koriste surogat ključeve, nezavisne od ključeva izvornog sistema, a dimenzija datuma sadrži hijerarhiju godina, kvartal i mesec, koja omogućava spuštanje na detaljniji nivo.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Eksperiment ima četiri dela. Prvo se gradi normalizovana baza sa dvesta hiljada istorijskih narudžbina, a četiri konkurentna klijenta petnaest sekundi izvršavaju miks transakcija: nove narudžbine, čitanje statusa i isporuke. Posle toga se proverava pet invarijanti ACID svojstava.
Zatim se porede planovi izvršavanja OLTP upita i analitičkog upita. U trećem delu ETL puni skladište, meri se sedam OLAP upita i isto poslovno pitanje nad tri modela. Na kraju se meri koliko analitika usporava transakcije i koliko skladište kasni za bazom.
Za OLTP se meri propusna moć u transakcijama u sekundi i latencija u percentilima – medijana i 95. i 99. percentil – jer za korisnike nije važan samo prosek, već i najsporije transakcije.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Sve radi jedna Python skripta od 1191 linije, koja u istoj bazi koristi dve šeme: transakcionu i skladište. Podaci imaju realne osobine – trend rasta, sezonalnost i neravnomernu popularnost proizvoda.
Transakcija nove narudžbine zaključava proizvode sortirane po identifikatoru i, ako zaliha nije dovoljna, poništava celu narudžbinu. Klijenti su paralelne niti, a iz latencija se računaju percentili.
Skladište se puni ETL procesom, a isto poslovno pitanje napisano je tri puta: nad normalizovanom šemom, nad zvezdastom šemom i nad materijalizovanim pogledom. Skripta proverava da su sva tri rezultata identična, pa poređenje vremena ima smisla.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Četiri klijenta su za petnaest sekundi potvrdila više od devedeset hiljada transakcija, odnosno 6.035 transakcija u sekundi. Medijana latencije je 0,39 milisekundi, a čak i najsporijih jedan posto transakcija završava se za manje od dve milisekunde.
Grafik pokazuje da latencija raste sa brojem naredbi: nova narudžbina je najsporija, jer ima najviše naredbi i zaključavanja.
Svih pet ACID provera je prošlo: ukupna zaliha smanjena je tačno za prodatu količinu, nijedna zaliha nije negativna i nije bilo deadlock-a. Oko osam hiljada narudžbina je poništeno zbog nedovoljne zalihe – to su očekivani, kontrolisani ROLLBACK-ovi.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Planovi izvršavanja pokazuju razliku u samom načinu pristupa. OLTP upiti čitaju jedan do četrnaest redova preko indeksa i traju stotinke milisekunde.
Analitički upit nad istom šemom pročitao je više od devetsto hiljada redova i skoro devet hiljada blokova, sekvencijalnim skeniranjem, za više od četiristo milisekundi. To je oko 450 hiljada puta više redova i dvadeset hiljada puta duže vreme – dva suprotna profila opterećenja.
Broj pročitanih redova i blokova je dobra mera ove razlike, jer ne zavisi od brzine konkretnog računara, već samo od toga kako upit pristupa podacima.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Isto poslovno pitanje – prihod po regionu, kategoriji i godini – nad normalizovanom šemom traje 340 milisekundi, nad zvezdastom šemom 86 milisekundi, odnosno 3,9 puta brže, a nad materijalizovanim pogledom manje od milisekunde, oko osamsto puta brže. Sva tri upita vratila su identičan rezultat, što potvrđuje ispravnost ETL-a.
Sedam OLAP upita, od ROLLUP-a i CUBE-a do prozorskih funkcija, trajalo je od 31 do 275 milisekundi. BRIN indeks nad datumom zauzima 24 kilobajta, a običan B-tree indeks četiri megabajta. Cena materijalizovanog pogleda je osvežavanje posle svakog učitavanja i manja fleksibilnost, jer upit na nivou dana ili pojedinačnog proizvoda ne može da ga koristi.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Kada su dve analitičke niti radile nad istim tabelama, propusna moć transakcija pala je za 21 procenat, a latencija u 95. percentilu porasla je 1,2 puta. Analitički upit troši procesor, memoriju i keš koji su potrebni transakcijama.
Razdvajanje sistema ima svoju cenu. Pre inkrementalnog ETL-a skladište je sadržalo samo 42 procenta današnjih narudžbina. Inkrementalno učitavanje od 125 hiljada redova trajalo je 1,26 sekundi, i posle njega su brojevi u oba sistema identični. Kašnjenje je, dakle, jednako intervalu između dva učitavanja, pa se učestalost ETL-a bira prema poslovnoj potrebi. Watermark po identifikatoru je pojednostavljenje; u produkciji se koristi čitanje dnevnika izmena, takozvani CDC.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Rezultati potvrđuju teoriju. PostgreSQL uz pravilno napisane transakcije čuva konzistentnost i pri konkurentnom radu, dimenzioni model i pre-agregacija ubrzavaju analitiku, a analitika na transakcionoj bazi usporava transakcije. Zato se sistemi razdvajaju, a savremeni HTAP sistemi pokušavaju tu granicu da smanje.
Ograničenja su to što su obe šeme i klijenti na istom računaru, što narudžbine iz testova utiču na analitiku tekućeg meseca i što PostgreSQL koristi redno skladištenje, pa rezultati ne predstavljaju specijalizovane analitičke baze.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zaključim. U radu su na jednom sistemu izmerene razlike između OLTP i OLAP obrade. Skripta gradi normalizovanu bazu, simulira konkurentne klijente i proverava ACID svojstva, puni skladište ETL procesom, izvršava OLAP upite i meri međusobni uticaj opterećenja.
OLTP transakcija čita dva reda i traje manje od milisekunde, uz šest hiljada transakcija u sekundi, dok analitički upit čita stotine hiljada redova. Zvezdasta šema ubrzava analitiku 3,9 puta, a materijalizovani pogled oko osamsto puta. Analitika na transakcionoj bazi smanjuje propusnu moć za 21 procenat, a cena razdvajanja je kašnjenje podataka, koje inkrementalni ETL svodi na interval između učitavanja.
Hvala na pažnji. Rado ću odgovoriti na pitanja.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D3F"/>
        </a:solidFill>
        <a:effectLst/>
      </p:bgPr>
    </p:bg>
    <p:spTree>
      <p:nvGrpSpPr>
        <p:cNvPr id="1" name=""/>
        <p:cNvGrpSpPr/>
        <p:nvPr/>
      </p:nvGrpSpPr>
      <p:grpSpPr>
        <a:xfrm>
          <a:off x="0" y="0"/>
          <a:ext cx="0" cy="0"/>
          <a:chOff x="0" y="0"/>
          <a:chExt cx="0" cy="0"/>
        </a:xfrm>
      </p:grpSpPr>
      <p:sp>
        <p:nvSpPr>
          <p:cNvPr id="2" name="Shape 0"/>
          <p:cNvSpPr/>
          <p:nvPr/>
        </p:nvSpPr>
        <p:spPr>
          <a:xfrm>
            <a:off x="6949440" y="457200"/>
            <a:ext cx="1737360" cy="1737360"/>
          </a:xfrm>
          <a:prstGeom prst="ellipse">
            <a:avLst/>
          </a:prstGeom>
          <a:solidFill>
            <a:srgbClr val="1C8C84">
              <a:alpha val="85000"/>
            </a:srgbClr>
          </a:solidFill>
          <a:ln w="12700">
            <a:solidFill>
              <a:srgbClr val="1C8C84">
                <a:alpha val="85000"/>
              </a:srgbClr>
            </a:solidFill>
            <a:prstDash val="solid"/>
          </a:ln>
        </p:spPr>
        <p:txBody>
          <a:bodyPr/>
          <a:lstStyle/>
          <a:p>
            <a:endParaRPr lang="en-AT"/>
          </a:p>
        </p:txBody>
      </p:sp>
      <p:sp>
        <p:nvSpPr>
          <p:cNvPr id="3" name="Shape 1"/>
          <p:cNvSpPr/>
          <p:nvPr/>
        </p:nvSpPr>
        <p:spPr>
          <a:xfrm>
            <a:off x="7955280" y="1737360"/>
            <a:ext cx="822960" cy="822960"/>
          </a:xfrm>
          <a:prstGeom prst="ellipse">
            <a:avLst/>
          </a:prstGeom>
          <a:solidFill>
            <a:srgbClr val="FFFFFF">
              <a:alpha val="20000"/>
            </a:srgbClr>
          </a:solidFill>
          <a:ln w="12700">
            <a:solidFill>
              <a:srgbClr val="FFFFFF">
                <a:alpha val="20000"/>
              </a:srgbClr>
            </a:solidFill>
            <a:prstDash val="solid"/>
          </a:ln>
        </p:spPr>
        <p:txBody>
          <a:bodyPr/>
          <a:lstStyle/>
          <a:p>
            <a:endParaRPr lang="en-AT"/>
          </a:p>
        </p:txBody>
      </p:sp>
      <p:sp>
        <p:nvSpPr>
          <p:cNvPr id="4" name="Text 2"/>
          <p:cNvSpPr txBox="1"/>
          <p:nvPr/>
        </p:nvSpPr>
        <p:spPr>
          <a:xfrm>
            <a:off x="640080" y="822960"/>
            <a:ext cx="5943600" cy="320040"/>
          </a:xfrm>
          <a:prstGeom prst="rect">
            <a:avLst/>
          </a:prstGeom>
          <a:noFill/>
          <a:ln/>
        </p:spPr>
        <p:txBody>
          <a:bodyPr wrap="square" lIns="0" tIns="0" rIns="0" bIns="0" rtlCol="0" anchor="ctr"/>
          <a:lstStyle/>
          <a:p>
            <a:pPr marL="0" indent="0">
              <a:buNone/>
            </a:pPr>
            <a:r>
              <a:rPr lang="en-US" sz="1300" b="1" kern="0" spc="300" dirty="0">
                <a:solidFill>
                  <a:srgbClr val="1C8C84"/>
                </a:solidFill>
                <a:latin typeface="Calibri" pitchFamily="34" charset="0"/>
                <a:ea typeface="Calibri" pitchFamily="34" charset="-122"/>
                <a:cs typeface="Calibri" pitchFamily="34" charset="-120"/>
              </a:rPr>
              <a:t>SEMINARSKI RAD</a:t>
            </a:r>
            <a:endParaRPr lang="en-US" sz="1300" dirty="0"/>
          </a:p>
        </p:txBody>
      </p:sp>
      <p:sp>
        <p:nvSpPr>
          <p:cNvPr id="5" name="Text 3"/>
          <p:cNvSpPr txBox="1"/>
          <p:nvPr/>
        </p:nvSpPr>
        <p:spPr>
          <a:xfrm>
            <a:off x="640080" y="1234440"/>
            <a:ext cx="6217920" cy="173736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OLTP i OLAP sistemi</a:t>
            </a:r>
            <a:endParaRPr lang="en-US" sz="3200" dirty="0"/>
          </a:p>
        </p:txBody>
      </p:sp>
      <p:sp>
        <p:nvSpPr>
          <p:cNvPr id="6" name="Text 4"/>
          <p:cNvSpPr txBox="1"/>
          <p:nvPr/>
        </p:nvSpPr>
        <p:spPr>
          <a:xfrm>
            <a:off x="640080" y="2971800"/>
            <a:ext cx="6217920" cy="457200"/>
          </a:xfrm>
          <a:prstGeom prst="rect">
            <a:avLst/>
          </a:prstGeom>
          <a:noFill/>
          <a:ln/>
        </p:spPr>
        <p:txBody>
          <a:bodyPr wrap="square" lIns="0" tIns="0" rIns="0" bIns="0" rtlCol="0" anchor="ctr"/>
          <a:lstStyle/>
          <a:p>
            <a:pPr marL="0" indent="0">
              <a:buNone/>
            </a:pPr>
            <a:r>
              <a:rPr lang="en-US" sz="1600" dirty="0">
                <a:solidFill>
                  <a:srgbClr val="DDE3EE"/>
                </a:solidFill>
                <a:latin typeface="Calibri" pitchFamily="34" charset="0"/>
                <a:ea typeface="Calibri" pitchFamily="34" charset="-122"/>
                <a:cs typeface="Calibri" pitchFamily="34" charset="-120"/>
              </a:rPr>
              <a:t>Transakciona obrada, skladište podataka i analitika na PostgreSQL-u</a:t>
            </a:r>
            <a:endParaRPr lang="en-US" sz="1600" dirty="0"/>
          </a:p>
        </p:txBody>
      </p:sp>
      <p:sp>
        <p:nvSpPr>
          <p:cNvPr id="7" name="Text 5"/>
          <p:cNvSpPr txBox="1"/>
          <p:nvPr/>
        </p:nvSpPr>
        <p:spPr>
          <a:xfrm>
            <a:off x="640080" y="3886200"/>
            <a:ext cx="6217920" cy="822960"/>
          </a:xfrm>
          <a:prstGeom prst="rect">
            <a:avLst/>
          </a:prstGeom>
          <a:noFill/>
          <a:ln/>
        </p:spPr>
        <p:txBody>
          <a:bodyPr wrap="square" lIns="0" tIns="0" rIns="0" bIns="0" rtlCol="0" anchor="t"/>
          <a:lstStyle/>
          <a:p>
            <a:pPr marL="0" indent="0">
              <a:buNone/>
            </a:pPr>
            <a:r>
              <a:rPr lang="en-US" sz="1200" dirty="0">
                <a:solidFill>
                  <a:srgbClr val="C7CFDD"/>
                </a:solidFill>
                <a:latin typeface="Calibri" pitchFamily="34" charset="0"/>
                <a:ea typeface="Calibri" pitchFamily="34" charset="-122"/>
                <a:cs typeface="Calibri" pitchFamily="34" charset="-120"/>
              </a:rPr>
              <a:t>Katarina Milojković · 2083/25</a:t>
            </a:r>
          </a:p>
          <a:p>
            <a:pPr marL="0" indent="0">
              <a:buNone/>
            </a:pPr>
            <a:r>
              <a:rPr lang="en-US" sz="1200" dirty="0" err="1">
                <a:solidFill>
                  <a:srgbClr val="C7CFDD"/>
                </a:solidFill>
                <a:latin typeface="Calibri" pitchFamily="34" charset="0"/>
                <a:ea typeface="Calibri" pitchFamily="34" charset="-122"/>
                <a:cs typeface="Calibri" pitchFamily="34" charset="-120"/>
              </a:rPr>
              <a:t>Sistemi</a:t>
            </a:r>
            <a:r>
              <a:rPr lang="en-US" sz="1200" dirty="0">
                <a:solidFill>
                  <a:srgbClr val="C7CFDD"/>
                </a:solidFill>
                <a:latin typeface="Calibri" pitchFamily="34" charset="0"/>
                <a:ea typeface="Calibri" pitchFamily="34" charset="-122"/>
                <a:cs typeface="Calibri" pitchFamily="34" charset="-120"/>
              </a:rPr>
              <a:t> za </a:t>
            </a:r>
            <a:r>
              <a:rPr lang="en-US" sz="1200" dirty="0" err="1">
                <a:solidFill>
                  <a:srgbClr val="C7CFDD"/>
                </a:solidFill>
                <a:latin typeface="Calibri" pitchFamily="34" charset="0"/>
                <a:ea typeface="Calibri" pitchFamily="34" charset="-122"/>
                <a:cs typeface="Calibri" pitchFamily="34" charset="-120"/>
              </a:rPr>
              <a:t>upravljanje</a:t>
            </a:r>
            <a:r>
              <a:rPr lang="en-US" sz="1200" dirty="0">
                <a:solidFill>
                  <a:srgbClr val="C7CFDD"/>
                </a:solidFill>
                <a:latin typeface="Calibri" pitchFamily="34" charset="0"/>
                <a:ea typeface="Calibri" pitchFamily="34" charset="-122"/>
                <a:cs typeface="Calibri" pitchFamily="34" charset="-120"/>
              </a:rPr>
              <a:t> </a:t>
            </a:r>
            <a:r>
              <a:rPr lang="en-US" sz="1200" dirty="0" err="1">
                <a:solidFill>
                  <a:srgbClr val="C7CFDD"/>
                </a:solidFill>
                <a:latin typeface="Calibri" pitchFamily="34" charset="0"/>
                <a:ea typeface="Calibri" pitchFamily="34" charset="-122"/>
                <a:cs typeface="Calibri" pitchFamily="34" charset="-120"/>
              </a:rPr>
              <a:t>bazama</a:t>
            </a:r>
            <a:r>
              <a:rPr lang="en-US" sz="1200" dirty="0">
                <a:solidFill>
                  <a:srgbClr val="C7CFDD"/>
                </a:solidFill>
                <a:latin typeface="Calibri" pitchFamily="34" charset="0"/>
                <a:ea typeface="Calibri" pitchFamily="34" charset="-122"/>
                <a:cs typeface="Calibri" pitchFamily="34" charset="-120"/>
              </a:rPr>
              <a:t> </a:t>
            </a:r>
            <a:r>
              <a:rPr lang="en-US" sz="1200" dirty="0" err="1">
                <a:solidFill>
                  <a:srgbClr val="C7CFDD"/>
                </a:solidFill>
                <a:latin typeface="Calibri" pitchFamily="34" charset="0"/>
                <a:ea typeface="Calibri" pitchFamily="34" charset="-122"/>
                <a:cs typeface="Calibri" pitchFamily="34" charset="-120"/>
              </a:rPr>
              <a:t>podataka</a:t>
            </a:r>
            <a:r>
              <a:rPr lang="en-US" sz="1200" dirty="0">
                <a:solidFill>
                  <a:srgbClr val="C7CFDD"/>
                </a:solidFill>
                <a:latin typeface="Calibri" pitchFamily="34" charset="0"/>
                <a:ea typeface="Calibri" pitchFamily="34" charset="-122"/>
                <a:cs typeface="Calibri" pitchFamily="34" charset="-120"/>
              </a:rPr>
              <a:t> · Mentor: Aleksandar S. </a:t>
            </a:r>
            <a:r>
              <a:rPr lang="en-US" sz="1200" dirty="0" err="1">
                <a:solidFill>
                  <a:srgbClr val="C7CFDD"/>
                </a:solidFill>
                <a:latin typeface="Calibri" pitchFamily="34" charset="0"/>
                <a:ea typeface="Calibri" pitchFamily="34" charset="-122"/>
                <a:cs typeface="Calibri" pitchFamily="34" charset="-120"/>
              </a:rPr>
              <a:t>Stanimirović</a:t>
            </a:r>
            <a:endParaRPr lang="en-US" sz="1200" dirty="0">
              <a:solidFill>
                <a:srgbClr val="C7CFDD"/>
              </a:solidFill>
              <a:latin typeface="Calibri" pitchFamily="34" charset="0"/>
              <a:ea typeface="Calibri" pitchFamily="34" charset="-122"/>
              <a:cs typeface="Calibri"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4A1D3F"/>
                </a:solidFill>
                <a:latin typeface="Cambria" pitchFamily="34" charset="0"/>
                <a:ea typeface="Cambria" pitchFamily="34" charset="-122"/>
                <a:cs typeface="Cambria" pitchFamily="34" charset="-120"/>
              </a:rPr>
              <a:t>Problem i cilj rada</a:t>
            </a:r>
            <a:endParaRPr lang="en-US" sz="2600" dirty="0"/>
          </a:p>
        </p:txBody>
      </p:sp>
      <p:sp>
        <p:nvSpPr>
          <p:cNvPr id="3" name="Shape 1"/>
          <p:cNvSpPr/>
          <p:nvPr/>
        </p:nvSpPr>
        <p:spPr>
          <a:xfrm>
            <a:off x="457200" y="1234440"/>
            <a:ext cx="2560320" cy="3200400"/>
          </a:xfrm>
          <a:prstGeom prst="roundRect">
            <a:avLst>
              <a:gd name="adj" fmla="val 2857"/>
            </a:avLst>
          </a:prstGeom>
          <a:solidFill>
            <a:srgbClr val="F4EEF2"/>
          </a:solidFill>
          <a:ln w="12700">
            <a:solidFill>
              <a:srgbClr val="F4EEF2"/>
            </a:solidFill>
            <a:prstDash val="solid"/>
          </a:ln>
        </p:spPr>
        <p:txBody>
          <a:bodyPr/>
          <a:lstStyle/>
          <a:p>
            <a:endParaRPr lang="en-AT"/>
          </a:p>
        </p:txBody>
      </p:sp>
      <p:sp>
        <p:nvSpPr>
          <p:cNvPr id="4" name="Shape 2"/>
          <p:cNvSpPr/>
          <p:nvPr/>
        </p:nvSpPr>
        <p:spPr>
          <a:xfrm>
            <a:off x="731520" y="1508760"/>
            <a:ext cx="548640" cy="548640"/>
          </a:xfrm>
          <a:prstGeom prst="ellipse">
            <a:avLst/>
          </a:prstGeom>
          <a:solidFill>
            <a:srgbClr val="1C8C84"/>
          </a:solidFill>
          <a:ln w="12700">
            <a:solidFill>
              <a:srgbClr val="1C8C84"/>
            </a:solidFill>
            <a:prstDash val="solid"/>
          </a:ln>
        </p:spPr>
        <p:txBody>
          <a:bodyPr/>
          <a:lstStyle/>
          <a:p>
            <a:endParaRPr lang="en-AT"/>
          </a:p>
        </p:txBody>
      </p:sp>
      <p:sp>
        <p:nvSpPr>
          <p:cNvPr id="5" name="Text 3"/>
          <p:cNvSpPr txBox="1"/>
          <p:nvPr/>
        </p:nvSpPr>
        <p:spPr>
          <a:xfrm>
            <a:off x="731520" y="150876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731520" y="2240280"/>
            <a:ext cx="2011680" cy="2103120"/>
          </a:xfrm>
          <a:prstGeom prst="rect">
            <a:avLst/>
          </a:prstGeom>
          <a:noFill/>
          <a:ln/>
        </p:spPr>
        <p:txBody>
          <a:bodyPr wrap="square" lIns="0" tIns="0" rIns="0" bIns="0" rtlCol="0" anchor="t"/>
          <a:lstStyle/>
          <a:p>
            <a:pPr marL="0" indent="0">
              <a:spcAft>
                <a:spcPts val="400"/>
              </a:spcAft>
              <a:buNone/>
            </a:pPr>
            <a:r>
              <a:rPr lang="en-US" sz="2000" b="1" dirty="0">
                <a:solidFill>
                  <a:srgbClr val="4A1D3F"/>
                </a:solidFill>
                <a:latin typeface="Calibri" pitchFamily="34" charset="0"/>
                <a:ea typeface="Calibri" pitchFamily="34" charset="-122"/>
                <a:cs typeface="Calibri" pitchFamily="34" charset="-120"/>
              </a:rPr>
              <a:t>OLTP</a:t>
            </a:r>
            <a:endParaRPr lang="en-US" sz="2000" dirty="0"/>
          </a:p>
          <a:p>
            <a:pPr marL="0" indent="0">
              <a:buNone/>
            </a:pPr>
            <a:r>
              <a:rPr lang="en-US" sz="1500" dirty="0">
                <a:solidFill>
                  <a:srgbClr val="1F2937"/>
                </a:solidFill>
                <a:latin typeface="Calibri" pitchFamily="34" charset="0"/>
                <a:ea typeface="Calibri" pitchFamily="34" charset="-122"/>
                <a:cs typeface="Calibri" pitchFamily="34" charset="-120"/>
              </a:rPr>
              <a:t>Hiljade kratkih transakcija: narudžbina, uplata, promena statusa.</a:t>
            </a:r>
            <a:endParaRPr lang="en-US" sz="2000" dirty="0"/>
          </a:p>
        </p:txBody>
      </p:sp>
      <p:sp>
        <p:nvSpPr>
          <p:cNvPr id="7" name="Shape 5"/>
          <p:cNvSpPr/>
          <p:nvPr/>
        </p:nvSpPr>
        <p:spPr>
          <a:xfrm>
            <a:off x="3291840" y="1234440"/>
            <a:ext cx="2560320" cy="3200400"/>
          </a:xfrm>
          <a:prstGeom prst="roundRect">
            <a:avLst>
              <a:gd name="adj" fmla="val 2857"/>
            </a:avLst>
          </a:prstGeom>
          <a:solidFill>
            <a:srgbClr val="F4EEF2"/>
          </a:solidFill>
          <a:ln w="12700">
            <a:solidFill>
              <a:srgbClr val="F4EEF2"/>
            </a:solidFill>
            <a:prstDash val="solid"/>
          </a:ln>
        </p:spPr>
        <p:txBody>
          <a:bodyPr/>
          <a:lstStyle/>
          <a:p>
            <a:endParaRPr lang="en-AT"/>
          </a:p>
        </p:txBody>
      </p:sp>
      <p:sp>
        <p:nvSpPr>
          <p:cNvPr id="8" name="Shape 6"/>
          <p:cNvSpPr/>
          <p:nvPr/>
        </p:nvSpPr>
        <p:spPr>
          <a:xfrm>
            <a:off x="3566160" y="1508760"/>
            <a:ext cx="548640" cy="548640"/>
          </a:xfrm>
          <a:prstGeom prst="ellipse">
            <a:avLst/>
          </a:prstGeom>
          <a:solidFill>
            <a:srgbClr val="1C8C84"/>
          </a:solidFill>
          <a:ln w="12700">
            <a:solidFill>
              <a:srgbClr val="1C8C84"/>
            </a:solidFill>
            <a:prstDash val="solid"/>
          </a:ln>
        </p:spPr>
        <p:txBody>
          <a:bodyPr/>
          <a:lstStyle/>
          <a:p>
            <a:endParaRPr lang="en-AT"/>
          </a:p>
        </p:txBody>
      </p:sp>
      <p:sp>
        <p:nvSpPr>
          <p:cNvPr id="9" name="Text 7"/>
          <p:cNvSpPr txBox="1"/>
          <p:nvPr/>
        </p:nvSpPr>
        <p:spPr>
          <a:xfrm>
            <a:off x="3566160" y="150876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3566160" y="2240280"/>
            <a:ext cx="2011680" cy="2103120"/>
          </a:xfrm>
          <a:prstGeom prst="rect">
            <a:avLst/>
          </a:prstGeom>
          <a:noFill/>
          <a:ln/>
        </p:spPr>
        <p:txBody>
          <a:bodyPr wrap="square" lIns="0" tIns="0" rIns="0" bIns="0" rtlCol="0" anchor="t"/>
          <a:lstStyle/>
          <a:p>
            <a:pPr marL="0" indent="0">
              <a:spcAft>
                <a:spcPts val="400"/>
              </a:spcAft>
              <a:buNone/>
            </a:pPr>
            <a:r>
              <a:rPr lang="en-US" sz="2000" b="1" dirty="0">
                <a:solidFill>
                  <a:srgbClr val="4A1D3F"/>
                </a:solidFill>
                <a:latin typeface="Calibri" pitchFamily="34" charset="0"/>
                <a:ea typeface="Calibri" pitchFamily="34" charset="-122"/>
                <a:cs typeface="Calibri" pitchFamily="34" charset="-120"/>
              </a:rPr>
              <a:t>OLAP</a:t>
            </a:r>
            <a:endParaRPr lang="en-US" sz="2000" dirty="0"/>
          </a:p>
          <a:p>
            <a:pPr marL="0" indent="0">
              <a:buNone/>
            </a:pPr>
            <a:r>
              <a:rPr lang="en-US" sz="1500" dirty="0">
                <a:solidFill>
                  <a:srgbClr val="1F2937"/>
                </a:solidFill>
                <a:latin typeface="Calibri" pitchFamily="34" charset="0"/>
                <a:ea typeface="Calibri" pitchFamily="34" charset="-122"/>
                <a:cs typeface="Calibri" pitchFamily="34" charset="-120"/>
              </a:rPr>
              <a:t>Složeni upiti nad istorijom: trendovi po regionima, kategorijama i godinama.</a:t>
            </a:r>
            <a:endParaRPr lang="en-US" sz="2000" dirty="0"/>
          </a:p>
        </p:txBody>
      </p:sp>
      <p:sp>
        <p:nvSpPr>
          <p:cNvPr id="11" name="Shape 9"/>
          <p:cNvSpPr/>
          <p:nvPr/>
        </p:nvSpPr>
        <p:spPr>
          <a:xfrm>
            <a:off x="6126480" y="1234440"/>
            <a:ext cx="2560320" cy="3200400"/>
          </a:xfrm>
          <a:prstGeom prst="roundRect">
            <a:avLst>
              <a:gd name="adj" fmla="val 2857"/>
            </a:avLst>
          </a:prstGeom>
          <a:solidFill>
            <a:srgbClr val="F4EEF2"/>
          </a:solidFill>
          <a:ln w="12700">
            <a:solidFill>
              <a:srgbClr val="F4EEF2"/>
            </a:solidFill>
            <a:prstDash val="solid"/>
          </a:ln>
        </p:spPr>
        <p:txBody>
          <a:bodyPr/>
          <a:lstStyle/>
          <a:p>
            <a:endParaRPr lang="en-AT"/>
          </a:p>
        </p:txBody>
      </p:sp>
      <p:sp>
        <p:nvSpPr>
          <p:cNvPr id="12" name="Shape 10"/>
          <p:cNvSpPr/>
          <p:nvPr/>
        </p:nvSpPr>
        <p:spPr>
          <a:xfrm>
            <a:off x="6400800" y="1508760"/>
            <a:ext cx="548640" cy="548640"/>
          </a:xfrm>
          <a:prstGeom prst="ellipse">
            <a:avLst/>
          </a:prstGeom>
          <a:solidFill>
            <a:srgbClr val="1C8C84"/>
          </a:solidFill>
          <a:ln w="12700">
            <a:solidFill>
              <a:srgbClr val="1C8C84"/>
            </a:solidFill>
            <a:prstDash val="solid"/>
          </a:ln>
        </p:spPr>
        <p:txBody>
          <a:bodyPr/>
          <a:lstStyle/>
          <a:p>
            <a:endParaRPr lang="en-AT"/>
          </a:p>
        </p:txBody>
      </p:sp>
      <p:sp>
        <p:nvSpPr>
          <p:cNvPr id="13" name="Text 11"/>
          <p:cNvSpPr txBox="1"/>
          <p:nvPr/>
        </p:nvSpPr>
        <p:spPr>
          <a:xfrm>
            <a:off x="6400800" y="150876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6400800" y="2240280"/>
            <a:ext cx="2011680" cy="2103120"/>
          </a:xfrm>
          <a:prstGeom prst="rect">
            <a:avLst/>
          </a:prstGeom>
          <a:noFill/>
          <a:ln/>
        </p:spPr>
        <p:txBody>
          <a:bodyPr wrap="square" lIns="0" tIns="0" rIns="0" bIns="0" rtlCol="0" anchor="t"/>
          <a:lstStyle/>
          <a:p>
            <a:pPr marL="0" indent="0">
              <a:spcAft>
                <a:spcPts val="400"/>
              </a:spcAft>
              <a:buNone/>
            </a:pPr>
            <a:r>
              <a:rPr lang="en-US" sz="2000" b="1" dirty="0">
                <a:solidFill>
                  <a:srgbClr val="4A1D3F"/>
                </a:solidFill>
                <a:latin typeface="Calibri" pitchFamily="34" charset="0"/>
                <a:ea typeface="Calibri" pitchFamily="34" charset="-122"/>
                <a:cs typeface="Calibri" pitchFamily="34" charset="-120"/>
              </a:rPr>
              <a:t>Cilj</a:t>
            </a:r>
            <a:endParaRPr lang="en-US" sz="2000" dirty="0"/>
          </a:p>
          <a:p>
            <a:pPr marL="0" indent="0">
              <a:buNone/>
            </a:pPr>
            <a:r>
              <a:rPr lang="en-US" sz="1500" dirty="0">
                <a:solidFill>
                  <a:srgbClr val="1F2937"/>
                </a:solidFill>
                <a:latin typeface="Calibri" pitchFamily="34" charset="0"/>
                <a:ea typeface="Calibri" pitchFamily="34" charset="-122"/>
                <a:cs typeface="Calibri" pitchFamily="34" charset="-120"/>
              </a:rPr>
              <a:t>Izmeriti razlike, uticaj analitike na transakcije i cenu razdvajanja sistema.</a:t>
            </a:r>
            <a:endParaRPr lang="en-US" sz="2000" dirty="0"/>
          </a:p>
        </p:txBody>
      </p:sp>
      <p:sp>
        <p:nvSpPr>
          <p:cNvPr id="15" name="Text 1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4A1D3F"/>
                </a:solidFill>
                <a:latin typeface="Cambria" pitchFamily="34" charset="0"/>
                <a:ea typeface="Cambria" pitchFamily="34" charset="-122"/>
                <a:cs typeface="Cambria" pitchFamily="34" charset="-120"/>
              </a:rPr>
              <a:t>OLTP: transakcije, ACID i normalizacija</a:t>
            </a:r>
            <a:endParaRPr lang="en-US" sz="2600" dirty="0"/>
          </a:p>
        </p:txBody>
      </p:sp>
      <p:pic>
        <p:nvPicPr>
          <p:cNvPr id="3" name="Image 0" descr="/tmp/claude-0/-home-user-DMS/301aa003-dcc0-59ff-8316-a4c89c795fe8/scratchpad/figs/sem3/dijagram_3nf.png"/>
          <p:cNvPicPr>
            <a:picLocks noChangeAspect="1"/>
          </p:cNvPicPr>
          <p:nvPr/>
        </p:nvPicPr>
        <p:blipFill>
          <a:blip r:embed="rId3"/>
          <a:stretch>
            <a:fillRect/>
          </a:stretch>
        </p:blipFill>
        <p:spPr>
          <a:xfrm>
            <a:off x="731520" y="1024128"/>
            <a:ext cx="7680960" cy="2611526"/>
          </a:xfrm>
          <a:prstGeom prst="rect">
            <a:avLst/>
          </a:prstGeom>
        </p:spPr>
      </p:pic>
      <p:sp>
        <p:nvSpPr>
          <p:cNvPr id="4" name="Text 1"/>
          <p:cNvSpPr txBox="1"/>
          <p:nvPr/>
        </p:nvSpPr>
        <p:spPr>
          <a:xfrm>
            <a:off x="548640" y="3754526"/>
            <a:ext cx="3931920" cy="1091794"/>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ACID: atomičnost, konzistentnost, izolacija, trajnost</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MVCC: čitaoci i pisci ne blokiraju jedni druge</a:t>
            </a:r>
            <a:endParaRPr lang="en-US" sz="1400" dirty="0"/>
          </a:p>
        </p:txBody>
      </p:sp>
      <p:sp>
        <p:nvSpPr>
          <p:cNvPr id="5" name="Text 2"/>
          <p:cNvSpPr txBox="1"/>
          <p:nvPr/>
        </p:nvSpPr>
        <p:spPr>
          <a:xfrm>
            <a:off x="4754880" y="3754526"/>
            <a:ext cx="3931920" cy="1091794"/>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SELECT … FOR UPDATE i fiksni redosled – bez deadlock-a</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3NF: podatak na jednom mestu; analitika = 6 spajanja</a:t>
            </a:r>
            <a:endParaRPr lang="en-US" sz="1400" dirty="0"/>
          </a:p>
        </p:txBody>
      </p:sp>
      <p:sp>
        <p:nvSpPr>
          <p:cNvPr id="6"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4A1D3F"/>
                </a:solidFill>
                <a:latin typeface="Cambria" pitchFamily="34" charset="0"/>
                <a:ea typeface="Cambria" pitchFamily="34" charset="-122"/>
                <a:cs typeface="Cambria" pitchFamily="34" charset="-120"/>
              </a:rPr>
              <a:t>OLAP: skladište podataka i zvezdasta šema</a:t>
            </a:r>
            <a:endParaRPr lang="en-US" sz="2600" dirty="0"/>
          </a:p>
        </p:txBody>
      </p:sp>
      <p:pic>
        <p:nvPicPr>
          <p:cNvPr id="3" name="Image 0" descr="/tmp/claude-0/-home-user-DMS/301aa003-dcc0-59ff-8316-a4c89c795fe8/scratchpad/figs/sem3/dijagram_star.png"/>
          <p:cNvPicPr>
            <a:picLocks noChangeAspect="1"/>
          </p:cNvPicPr>
          <p:nvPr/>
        </p:nvPicPr>
        <p:blipFill>
          <a:blip r:embed="rId3"/>
          <a:stretch>
            <a:fillRect/>
          </a:stretch>
        </p:blipFill>
        <p:spPr>
          <a:xfrm>
            <a:off x="457200" y="1584198"/>
            <a:ext cx="4937760" cy="2592324"/>
          </a:xfrm>
          <a:prstGeom prst="rect">
            <a:avLst/>
          </a:prstGeom>
        </p:spPr>
      </p:pic>
      <p:sp>
        <p:nvSpPr>
          <p:cNvPr id="4" name="Text 1"/>
          <p:cNvSpPr txBox="1"/>
          <p:nvPr/>
        </p:nvSpPr>
        <p:spPr>
          <a:xfrm>
            <a:off x="5760720" y="1325880"/>
            <a:ext cx="2926080" cy="32918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Tabela činjenica + denormalizovane dimenzije</a:t>
            </a:r>
            <a:endParaRPr lang="en-US" sz="1500" dirty="0"/>
          </a:p>
          <a:p>
            <a:pPr marL="177800" indent="-1778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ETL: izdvajanje, transformacija, učitavanje; watermark</a:t>
            </a:r>
            <a:endParaRPr lang="en-US" sz="1500" dirty="0"/>
          </a:p>
          <a:p>
            <a:pPr marL="177800" indent="-1778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ROLLUP, CUBE i prozorske funkcije u SQL-u</a:t>
            </a:r>
            <a:endParaRPr lang="en-US" sz="1500" dirty="0"/>
          </a:p>
          <a:p>
            <a:pPr marL="177800" indent="-1778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Materijalizovani pogled i BRIN indeks</a:t>
            </a:r>
            <a:endParaRPr lang="en-US" sz="1500" dirty="0"/>
          </a:p>
        </p:txBody>
      </p:sp>
      <p:sp>
        <p:nvSpPr>
          <p:cNvPr id="5" name="Text 2"/>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4A1D3F"/>
                </a:solidFill>
                <a:latin typeface="Cambria" pitchFamily="34" charset="0"/>
                <a:ea typeface="Cambria" pitchFamily="34" charset="-122"/>
                <a:cs typeface="Cambria" pitchFamily="34" charset="-120"/>
              </a:rPr>
              <a:t>Metodologija eksperimenta</a:t>
            </a:r>
            <a:endParaRPr lang="en-US" sz="2600" dirty="0"/>
          </a:p>
        </p:txBody>
      </p:sp>
      <p:sp>
        <p:nvSpPr>
          <p:cNvPr id="3" name="Shape 1"/>
          <p:cNvSpPr/>
          <p:nvPr/>
        </p:nvSpPr>
        <p:spPr>
          <a:xfrm>
            <a:off x="1383030" y="1691640"/>
            <a:ext cx="6377940" cy="0"/>
          </a:xfrm>
          <a:prstGeom prst="line">
            <a:avLst/>
          </a:prstGeom>
          <a:noFill/>
          <a:ln w="19050">
            <a:solidFill>
              <a:srgbClr val="64748B"/>
            </a:solidFill>
            <a:prstDash val="dash"/>
          </a:ln>
        </p:spPr>
        <p:txBody>
          <a:bodyPr/>
          <a:lstStyle/>
          <a:p>
            <a:endParaRPr lang="en-AT"/>
          </a:p>
        </p:txBody>
      </p:sp>
      <p:sp>
        <p:nvSpPr>
          <p:cNvPr id="4" name="Shape 2"/>
          <p:cNvSpPr/>
          <p:nvPr/>
        </p:nvSpPr>
        <p:spPr>
          <a:xfrm>
            <a:off x="1017270" y="1325880"/>
            <a:ext cx="731520" cy="731520"/>
          </a:xfrm>
          <a:prstGeom prst="ellipse">
            <a:avLst/>
          </a:prstGeom>
          <a:solidFill>
            <a:srgbClr val="1C8C84"/>
          </a:solidFill>
          <a:ln w="12700">
            <a:solidFill>
              <a:srgbClr val="1C8C84"/>
            </a:solidFill>
            <a:prstDash val="solid"/>
          </a:ln>
        </p:spPr>
        <p:txBody>
          <a:bodyPr/>
          <a:lstStyle/>
          <a:p>
            <a:endParaRPr lang="en-AT"/>
          </a:p>
        </p:txBody>
      </p:sp>
      <p:sp>
        <p:nvSpPr>
          <p:cNvPr id="5" name="Text 3"/>
          <p:cNvSpPr txBox="1"/>
          <p:nvPr/>
        </p:nvSpPr>
        <p:spPr>
          <a:xfrm>
            <a:off x="1017270" y="132588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457200" y="2240280"/>
            <a:ext cx="1851660" cy="411480"/>
          </a:xfrm>
          <a:prstGeom prst="rect">
            <a:avLst/>
          </a:prstGeom>
          <a:noFill/>
          <a:ln/>
        </p:spPr>
        <p:txBody>
          <a:bodyPr wrap="square" lIns="0" tIns="0" rIns="0" bIns="0" rtlCol="0" anchor="ctr"/>
          <a:lstStyle/>
          <a:p>
            <a:pPr marL="0" indent="0" algn="ctr">
              <a:buNone/>
            </a:pPr>
            <a:r>
              <a:rPr lang="en-US" sz="1800" b="1" dirty="0">
                <a:solidFill>
                  <a:srgbClr val="4A1D3F"/>
                </a:solidFill>
                <a:latin typeface="Calibri" pitchFamily="34" charset="0"/>
                <a:ea typeface="Calibri" pitchFamily="34" charset="-122"/>
                <a:cs typeface="Calibri" pitchFamily="34" charset="-120"/>
              </a:rPr>
              <a:t>OLTP</a:t>
            </a:r>
            <a:endParaRPr lang="en-US" sz="1800" dirty="0"/>
          </a:p>
        </p:txBody>
      </p:sp>
      <p:sp>
        <p:nvSpPr>
          <p:cNvPr id="7" name="Text 5"/>
          <p:cNvSpPr txBox="1"/>
          <p:nvPr/>
        </p:nvSpPr>
        <p:spPr>
          <a:xfrm>
            <a:off x="502920" y="2697480"/>
            <a:ext cx="1760220" cy="13258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3NF šema, 200.000 narudžbina; 4 klijenta, 15 s; 5 ACID invarijanti</a:t>
            </a:r>
            <a:endParaRPr lang="en-US" sz="1300" dirty="0"/>
          </a:p>
        </p:txBody>
      </p:sp>
      <p:sp>
        <p:nvSpPr>
          <p:cNvPr id="8" name="Shape 6"/>
          <p:cNvSpPr/>
          <p:nvPr/>
        </p:nvSpPr>
        <p:spPr>
          <a:xfrm>
            <a:off x="3143250" y="1325880"/>
            <a:ext cx="731520" cy="731520"/>
          </a:xfrm>
          <a:prstGeom prst="ellipse">
            <a:avLst/>
          </a:prstGeom>
          <a:solidFill>
            <a:srgbClr val="1C8C84"/>
          </a:solidFill>
          <a:ln w="12700">
            <a:solidFill>
              <a:srgbClr val="1C8C84"/>
            </a:solidFill>
            <a:prstDash val="solid"/>
          </a:ln>
        </p:spPr>
        <p:txBody>
          <a:bodyPr/>
          <a:lstStyle/>
          <a:p>
            <a:endParaRPr lang="en-AT"/>
          </a:p>
        </p:txBody>
      </p:sp>
      <p:sp>
        <p:nvSpPr>
          <p:cNvPr id="9" name="Text 7"/>
          <p:cNvSpPr txBox="1"/>
          <p:nvPr/>
        </p:nvSpPr>
        <p:spPr>
          <a:xfrm>
            <a:off x="3143250" y="132588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2583180" y="2240280"/>
            <a:ext cx="1851660" cy="411480"/>
          </a:xfrm>
          <a:prstGeom prst="rect">
            <a:avLst/>
          </a:prstGeom>
          <a:noFill/>
          <a:ln/>
        </p:spPr>
        <p:txBody>
          <a:bodyPr wrap="square" lIns="0" tIns="0" rIns="0" bIns="0" rtlCol="0" anchor="ctr"/>
          <a:lstStyle/>
          <a:p>
            <a:pPr marL="0" indent="0" algn="ctr">
              <a:buNone/>
            </a:pPr>
            <a:r>
              <a:rPr lang="en-US" sz="1800" b="1" dirty="0">
                <a:solidFill>
                  <a:srgbClr val="4A1D3F"/>
                </a:solidFill>
                <a:latin typeface="Calibri" pitchFamily="34" charset="0"/>
                <a:ea typeface="Calibri" pitchFamily="34" charset="-122"/>
                <a:cs typeface="Calibri" pitchFamily="34" charset="-120"/>
              </a:rPr>
              <a:t>Pristup</a:t>
            </a:r>
            <a:endParaRPr lang="en-US" sz="1800" dirty="0"/>
          </a:p>
        </p:txBody>
      </p:sp>
      <p:sp>
        <p:nvSpPr>
          <p:cNvPr id="11" name="Text 9"/>
          <p:cNvSpPr txBox="1"/>
          <p:nvPr/>
        </p:nvSpPr>
        <p:spPr>
          <a:xfrm>
            <a:off x="2628900" y="2697480"/>
            <a:ext cx="1760220" cy="13258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planovi OLTP i analitičkog upita: redovi i blokovi</a:t>
            </a:r>
            <a:endParaRPr lang="en-US" sz="1300" dirty="0"/>
          </a:p>
        </p:txBody>
      </p:sp>
      <p:sp>
        <p:nvSpPr>
          <p:cNvPr id="12" name="Shape 10"/>
          <p:cNvSpPr/>
          <p:nvPr/>
        </p:nvSpPr>
        <p:spPr>
          <a:xfrm>
            <a:off x="5269230" y="1325880"/>
            <a:ext cx="731520" cy="731520"/>
          </a:xfrm>
          <a:prstGeom prst="ellipse">
            <a:avLst/>
          </a:prstGeom>
          <a:solidFill>
            <a:srgbClr val="1C8C84"/>
          </a:solidFill>
          <a:ln w="12700">
            <a:solidFill>
              <a:srgbClr val="1C8C84"/>
            </a:solidFill>
            <a:prstDash val="solid"/>
          </a:ln>
        </p:spPr>
        <p:txBody>
          <a:bodyPr/>
          <a:lstStyle/>
          <a:p>
            <a:endParaRPr lang="en-AT"/>
          </a:p>
        </p:txBody>
      </p:sp>
      <p:sp>
        <p:nvSpPr>
          <p:cNvPr id="13" name="Text 11"/>
          <p:cNvSpPr txBox="1"/>
          <p:nvPr/>
        </p:nvSpPr>
        <p:spPr>
          <a:xfrm>
            <a:off x="5269230" y="132588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txBox="1"/>
          <p:nvPr/>
        </p:nvSpPr>
        <p:spPr>
          <a:xfrm>
            <a:off x="4709160" y="2240280"/>
            <a:ext cx="1851660" cy="411480"/>
          </a:xfrm>
          <a:prstGeom prst="rect">
            <a:avLst/>
          </a:prstGeom>
          <a:noFill/>
          <a:ln/>
        </p:spPr>
        <p:txBody>
          <a:bodyPr wrap="square" lIns="0" tIns="0" rIns="0" bIns="0" rtlCol="0" anchor="ctr"/>
          <a:lstStyle/>
          <a:p>
            <a:pPr marL="0" indent="0" algn="ctr">
              <a:buNone/>
            </a:pPr>
            <a:r>
              <a:rPr lang="en-US" sz="1800" b="1" dirty="0">
                <a:solidFill>
                  <a:srgbClr val="4A1D3F"/>
                </a:solidFill>
                <a:latin typeface="Calibri" pitchFamily="34" charset="0"/>
                <a:ea typeface="Calibri" pitchFamily="34" charset="-122"/>
                <a:cs typeface="Calibri" pitchFamily="34" charset="-120"/>
              </a:rPr>
              <a:t>OLAP</a:t>
            </a:r>
            <a:endParaRPr lang="en-US" sz="1800" dirty="0"/>
          </a:p>
        </p:txBody>
      </p:sp>
      <p:sp>
        <p:nvSpPr>
          <p:cNvPr id="15" name="Text 13"/>
          <p:cNvSpPr txBox="1"/>
          <p:nvPr/>
        </p:nvSpPr>
        <p:spPr>
          <a:xfrm>
            <a:off x="4754880" y="2697480"/>
            <a:ext cx="1760220" cy="13258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ETL u zvezdastu šemu; 7 OLAP upita; isto pitanje nad 3 modela</a:t>
            </a:r>
            <a:endParaRPr lang="en-US" sz="1300" dirty="0"/>
          </a:p>
        </p:txBody>
      </p:sp>
      <p:sp>
        <p:nvSpPr>
          <p:cNvPr id="16" name="Shape 14"/>
          <p:cNvSpPr/>
          <p:nvPr/>
        </p:nvSpPr>
        <p:spPr>
          <a:xfrm>
            <a:off x="7395210" y="1325880"/>
            <a:ext cx="731520" cy="731520"/>
          </a:xfrm>
          <a:prstGeom prst="ellipse">
            <a:avLst/>
          </a:prstGeom>
          <a:solidFill>
            <a:srgbClr val="1C8C84"/>
          </a:solidFill>
          <a:ln w="12700">
            <a:solidFill>
              <a:srgbClr val="1C8C84"/>
            </a:solidFill>
            <a:prstDash val="solid"/>
          </a:ln>
        </p:spPr>
        <p:txBody>
          <a:bodyPr/>
          <a:lstStyle/>
          <a:p>
            <a:endParaRPr lang="en-AT"/>
          </a:p>
        </p:txBody>
      </p:sp>
      <p:sp>
        <p:nvSpPr>
          <p:cNvPr id="17" name="Text 15"/>
          <p:cNvSpPr txBox="1"/>
          <p:nvPr/>
        </p:nvSpPr>
        <p:spPr>
          <a:xfrm>
            <a:off x="7395210" y="132588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txBox="1"/>
          <p:nvPr/>
        </p:nvSpPr>
        <p:spPr>
          <a:xfrm>
            <a:off x="6835140" y="2240280"/>
            <a:ext cx="1851660" cy="411480"/>
          </a:xfrm>
          <a:prstGeom prst="rect">
            <a:avLst/>
          </a:prstGeom>
          <a:noFill/>
          <a:ln/>
        </p:spPr>
        <p:txBody>
          <a:bodyPr wrap="square" lIns="0" tIns="0" rIns="0" bIns="0" rtlCol="0" anchor="ctr"/>
          <a:lstStyle/>
          <a:p>
            <a:pPr marL="0" indent="0" algn="ctr">
              <a:buNone/>
            </a:pPr>
            <a:r>
              <a:rPr lang="en-US" sz="1800" b="1" dirty="0">
                <a:solidFill>
                  <a:srgbClr val="4A1D3F"/>
                </a:solidFill>
                <a:latin typeface="Calibri" pitchFamily="34" charset="0"/>
                <a:ea typeface="Calibri" pitchFamily="34" charset="-122"/>
                <a:cs typeface="Calibri" pitchFamily="34" charset="-120"/>
              </a:rPr>
              <a:t>Odnos sistema</a:t>
            </a:r>
            <a:endParaRPr lang="en-US" sz="1800" dirty="0"/>
          </a:p>
        </p:txBody>
      </p:sp>
      <p:sp>
        <p:nvSpPr>
          <p:cNvPr id="19" name="Text 17"/>
          <p:cNvSpPr txBox="1"/>
          <p:nvPr/>
        </p:nvSpPr>
        <p:spPr>
          <a:xfrm>
            <a:off x="6880860" y="2697480"/>
            <a:ext cx="1760220" cy="13258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interferencija OLTP + OLAP; svežina posle inkrementalnog ETL-a</a:t>
            </a:r>
            <a:endParaRPr lang="en-US" sz="1300" dirty="0"/>
          </a:p>
        </p:txBody>
      </p:sp>
      <p:sp>
        <p:nvSpPr>
          <p:cNvPr id="20" name="Shape 18"/>
          <p:cNvSpPr/>
          <p:nvPr/>
        </p:nvSpPr>
        <p:spPr>
          <a:xfrm>
            <a:off x="457200" y="4160520"/>
            <a:ext cx="8229600" cy="502920"/>
          </a:xfrm>
          <a:prstGeom prst="roundRect">
            <a:avLst>
              <a:gd name="adj" fmla="val 14545"/>
            </a:avLst>
          </a:prstGeom>
          <a:solidFill>
            <a:srgbClr val="F4EEF2"/>
          </a:solidFill>
          <a:ln w="12700">
            <a:solidFill>
              <a:srgbClr val="F4EEF2"/>
            </a:solidFill>
            <a:prstDash val="solid"/>
          </a:ln>
        </p:spPr>
        <p:txBody>
          <a:bodyPr/>
          <a:lstStyle/>
          <a:p>
            <a:endParaRPr lang="en-AT"/>
          </a:p>
        </p:txBody>
      </p:sp>
      <p:sp>
        <p:nvSpPr>
          <p:cNvPr id="21" name="Text 19"/>
          <p:cNvSpPr txBox="1"/>
          <p:nvPr/>
        </p:nvSpPr>
        <p:spPr>
          <a:xfrm>
            <a:off x="640080" y="4160520"/>
            <a:ext cx="7863840" cy="502920"/>
          </a:xfrm>
          <a:prstGeom prst="rect">
            <a:avLst/>
          </a:prstGeom>
          <a:noFill/>
          <a:ln/>
        </p:spPr>
        <p:txBody>
          <a:bodyPr wrap="square" lIns="0" tIns="0" rIns="0" bIns="0" rtlCol="0" anchor="ctr"/>
          <a:lstStyle/>
          <a:p>
            <a:pPr marL="0" indent="0">
              <a:buNone/>
            </a:pPr>
            <a:r>
              <a:rPr lang="en-US" sz="1300" dirty="0">
                <a:solidFill>
                  <a:srgbClr val="4A1D3F"/>
                </a:solidFill>
                <a:latin typeface="Calibri" pitchFamily="34" charset="0"/>
                <a:ea typeface="Calibri" pitchFamily="34" charset="-122"/>
                <a:cs typeface="Calibri" pitchFamily="34" charset="-120"/>
              </a:rPr>
              <a:t>PostgreSQL 18.4 · Python + psycopg2 · 4 OLTP klijenta, 2 analitičke niti, testovi po 15 s</a:t>
            </a:r>
            <a:endParaRPr lang="en-US" sz="1300" dirty="0"/>
          </a:p>
        </p:txBody>
      </p:sp>
      <p:sp>
        <p:nvSpPr>
          <p:cNvPr id="22" name="Text 20"/>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4A1D3F"/>
                </a:solidFill>
                <a:latin typeface="Cambria" pitchFamily="34" charset="0"/>
                <a:ea typeface="Cambria" pitchFamily="34" charset="-122"/>
                <a:cs typeface="Cambria" pitchFamily="34" charset="-120"/>
              </a:rPr>
              <a:t>Implementacija: skripta oltp_olap_demo.py</a:t>
            </a:r>
            <a:endParaRPr lang="en-US" sz="26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marL="0" indent="0">
              <a:buNone/>
            </a:pPr>
            <a:r>
              <a:rPr lang="en-US" sz="1500" i="1" dirty="0">
                <a:solidFill>
                  <a:srgbClr val="1C8C84"/>
                </a:solidFill>
                <a:latin typeface="Calibri" pitchFamily="34" charset="0"/>
                <a:ea typeface="Calibri" pitchFamily="34" charset="-122"/>
                <a:cs typeface="Calibri" pitchFamily="34" charset="-120"/>
              </a:rPr>
              <a:t>1191 linija Python koda – dve šeme u jednoj bazi: oltp i dw</a:t>
            </a:r>
            <a:endParaRPr lang="en-US" sz="1500" dirty="0"/>
          </a:p>
        </p:txBody>
      </p:sp>
      <p:sp>
        <p:nvSpPr>
          <p:cNvPr id="4" name="Shape 2"/>
          <p:cNvSpPr/>
          <p:nvPr/>
        </p:nvSpPr>
        <p:spPr>
          <a:xfrm>
            <a:off x="457200" y="1463040"/>
            <a:ext cx="2560320" cy="1485900"/>
          </a:xfrm>
          <a:prstGeom prst="roundRect">
            <a:avLst>
              <a:gd name="adj" fmla="val 4923"/>
            </a:avLst>
          </a:prstGeom>
          <a:solidFill>
            <a:srgbClr val="F4EEF2"/>
          </a:solidFill>
          <a:ln w="12700">
            <a:solidFill>
              <a:srgbClr val="F4EEF2"/>
            </a:solidFill>
            <a:prstDash val="solid"/>
          </a:ln>
        </p:spPr>
        <p:txBody>
          <a:bodyPr/>
          <a:lstStyle/>
          <a:p>
            <a:endParaRPr lang="en-AT"/>
          </a:p>
        </p:txBody>
      </p:sp>
      <p:sp>
        <p:nvSpPr>
          <p:cNvPr id="5" name="Shape 3"/>
          <p:cNvSpPr/>
          <p:nvPr/>
        </p:nvSpPr>
        <p:spPr>
          <a:xfrm>
            <a:off x="640080" y="1645920"/>
            <a:ext cx="411480" cy="411480"/>
          </a:xfrm>
          <a:prstGeom prst="ellipse">
            <a:avLst/>
          </a:prstGeom>
          <a:solidFill>
            <a:srgbClr val="4A1D3F"/>
          </a:solidFill>
          <a:ln w="12700">
            <a:solidFill>
              <a:srgbClr val="4A1D3F"/>
            </a:solidFill>
            <a:prstDash val="solid"/>
          </a:ln>
        </p:spPr>
        <p:txBody>
          <a:bodyPr/>
          <a:lstStyle/>
          <a:p>
            <a:endParaRPr lang="en-AT"/>
          </a:p>
        </p:txBody>
      </p:sp>
      <p:sp>
        <p:nvSpPr>
          <p:cNvPr id="6" name="Text 4"/>
          <p:cNvSpPr txBox="1"/>
          <p:nvPr/>
        </p:nvSpPr>
        <p:spPr>
          <a:xfrm>
            <a:off x="640080" y="164592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188720" y="1645920"/>
            <a:ext cx="1691640" cy="411480"/>
          </a:xfrm>
          <a:prstGeom prst="rect">
            <a:avLst/>
          </a:prstGeom>
          <a:noFill/>
          <a:ln/>
        </p:spPr>
        <p:txBody>
          <a:bodyPr wrap="square" lIns="0" tIns="0" rIns="0" bIns="0" rtlCol="0" anchor="ctr"/>
          <a:lstStyle/>
          <a:p>
            <a:pPr marL="0" indent="0">
              <a:buNone/>
            </a:pPr>
            <a:r>
              <a:rPr lang="en-US" sz="1600" b="1" dirty="0">
                <a:solidFill>
                  <a:srgbClr val="4A1D3F"/>
                </a:solidFill>
                <a:latin typeface="Calibri" pitchFamily="34" charset="0"/>
                <a:ea typeface="Calibri" pitchFamily="34" charset="-122"/>
                <a:cs typeface="Calibri" pitchFamily="34" charset="-120"/>
              </a:rPr>
              <a:t>OLTP šema</a:t>
            </a:r>
            <a:endParaRPr lang="en-US" sz="1600" dirty="0"/>
          </a:p>
        </p:txBody>
      </p:sp>
      <p:sp>
        <p:nvSpPr>
          <p:cNvPr id="8" name="Text 6"/>
          <p:cNvSpPr txBox="1"/>
          <p:nvPr/>
        </p:nvSpPr>
        <p:spPr>
          <a:xfrm>
            <a:off x="640080" y="2176272"/>
            <a:ext cx="2194560" cy="6629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OLTP_DDL i load_oltp_data: trend, sezonalnost, popularnost</a:t>
            </a:r>
            <a:endParaRPr lang="en-US" sz="1300" dirty="0"/>
          </a:p>
        </p:txBody>
      </p:sp>
      <p:sp>
        <p:nvSpPr>
          <p:cNvPr id="9" name="Shape 7"/>
          <p:cNvSpPr/>
          <p:nvPr/>
        </p:nvSpPr>
        <p:spPr>
          <a:xfrm>
            <a:off x="3291840" y="1463040"/>
            <a:ext cx="2560320" cy="1485900"/>
          </a:xfrm>
          <a:prstGeom prst="roundRect">
            <a:avLst>
              <a:gd name="adj" fmla="val 4923"/>
            </a:avLst>
          </a:prstGeom>
          <a:solidFill>
            <a:srgbClr val="F4EEF2"/>
          </a:solidFill>
          <a:ln w="12700">
            <a:solidFill>
              <a:srgbClr val="F4EEF2"/>
            </a:solidFill>
            <a:prstDash val="solid"/>
          </a:ln>
        </p:spPr>
        <p:txBody>
          <a:bodyPr/>
          <a:lstStyle/>
          <a:p>
            <a:endParaRPr lang="en-AT"/>
          </a:p>
        </p:txBody>
      </p:sp>
      <p:sp>
        <p:nvSpPr>
          <p:cNvPr id="10" name="Shape 8"/>
          <p:cNvSpPr/>
          <p:nvPr/>
        </p:nvSpPr>
        <p:spPr>
          <a:xfrm>
            <a:off x="3474720" y="1645920"/>
            <a:ext cx="411480" cy="411480"/>
          </a:xfrm>
          <a:prstGeom prst="ellipse">
            <a:avLst/>
          </a:prstGeom>
          <a:solidFill>
            <a:srgbClr val="4A1D3F"/>
          </a:solidFill>
          <a:ln w="12700">
            <a:solidFill>
              <a:srgbClr val="4A1D3F"/>
            </a:solidFill>
            <a:prstDash val="solid"/>
          </a:ln>
        </p:spPr>
        <p:txBody>
          <a:bodyPr/>
          <a:lstStyle/>
          <a:p>
            <a:endParaRPr lang="en-AT"/>
          </a:p>
        </p:txBody>
      </p:sp>
      <p:sp>
        <p:nvSpPr>
          <p:cNvPr id="11" name="Text 9"/>
          <p:cNvSpPr txBox="1"/>
          <p:nvPr/>
        </p:nvSpPr>
        <p:spPr>
          <a:xfrm>
            <a:off x="3474720" y="164592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4023360" y="1645920"/>
            <a:ext cx="1691640" cy="411480"/>
          </a:xfrm>
          <a:prstGeom prst="rect">
            <a:avLst/>
          </a:prstGeom>
          <a:noFill/>
          <a:ln/>
        </p:spPr>
        <p:txBody>
          <a:bodyPr wrap="square" lIns="0" tIns="0" rIns="0" bIns="0" rtlCol="0" anchor="ctr"/>
          <a:lstStyle/>
          <a:p>
            <a:pPr marL="0" indent="0">
              <a:buNone/>
            </a:pPr>
            <a:r>
              <a:rPr lang="en-US" sz="1600" b="1" dirty="0">
                <a:solidFill>
                  <a:srgbClr val="4A1D3F"/>
                </a:solidFill>
                <a:latin typeface="Calibri" pitchFamily="34" charset="0"/>
                <a:ea typeface="Calibri" pitchFamily="34" charset="-122"/>
                <a:cs typeface="Calibri" pitchFamily="34" charset="-120"/>
              </a:rPr>
              <a:t>Transakcije</a:t>
            </a:r>
            <a:endParaRPr lang="en-US" sz="1600" dirty="0"/>
          </a:p>
        </p:txBody>
      </p:sp>
      <p:sp>
        <p:nvSpPr>
          <p:cNvPr id="13" name="Text 11"/>
          <p:cNvSpPr txBox="1"/>
          <p:nvPr/>
        </p:nvSpPr>
        <p:spPr>
          <a:xfrm>
            <a:off x="3474720" y="2176272"/>
            <a:ext cx="2194560" cy="6629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tx_new_order: FOR UPDATE, sortiran redosled, ROLLBACK</a:t>
            </a:r>
            <a:endParaRPr lang="en-US" sz="1300" dirty="0"/>
          </a:p>
        </p:txBody>
      </p:sp>
      <p:sp>
        <p:nvSpPr>
          <p:cNvPr id="14" name="Shape 12"/>
          <p:cNvSpPr/>
          <p:nvPr/>
        </p:nvSpPr>
        <p:spPr>
          <a:xfrm>
            <a:off x="6126480" y="1463040"/>
            <a:ext cx="2560320" cy="1485900"/>
          </a:xfrm>
          <a:prstGeom prst="roundRect">
            <a:avLst>
              <a:gd name="adj" fmla="val 4923"/>
            </a:avLst>
          </a:prstGeom>
          <a:solidFill>
            <a:srgbClr val="F4EEF2"/>
          </a:solidFill>
          <a:ln w="12700">
            <a:solidFill>
              <a:srgbClr val="F4EEF2"/>
            </a:solidFill>
            <a:prstDash val="solid"/>
          </a:ln>
        </p:spPr>
        <p:txBody>
          <a:bodyPr/>
          <a:lstStyle/>
          <a:p>
            <a:endParaRPr lang="en-AT"/>
          </a:p>
        </p:txBody>
      </p:sp>
      <p:sp>
        <p:nvSpPr>
          <p:cNvPr id="15" name="Shape 13"/>
          <p:cNvSpPr/>
          <p:nvPr/>
        </p:nvSpPr>
        <p:spPr>
          <a:xfrm>
            <a:off x="6309360" y="1645920"/>
            <a:ext cx="411480" cy="411480"/>
          </a:xfrm>
          <a:prstGeom prst="ellipse">
            <a:avLst/>
          </a:prstGeom>
          <a:solidFill>
            <a:srgbClr val="4A1D3F"/>
          </a:solidFill>
          <a:ln w="12700">
            <a:solidFill>
              <a:srgbClr val="4A1D3F"/>
            </a:solidFill>
            <a:prstDash val="solid"/>
          </a:ln>
        </p:spPr>
        <p:txBody>
          <a:bodyPr/>
          <a:lstStyle/>
          <a:p>
            <a:endParaRPr lang="en-AT"/>
          </a:p>
        </p:txBody>
      </p:sp>
      <p:sp>
        <p:nvSpPr>
          <p:cNvPr id="16" name="Text 14"/>
          <p:cNvSpPr txBox="1"/>
          <p:nvPr/>
        </p:nvSpPr>
        <p:spPr>
          <a:xfrm>
            <a:off x="6309360" y="164592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858000" y="1645920"/>
            <a:ext cx="1691640" cy="411480"/>
          </a:xfrm>
          <a:prstGeom prst="rect">
            <a:avLst/>
          </a:prstGeom>
          <a:noFill/>
          <a:ln/>
        </p:spPr>
        <p:txBody>
          <a:bodyPr wrap="square" lIns="0" tIns="0" rIns="0" bIns="0" rtlCol="0" anchor="ctr"/>
          <a:lstStyle/>
          <a:p>
            <a:pPr marL="0" indent="0">
              <a:buNone/>
            </a:pPr>
            <a:r>
              <a:rPr lang="en-US" sz="1600" b="1" dirty="0">
                <a:solidFill>
                  <a:srgbClr val="4A1D3F"/>
                </a:solidFill>
                <a:latin typeface="Calibri" pitchFamily="34" charset="0"/>
                <a:ea typeface="Calibri" pitchFamily="34" charset="-122"/>
                <a:cs typeface="Calibri" pitchFamily="34" charset="-120"/>
              </a:rPr>
              <a:t>Opterećenje</a:t>
            </a:r>
            <a:endParaRPr lang="en-US" sz="1600" dirty="0"/>
          </a:p>
        </p:txBody>
      </p:sp>
      <p:sp>
        <p:nvSpPr>
          <p:cNvPr id="18" name="Text 16"/>
          <p:cNvSpPr txBox="1"/>
          <p:nvPr/>
        </p:nvSpPr>
        <p:spPr>
          <a:xfrm>
            <a:off x="6309360" y="2176272"/>
            <a:ext cx="2194560" cy="6629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run_workload: niti, barijera, TPS i percentili</a:t>
            </a:r>
            <a:endParaRPr lang="en-US" sz="1300" dirty="0"/>
          </a:p>
        </p:txBody>
      </p:sp>
      <p:sp>
        <p:nvSpPr>
          <p:cNvPr id="19" name="Shape 17"/>
          <p:cNvSpPr/>
          <p:nvPr/>
        </p:nvSpPr>
        <p:spPr>
          <a:xfrm>
            <a:off x="457200" y="3223260"/>
            <a:ext cx="2560320" cy="1485900"/>
          </a:xfrm>
          <a:prstGeom prst="roundRect">
            <a:avLst>
              <a:gd name="adj" fmla="val 4923"/>
            </a:avLst>
          </a:prstGeom>
          <a:solidFill>
            <a:srgbClr val="F4EEF2"/>
          </a:solidFill>
          <a:ln w="12700">
            <a:solidFill>
              <a:srgbClr val="F4EEF2"/>
            </a:solidFill>
            <a:prstDash val="solid"/>
          </a:ln>
        </p:spPr>
        <p:txBody>
          <a:bodyPr/>
          <a:lstStyle/>
          <a:p>
            <a:endParaRPr lang="en-AT"/>
          </a:p>
        </p:txBody>
      </p:sp>
      <p:sp>
        <p:nvSpPr>
          <p:cNvPr id="20" name="Shape 18"/>
          <p:cNvSpPr/>
          <p:nvPr/>
        </p:nvSpPr>
        <p:spPr>
          <a:xfrm>
            <a:off x="640080" y="3406140"/>
            <a:ext cx="411480" cy="411480"/>
          </a:xfrm>
          <a:prstGeom prst="ellipse">
            <a:avLst/>
          </a:prstGeom>
          <a:solidFill>
            <a:srgbClr val="4A1D3F"/>
          </a:solidFill>
          <a:ln w="12700">
            <a:solidFill>
              <a:srgbClr val="4A1D3F"/>
            </a:solidFill>
            <a:prstDash val="solid"/>
          </a:ln>
        </p:spPr>
        <p:txBody>
          <a:bodyPr/>
          <a:lstStyle/>
          <a:p>
            <a:endParaRPr lang="en-AT"/>
          </a:p>
        </p:txBody>
      </p:sp>
      <p:sp>
        <p:nvSpPr>
          <p:cNvPr id="21" name="Text 19"/>
          <p:cNvSpPr txBox="1"/>
          <p:nvPr/>
        </p:nvSpPr>
        <p:spPr>
          <a:xfrm>
            <a:off x="640080" y="340614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188720" y="3406140"/>
            <a:ext cx="1691640" cy="411480"/>
          </a:xfrm>
          <a:prstGeom prst="rect">
            <a:avLst/>
          </a:prstGeom>
          <a:noFill/>
          <a:ln/>
        </p:spPr>
        <p:txBody>
          <a:bodyPr wrap="square" lIns="0" tIns="0" rIns="0" bIns="0" rtlCol="0" anchor="ctr"/>
          <a:lstStyle/>
          <a:p>
            <a:pPr marL="0" indent="0">
              <a:buNone/>
            </a:pPr>
            <a:r>
              <a:rPr lang="en-US" sz="1600" b="1" dirty="0">
                <a:solidFill>
                  <a:srgbClr val="4A1D3F"/>
                </a:solidFill>
                <a:latin typeface="Calibri" pitchFamily="34" charset="0"/>
                <a:ea typeface="Calibri" pitchFamily="34" charset="-122"/>
                <a:cs typeface="Calibri" pitchFamily="34" charset="-120"/>
              </a:rPr>
              <a:t>Planovi</a:t>
            </a:r>
            <a:endParaRPr lang="en-US" sz="1600" dirty="0"/>
          </a:p>
        </p:txBody>
      </p:sp>
      <p:sp>
        <p:nvSpPr>
          <p:cNvPr id="23" name="Text 21"/>
          <p:cNvSpPr txBox="1"/>
          <p:nvPr/>
        </p:nvSpPr>
        <p:spPr>
          <a:xfrm>
            <a:off x="640080" y="3936492"/>
            <a:ext cx="2194560" cy="6629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plan_metrics: pročitani redovi i blokovi iz EXPLAIN-a</a:t>
            </a:r>
            <a:endParaRPr lang="en-US" sz="1300" dirty="0"/>
          </a:p>
        </p:txBody>
      </p:sp>
      <p:sp>
        <p:nvSpPr>
          <p:cNvPr id="24" name="Shape 22"/>
          <p:cNvSpPr/>
          <p:nvPr/>
        </p:nvSpPr>
        <p:spPr>
          <a:xfrm>
            <a:off x="3291840" y="3223260"/>
            <a:ext cx="2560320" cy="1485900"/>
          </a:xfrm>
          <a:prstGeom prst="roundRect">
            <a:avLst>
              <a:gd name="adj" fmla="val 4923"/>
            </a:avLst>
          </a:prstGeom>
          <a:solidFill>
            <a:srgbClr val="F4EEF2"/>
          </a:solidFill>
          <a:ln w="12700">
            <a:solidFill>
              <a:srgbClr val="F4EEF2"/>
            </a:solidFill>
            <a:prstDash val="solid"/>
          </a:ln>
        </p:spPr>
        <p:txBody>
          <a:bodyPr/>
          <a:lstStyle/>
          <a:p>
            <a:endParaRPr lang="en-AT"/>
          </a:p>
        </p:txBody>
      </p:sp>
      <p:sp>
        <p:nvSpPr>
          <p:cNvPr id="25" name="Shape 23"/>
          <p:cNvSpPr/>
          <p:nvPr/>
        </p:nvSpPr>
        <p:spPr>
          <a:xfrm>
            <a:off x="3474720" y="3406140"/>
            <a:ext cx="411480" cy="411480"/>
          </a:xfrm>
          <a:prstGeom prst="ellipse">
            <a:avLst/>
          </a:prstGeom>
          <a:solidFill>
            <a:srgbClr val="4A1D3F"/>
          </a:solidFill>
          <a:ln w="12700">
            <a:solidFill>
              <a:srgbClr val="4A1D3F"/>
            </a:solidFill>
            <a:prstDash val="solid"/>
          </a:ln>
        </p:spPr>
        <p:txBody>
          <a:bodyPr/>
          <a:lstStyle/>
          <a:p>
            <a:endParaRPr lang="en-AT"/>
          </a:p>
        </p:txBody>
      </p:sp>
      <p:sp>
        <p:nvSpPr>
          <p:cNvPr id="26" name="Text 24"/>
          <p:cNvSpPr txBox="1"/>
          <p:nvPr/>
        </p:nvSpPr>
        <p:spPr>
          <a:xfrm>
            <a:off x="3474720" y="340614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4023360" y="3406140"/>
            <a:ext cx="1691640" cy="411480"/>
          </a:xfrm>
          <a:prstGeom prst="rect">
            <a:avLst/>
          </a:prstGeom>
          <a:noFill/>
          <a:ln/>
        </p:spPr>
        <p:txBody>
          <a:bodyPr wrap="square" lIns="0" tIns="0" rIns="0" bIns="0" rtlCol="0" anchor="ctr"/>
          <a:lstStyle/>
          <a:p>
            <a:pPr marL="0" indent="0">
              <a:buNone/>
            </a:pPr>
            <a:r>
              <a:rPr lang="en-US" sz="1600" b="1" dirty="0">
                <a:solidFill>
                  <a:srgbClr val="4A1D3F"/>
                </a:solidFill>
                <a:latin typeface="Calibri" pitchFamily="34" charset="0"/>
                <a:ea typeface="Calibri" pitchFamily="34" charset="-122"/>
                <a:cs typeface="Calibri" pitchFamily="34" charset="-120"/>
              </a:rPr>
              <a:t>Skladište i ETL</a:t>
            </a:r>
            <a:endParaRPr lang="en-US" sz="1600" dirty="0"/>
          </a:p>
        </p:txBody>
      </p:sp>
      <p:sp>
        <p:nvSpPr>
          <p:cNvPr id="28" name="Text 26"/>
          <p:cNvSpPr txBox="1"/>
          <p:nvPr/>
        </p:nvSpPr>
        <p:spPr>
          <a:xfrm>
            <a:off x="3474720" y="3936492"/>
            <a:ext cx="2194560" cy="6629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DW_DDL, ETL_FACT sa watermark-om, MV i BRIN</a:t>
            </a:r>
            <a:endParaRPr lang="en-US" sz="1300" dirty="0"/>
          </a:p>
        </p:txBody>
      </p:sp>
      <p:sp>
        <p:nvSpPr>
          <p:cNvPr id="29" name="Shape 27"/>
          <p:cNvSpPr/>
          <p:nvPr/>
        </p:nvSpPr>
        <p:spPr>
          <a:xfrm>
            <a:off x="6126480" y="3223260"/>
            <a:ext cx="2560320" cy="1485900"/>
          </a:xfrm>
          <a:prstGeom prst="roundRect">
            <a:avLst>
              <a:gd name="adj" fmla="val 4923"/>
            </a:avLst>
          </a:prstGeom>
          <a:solidFill>
            <a:srgbClr val="F4EEF2"/>
          </a:solidFill>
          <a:ln w="12700">
            <a:solidFill>
              <a:srgbClr val="F4EEF2"/>
            </a:solidFill>
            <a:prstDash val="solid"/>
          </a:ln>
        </p:spPr>
        <p:txBody>
          <a:bodyPr/>
          <a:lstStyle/>
          <a:p>
            <a:endParaRPr lang="en-AT"/>
          </a:p>
        </p:txBody>
      </p:sp>
      <p:sp>
        <p:nvSpPr>
          <p:cNvPr id="30" name="Shape 28"/>
          <p:cNvSpPr/>
          <p:nvPr/>
        </p:nvSpPr>
        <p:spPr>
          <a:xfrm>
            <a:off x="6309360" y="3406140"/>
            <a:ext cx="411480" cy="411480"/>
          </a:xfrm>
          <a:prstGeom prst="ellipse">
            <a:avLst/>
          </a:prstGeom>
          <a:solidFill>
            <a:srgbClr val="4A1D3F"/>
          </a:solidFill>
          <a:ln w="12700">
            <a:solidFill>
              <a:srgbClr val="4A1D3F"/>
            </a:solidFill>
            <a:prstDash val="solid"/>
          </a:ln>
        </p:spPr>
        <p:txBody>
          <a:bodyPr/>
          <a:lstStyle/>
          <a:p>
            <a:endParaRPr lang="en-AT"/>
          </a:p>
        </p:txBody>
      </p:sp>
      <p:sp>
        <p:nvSpPr>
          <p:cNvPr id="31" name="Text 29"/>
          <p:cNvSpPr txBox="1"/>
          <p:nvPr/>
        </p:nvSpPr>
        <p:spPr>
          <a:xfrm>
            <a:off x="6309360" y="340614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6858000" y="3406140"/>
            <a:ext cx="1691640" cy="411480"/>
          </a:xfrm>
          <a:prstGeom prst="rect">
            <a:avLst/>
          </a:prstGeom>
          <a:noFill/>
          <a:ln/>
        </p:spPr>
        <p:txBody>
          <a:bodyPr wrap="square" lIns="0" tIns="0" rIns="0" bIns="0" rtlCol="0" anchor="ctr"/>
          <a:lstStyle/>
          <a:p>
            <a:pPr marL="0" indent="0">
              <a:buNone/>
            </a:pPr>
            <a:r>
              <a:rPr lang="en-US" sz="1600" b="1" dirty="0">
                <a:solidFill>
                  <a:srgbClr val="4A1D3F"/>
                </a:solidFill>
                <a:latin typeface="Calibri" pitchFamily="34" charset="0"/>
                <a:ea typeface="Calibri" pitchFamily="34" charset="-122"/>
                <a:cs typeface="Calibri" pitchFamily="34" charset="-120"/>
              </a:rPr>
              <a:t>OLAP</a:t>
            </a:r>
            <a:endParaRPr lang="en-US" sz="1600" dirty="0"/>
          </a:p>
        </p:txBody>
      </p:sp>
      <p:sp>
        <p:nvSpPr>
          <p:cNvPr id="33" name="Text 31"/>
          <p:cNvSpPr txBox="1"/>
          <p:nvPr/>
        </p:nvSpPr>
        <p:spPr>
          <a:xfrm>
            <a:off x="6309360" y="3936492"/>
            <a:ext cx="2194560" cy="66294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OLAP_QUERIES i isto pitanje: Q_3NF, Q_STAR, Q_MV</a:t>
            </a:r>
            <a:endParaRPr lang="en-US" sz="1300" dirty="0"/>
          </a:p>
        </p:txBody>
      </p:sp>
      <p:sp>
        <p:nvSpPr>
          <p:cNvPr id="34" name="Text 32"/>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4A1D3F"/>
                </a:solidFill>
                <a:latin typeface="Cambria" pitchFamily="34" charset="0"/>
                <a:ea typeface="Cambria" pitchFamily="34" charset="-122"/>
                <a:cs typeface="Cambria" pitchFamily="34" charset="-120"/>
              </a:rPr>
              <a:t>OLTP rezultati: propusna moć i latencija</a:t>
            </a:r>
            <a:endParaRPr lang="en-US" sz="2600" dirty="0"/>
          </a:p>
        </p:txBody>
      </p:sp>
      <p:graphicFrame>
        <p:nvGraphicFramePr>
          <p:cNvPr id="3" name="Chart 0"/>
          <p:cNvGraphicFramePr/>
          <p:nvPr/>
        </p:nvGraphicFramePr>
        <p:xfrm>
          <a:off x="365760" y="1051560"/>
          <a:ext cx="566928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263640" y="1188720"/>
            <a:ext cx="2468880" cy="1417320"/>
          </a:xfrm>
          <a:prstGeom prst="roundRect">
            <a:avLst>
              <a:gd name="adj" fmla="val 5161"/>
            </a:avLst>
          </a:prstGeom>
          <a:solidFill>
            <a:srgbClr val="F4EEF2"/>
          </a:solidFill>
          <a:ln w="12700">
            <a:solidFill>
              <a:srgbClr val="F4EEF2"/>
            </a:solidFill>
            <a:prstDash val="solid"/>
          </a:ln>
        </p:spPr>
        <p:txBody>
          <a:bodyPr/>
          <a:lstStyle/>
          <a:p>
            <a:endParaRPr lang="en-AT"/>
          </a:p>
        </p:txBody>
      </p:sp>
      <p:sp>
        <p:nvSpPr>
          <p:cNvPr id="5" name="Text 2"/>
          <p:cNvSpPr txBox="1"/>
          <p:nvPr/>
        </p:nvSpPr>
        <p:spPr>
          <a:xfrm>
            <a:off x="6446520" y="1234440"/>
            <a:ext cx="2103120" cy="777240"/>
          </a:xfrm>
          <a:prstGeom prst="rect">
            <a:avLst/>
          </a:prstGeom>
          <a:noFill/>
          <a:ln/>
        </p:spPr>
        <p:txBody>
          <a:bodyPr wrap="square" lIns="0" tIns="0" rIns="0" bIns="0" rtlCol="0" anchor="ctr"/>
          <a:lstStyle/>
          <a:p>
            <a:pPr marL="0" indent="0">
              <a:buNone/>
            </a:pPr>
            <a:r>
              <a:rPr lang="en-US" sz="3800" b="1" dirty="0">
                <a:solidFill>
                  <a:srgbClr val="1C8C84"/>
                </a:solidFill>
                <a:latin typeface="Cambria" pitchFamily="34" charset="0"/>
                <a:ea typeface="Cambria" pitchFamily="34" charset="-122"/>
                <a:cs typeface="Cambria" pitchFamily="34" charset="-120"/>
              </a:rPr>
              <a:t>6.035 TPS</a:t>
            </a:r>
            <a:endParaRPr lang="en-US" sz="3800" dirty="0"/>
          </a:p>
        </p:txBody>
      </p:sp>
      <p:sp>
        <p:nvSpPr>
          <p:cNvPr id="6" name="Text 3"/>
          <p:cNvSpPr txBox="1"/>
          <p:nvPr/>
        </p:nvSpPr>
        <p:spPr>
          <a:xfrm>
            <a:off x="6446520" y="2011680"/>
            <a:ext cx="2103120" cy="50292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p50 0,39 ms · p99 1,62 ms</a:t>
            </a:r>
            <a:endParaRPr lang="en-US" sz="1200" dirty="0"/>
          </a:p>
        </p:txBody>
      </p:sp>
      <p:sp>
        <p:nvSpPr>
          <p:cNvPr id="7" name="Text 4"/>
          <p:cNvSpPr txBox="1"/>
          <p:nvPr/>
        </p:nvSpPr>
        <p:spPr>
          <a:xfrm>
            <a:off x="6309360" y="2834640"/>
            <a:ext cx="237744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ACID: 5 od 5 invarijanti ispunjeno</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8.276 kontrolisanih ROLLBACK-ova</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Nijedan deadlock</a:t>
            </a:r>
            <a:endParaRPr lang="en-US" sz="1300" dirty="0"/>
          </a:p>
        </p:txBody>
      </p:sp>
      <p:sp>
        <p:nvSpPr>
          <p:cNvPr id="8" name="Text 5"/>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4A1D3F"/>
                </a:solidFill>
                <a:latin typeface="Cambria" pitchFamily="34" charset="0"/>
                <a:ea typeface="Cambria" pitchFamily="34" charset="-122"/>
                <a:cs typeface="Cambria" pitchFamily="34" charset="-120"/>
              </a:rPr>
              <a:t>Obrasci pristupa podacima</a:t>
            </a:r>
            <a:endParaRPr lang="en-US" sz="2600" dirty="0"/>
          </a:p>
        </p:txBody>
      </p:sp>
      <p:sp>
        <p:nvSpPr>
          <p:cNvPr id="3" name="Shape 1"/>
          <p:cNvSpPr/>
          <p:nvPr/>
        </p:nvSpPr>
        <p:spPr>
          <a:xfrm>
            <a:off x="457200" y="1097280"/>
            <a:ext cx="8229600" cy="777240"/>
          </a:xfrm>
          <a:prstGeom prst="roundRect">
            <a:avLst>
              <a:gd name="adj" fmla="val 9412"/>
            </a:avLst>
          </a:prstGeom>
          <a:solidFill>
            <a:srgbClr val="F4EEF2"/>
          </a:solidFill>
          <a:ln w="12700">
            <a:solidFill>
              <a:srgbClr val="F4EEF2"/>
            </a:solidFill>
            <a:prstDash val="solid"/>
          </a:ln>
        </p:spPr>
        <p:txBody>
          <a:bodyPr/>
          <a:lstStyle/>
          <a:p>
            <a:endParaRPr lang="en-AT"/>
          </a:p>
        </p:txBody>
      </p:sp>
      <p:sp>
        <p:nvSpPr>
          <p:cNvPr id="4" name="Shape 2"/>
          <p:cNvSpPr/>
          <p:nvPr/>
        </p:nvSpPr>
        <p:spPr>
          <a:xfrm>
            <a:off x="594360" y="1257300"/>
            <a:ext cx="777240" cy="457200"/>
          </a:xfrm>
          <a:prstGeom prst="roundRect">
            <a:avLst>
              <a:gd name="adj" fmla="val 16000"/>
            </a:avLst>
          </a:prstGeom>
          <a:solidFill>
            <a:srgbClr val="4A1D3F"/>
          </a:solidFill>
          <a:ln w="12700">
            <a:solidFill>
              <a:srgbClr val="4A1D3F"/>
            </a:solidFill>
            <a:prstDash val="solid"/>
          </a:ln>
        </p:spPr>
        <p:txBody>
          <a:bodyPr/>
          <a:lstStyle/>
          <a:p>
            <a:endParaRPr lang="en-AT"/>
          </a:p>
        </p:txBody>
      </p:sp>
      <p:sp>
        <p:nvSpPr>
          <p:cNvPr id="5" name="Text 3"/>
          <p:cNvSpPr txBox="1"/>
          <p:nvPr/>
        </p:nvSpPr>
        <p:spPr>
          <a:xfrm>
            <a:off x="594360" y="1257300"/>
            <a:ext cx="7772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OLTP</a:t>
            </a:r>
            <a:endParaRPr lang="en-US" sz="1500" dirty="0"/>
          </a:p>
        </p:txBody>
      </p:sp>
      <p:sp>
        <p:nvSpPr>
          <p:cNvPr id="6" name="Text 4"/>
          <p:cNvSpPr txBox="1"/>
          <p:nvPr/>
        </p:nvSpPr>
        <p:spPr>
          <a:xfrm>
            <a:off x="1554480" y="1097280"/>
            <a:ext cx="1234440" cy="77724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po ključu</a:t>
            </a:r>
            <a:endParaRPr lang="en-US" sz="1500" dirty="0"/>
          </a:p>
        </p:txBody>
      </p:sp>
      <p:sp>
        <p:nvSpPr>
          <p:cNvPr id="7" name="Text 5"/>
          <p:cNvSpPr txBox="1"/>
          <p:nvPr/>
        </p:nvSpPr>
        <p:spPr>
          <a:xfrm>
            <a:off x="2788920" y="1097280"/>
            <a:ext cx="320040" cy="77724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8" name="Text 6"/>
          <p:cNvSpPr txBox="1"/>
          <p:nvPr/>
        </p:nvSpPr>
        <p:spPr>
          <a:xfrm>
            <a:off x="3108960" y="1097280"/>
            <a:ext cx="2103120" cy="777240"/>
          </a:xfrm>
          <a:prstGeom prst="rect">
            <a:avLst/>
          </a:prstGeom>
          <a:noFill/>
          <a:ln/>
        </p:spPr>
        <p:txBody>
          <a:bodyPr wrap="square" lIns="0" tIns="0" rIns="0" bIns="0" rtlCol="0" anchor="ctr"/>
          <a:lstStyle/>
          <a:p>
            <a:pPr marL="0" indent="0">
              <a:buNone/>
            </a:pPr>
            <a:r>
              <a:rPr lang="en-US" sz="1700" b="1" dirty="0">
                <a:solidFill>
                  <a:srgbClr val="1C8C84"/>
                </a:solidFill>
                <a:latin typeface="Calibri" pitchFamily="34" charset="0"/>
                <a:ea typeface="Calibri" pitchFamily="34" charset="-122"/>
                <a:cs typeface="Calibri" pitchFamily="34" charset="-120"/>
              </a:rPr>
              <a:t>2 reda · 7 blokova</a:t>
            </a:r>
            <a:endParaRPr lang="en-US" sz="1700" dirty="0"/>
          </a:p>
        </p:txBody>
      </p:sp>
      <p:sp>
        <p:nvSpPr>
          <p:cNvPr id="9" name="Text 7"/>
          <p:cNvSpPr txBox="1"/>
          <p:nvPr/>
        </p:nvSpPr>
        <p:spPr>
          <a:xfrm>
            <a:off x="5303520" y="1097280"/>
            <a:ext cx="3246120" cy="77724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Index Scan, 0,02 ms</a:t>
            </a:r>
            <a:endParaRPr lang="en-US" sz="1300" dirty="0"/>
          </a:p>
        </p:txBody>
      </p:sp>
      <p:sp>
        <p:nvSpPr>
          <p:cNvPr id="10" name="Shape 8"/>
          <p:cNvSpPr/>
          <p:nvPr/>
        </p:nvSpPr>
        <p:spPr>
          <a:xfrm>
            <a:off x="457200" y="2011680"/>
            <a:ext cx="8229600" cy="777240"/>
          </a:xfrm>
          <a:prstGeom prst="roundRect">
            <a:avLst>
              <a:gd name="adj" fmla="val 9412"/>
            </a:avLst>
          </a:prstGeom>
          <a:solidFill>
            <a:srgbClr val="F4EEF2"/>
          </a:solidFill>
          <a:ln w="12700">
            <a:solidFill>
              <a:srgbClr val="F4EEF2"/>
            </a:solidFill>
            <a:prstDash val="solid"/>
          </a:ln>
        </p:spPr>
        <p:txBody>
          <a:bodyPr/>
          <a:lstStyle/>
          <a:p>
            <a:endParaRPr lang="en-AT"/>
          </a:p>
        </p:txBody>
      </p:sp>
      <p:sp>
        <p:nvSpPr>
          <p:cNvPr id="11" name="Shape 9"/>
          <p:cNvSpPr/>
          <p:nvPr/>
        </p:nvSpPr>
        <p:spPr>
          <a:xfrm>
            <a:off x="594360" y="2171700"/>
            <a:ext cx="777240" cy="457200"/>
          </a:xfrm>
          <a:prstGeom prst="roundRect">
            <a:avLst>
              <a:gd name="adj" fmla="val 16000"/>
            </a:avLst>
          </a:prstGeom>
          <a:solidFill>
            <a:srgbClr val="4A1D3F"/>
          </a:solidFill>
          <a:ln w="12700">
            <a:solidFill>
              <a:srgbClr val="4A1D3F"/>
            </a:solidFill>
            <a:prstDash val="solid"/>
          </a:ln>
        </p:spPr>
        <p:txBody>
          <a:bodyPr/>
          <a:lstStyle/>
          <a:p>
            <a:endParaRPr lang="en-AT"/>
          </a:p>
        </p:txBody>
      </p:sp>
      <p:sp>
        <p:nvSpPr>
          <p:cNvPr id="12" name="Text 10"/>
          <p:cNvSpPr txBox="1"/>
          <p:nvPr/>
        </p:nvSpPr>
        <p:spPr>
          <a:xfrm>
            <a:off x="594360" y="2171700"/>
            <a:ext cx="7772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OLTP</a:t>
            </a:r>
            <a:endParaRPr lang="en-US" sz="1500" dirty="0"/>
          </a:p>
        </p:txBody>
      </p:sp>
      <p:sp>
        <p:nvSpPr>
          <p:cNvPr id="13" name="Text 11"/>
          <p:cNvSpPr txBox="1"/>
          <p:nvPr/>
        </p:nvSpPr>
        <p:spPr>
          <a:xfrm>
            <a:off x="1554480" y="2011680"/>
            <a:ext cx="1234440" cy="77724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zaliha</a:t>
            </a:r>
            <a:endParaRPr lang="en-US" sz="1500" dirty="0"/>
          </a:p>
        </p:txBody>
      </p:sp>
      <p:sp>
        <p:nvSpPr>
          <p:cNvPr id="14" name="Text 12"/>
          <p:cNvSpPr txBox="1"/>
          <p:nvPr/>
        </p:nvSpPr>
        <p:spPr>
          <a:xfrm>
            <a:off x="2788920" y="2011680"/>
            <a:ext cx="320040" cy="77724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15" name="Text 13"/>
          <p:cNvSpPr txBox="1"/>
          <p:nvPr/>
        </p:nvSpPr>
        <p:spPr>
          <a:xfrm>
            <a:off x="3108960" y="2011680"/>
            <a:ext cx="2103120" cy="777240"/>
          </a:xfrm>
          <a:prstGeom prst="rect">
            <a:avLst/>
          </a:prstGeom>
          <a:noFill/>
          <a:ln/>
        </p:spPr>
        <p:txBody>
          <a:bodyPr wrap="square" lIns="0" tIns="0" rIns="0" bIns="0" rtlCol="0" anchor="ctr"/>
          <a:lstStyle/>
          <a:p>
            <a:pPr marL="0" indent="0">
              <a:buNone/>
            </a:pPr>
            <a:r>
              <a:rPr lang="en-US" sz="1700" b="1" dirty="0">
                <a:solidFill>
                  <a:srgbClr val="1C8C84"/>
                </a:solidFill>
                <a:latin typeface="Calibri" pitchFamily="34" charset="0"/>
                <a:ea typeface="Calibri" pitchFamily="34" charset="-122"/>
                <a:cs typeface="Calibri" pitchFamily="34" charset="-120"/>
              </a:rPr>
              <a:t>1 red · 3 bloka</a:t>
            </a:r>
            <a:endParaRPr lang="en-US" sz="1700" dirty="0"/>
          </a:p>
        </p:txBody>
      </p:sp>
      <p:sp>
        <p:nvSpPr>
          <p:cNvPr id="16" name="Text 14"/>
          <p:cNvSpPr txBox="1"/>
          <p:nvPr/>
        </p:nvSpPr>
        <p:spPr>
          <a:xfrm>
            <a:off x="5303520" y="2011680"/>
            <a:ext cx="3246120" cy="77724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Index Scan, 0,01 ms</a:t>
            </a:r>
            <a:endParaRPr lang="en-US" sz="1300" dirty="0"/>
          </a:p>
        </p:txBody>
      </p:sp>
      <p:sp>
        <p:nvSpPr>
          <p:cNvPr id="17" name="Shape 15"/>
          <p:cNvSpPr/>
          <p:nvPr/>
        </p:nvSpPr>
        <p:spPr>
          <a:xfrm>
            <a:off x="457200" y="2926080"/>
            <a:ext cx="8229600" cy="777240"/>
          </a:xfrm>
          <a:prstGeom prst="roundRect">
            <a:avLst>
              <a:gd name="adj" fmla="val 9412"/>
            </a:avLst>
          </a:prstGeom>
          <a:solidFill>
            <a:srgbClr val="F4EEF2"/>
          </a:solidFill>
          <a:ln w="12700">
            <a:solidFill>
              <a:srgbClr val="F4EEF2"/>
            </a:solidFill>
            <a:prstDash val="solid"/>
          </a:ln>
        </p:spPr>
        <p:txBody>
          <a:bodyPr/>
          <a:lstStyle/>
          <a:p>
            <a:endParaRPr lang="en-AT"/>
          </a:p>
        </p:txBody>
      </p:sp>
      <p:sp>
        <p:nvSpPr>
          <p:cNvPr id="18" name="Shape 16"/>
          <p:cNvSpPr/>
          <p:nvPr/>
        </p:nvSpPr>
        <p:spPr>
          <a:xfrm>
            <a:off x="594360" y="3086100"/>
            <a:ext cx="777240" cy="457200"/>
          </a:xfrm>
          <a:prstGeom prst="roundRect">
            <a:avLst>
              <a:gd name="adj" fmla="val 16000"/>
            </a:avLst>
          </a:prstGeom>
          <a:solidFill>
            <a:srgbClr val="4A1D3F"/>
          </a:solidFill>
          <a:ln w="12700">
            <a:solidFill>
              <a:srgbClr val="4A1D3F"/>
            </a:solidFill>
            <a:prstDash val="solid"/>
          </a:ln>
        </p:spPr>
        <p:txBody>
          <a:bodyPr/>
          <a:lstStyle/>
          <a:p>
            <a:endParaRPr lang="en-AT"/>
          </a:p>
        </p:txBody>
      </p:sp>
      <p:sp>
        <p:nvSpPr>
          <p:cNvPr id="19" name="Text 17"/>
          <p:cNvSpPr txBox="1"/>
          <p:nvPr/>
        </p:nvSpPr>
        <p:spPr>
          <a:xfrm>
            <a:off x="594360" y="3086100"/>
            <a:ext cx="7772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OLTP</a:t>
            </a:r>
            <a:endParaRPr lang="en-US" sz="1500" dirty="0"/>
          </a:p>
        </p:txBody>
      </p:sp>
      <p:sp>
        <p:nvSpPr>
          <p:cNvPr id="20" name="Text 18"/>
          <p:cNvSpPr txBox="1"/>
          <p:nvPr/>
        </p:nvSpPr>
        <p:spPr>
          <a:xfrm>
            <a:off x="1554480" y="2926080"/>
            <a:ext cx="1234440" cy="77724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kupac</a:t>
            </a:r>
            <a:endParaRPr lang="en-US" sz="1500" dirty="0"/>
          </a:p>
        </p:txBody>
      </p:sp>
      <p:sp>
        <p:nvSpPr>
          <p:cNvPr id="21" name="Text 19"/>
          <p:cNvSpPr txBox="1"/>
          <p:nvPr/>
        </p:nvSpPr>
        <p:spPr>
          <a:xfrm>
            <a:off x="2788920" y="2926080"/>
            <a:ext cx="320040" cy="77724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22" name="Text 20"/>
          <p:cNvSpPr txBox="1"/>
          <p:nvPr/>
        </p:nvSpPr>
        <p:spPr>
          <a:xfrm>
            <a:off x="3108960" y="2926080"/>
            <a:ext cx="2103120" cy="777240"/>
          </a:xfrm>
          <a:prstGeom prst="rect">
            <a:avLst/>
          </a:prstGeom>
          <a:noFill/>
          <a:ln/>
        </p:spPr>
        <p:txBody>
          <a:bodyPr wrap="square" lIns="0" tIns="0" rIns="0" bIns="0" rtlCol="0" anchor="ctr"/>
          <a:lstStyle/>
          <a:p>
            <a:pPr marL="0" indent="0">
              <a:buNone/>
            </a:pPr>
            <a:r>
              <a:rPr lang="en-US" sz="1700" b="1" dirty="0">
                <a:solidFill>
                  <a:srgbClr val="1C8C84"/>
                </a:solidFill>
                <a:latin typeface="Calibri" pitchFamily="34" charset="0"/>
                <a:ea typeface="Calibri" pitchFamily="34" charset="-122"/>
                <a:cs typeface="Calibri" pitchFamily="34" charset="-120"/>
              </a:rPr>
              <a:t>14 redova · 10 blokova</a:t>
            </a:r>
            <a:endParaRPr lang="en-US" sz="1700" dirty="0"/>
          </a:p>
        </p:txBody>
      </p:sp>
      <p:sp>
        <p:nvSpPr>
          <p:cNvPr id="23" name="Text 21"/>
          <p:cNvSpPr txBox="1"/>
          <p:nvPr/>
        </p:nvSpPr>
        <p:spPr>
          <a:xfrm>
            <a:off x="5303520" y="2926080"/>
            <a:ext cx="3246120" cy="77724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Bitmap Heap Scan, 0,03 ms</a:t>
            </a:r>
            <a:endParaRPr lang="en-US" sz="1300" dirty="0"/>
          </a:p>
        </p:txBody>
      </p:sp>
      <p:sp>
        <p:nvSpPr>
          <p:cNvPr id="24" name="Shape 22"/>
          <p:cNvSpPr/>
          <p:nvPr/>
        </p:nvSpPr>
        <p:spPr>
          <a:xfrm>
            <a:off x="457200" y="3840480"/>
            <a:ext cx="8229600" cy="777240"/>
          </a:xfrm>
          <a:prstGeom prst="roundRect">
            <a:avLst>
              <a:gd name="adj" fmla="val 9412"/>
            </a:avLst>
          </a:prstGeom>
          <a:solidFill>
            <a:srgbClr val="FBEAEA"/>
          </a:solidFill>
          <a:ln w="12700">
            <a:solidFill>
              <a:srgbClr val="FBEAEA"/>
            </a:solidFill>
            <a:prstDash val="solid"/>
          </a:ln>
        </p:spPr>
        <p:txBody>
          <a:bodyPr/>
          <a:lstStyle/>
          <a:p>
            <a:endParaRPr lang="en-AT"/>
          </a:p>
        </p:txBody>
      </p:sp>
      <p:sp>
        <p:nvSpPr>
          <p:cNvPr id="25" name="Shape 23"/>
          <p:cNvSpPr/>
          <p:nvPr/>
        </p:nvSpPr>
        <p:spPr>
          <a:xfrm>
            <a:off x="594360" y="4000500"/>
            <a:ext cx="777240" cy="457200"/>
          </a:xfrm>
          <a:prstGeom prst="roundRect">
            <a:avLst>
              <a:gd name="adj" fmla="val 16000"/>
            </a:avLst>
          </a:prstGeom>
          <a:solidFill>
            <a:srgbClr val="B42318"/>
          </a:solidFill>
          <a:ln w="12700">
            <a:solidFill>
              <a:srgbClr val="B42318"/>
            </a:solidFill>
            <a:prstDash val="solid"/>
          </a:ln>
        </p:spPr>
        <p:txBody>
          <a:bodyPr/>
          <a:lstStyle/>
          <a:p>
            <a:endParaRPr lang="en-AT"/>
          </a:p>
        </p:txBody>
      </p:sp>
      <p:sp>
        <p:nvSpPr>
          <p:cNvPr id="26" name="Text 24"/>
          <p:cNvSpPr txBox="1"/>
          <p:nvPr/>
        </p:nvSpPr>
        <p:spPr>
          <a:xfrm>
            <a:off x="594360" y="4000500"/>
            <a:ext cx="7772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OLAP</a:t>
            </a:r>
            <a:endParaRPr lang="en-US" sz="1500" dirty="0"/>
          </a:p>
        </p:txBody>
      </p:sp>
      <p:sp>
        <p:nvSpPr>
          <p:cNvPr id="27" name="Text 25"/>
          <p:cNvSpPr txBox="1"/>
          <p:nvPr/>
        </p:nvSpPr>
        <p:spPr>
          <a:xfrm>
            <a:off x="1554480" y="3840480"/>
            <a:ext cx="1234440" cy="77724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analitika</a:t>
            </a:r>
            <a:endParaRPr lang="en-US" sz="1500" dirty="0"/>
          </a:p>
        </p:txBody>
      </p:sp>
      <p:sp>
        <p:nvSpPr>
          <p:cNvPr id="28" name="Text 26"/>
          <p:cNvSpPr txBox="1"/>
          <p:nvPr/>
        </p:nvSpPr>
        <p:spPr>
          <a:xfrm>
            <a:off x="2788920" y="3840480"/>
            <a:ext cx="320040" cy="777240"/>
          </a:xfrm>
          <a:prstGeom prst="rect">
            <a:avLst/>
          </a:prstGeom>
          <a:noFill/>
          <a:ln/>
        </p:spPr>
        <p:txBody>
          <a:bodyPr wrap="square" lIns="0" tIns="0" rIns="0" bIns="0" rtlCol="0" anchor="ctr"/>
          <a:lstStyle/>
          <a:p>
            <a:pPr marL="0" indent="0">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29" name="Text 27"/>
          <p:cNvSpPr txBox="1"/>
          <p:nvPr/>
        </p:nvSpPr>
        <p:spPr>
          <a:xfrm>
            <a:off x="3108960" y="3840480"/>
            <a:ext cx="2103120" cy="777240"/>
          </a:xfrm>
          <a:prstGeom prst="rect">
            <a:avLst/>
          </a:prstGeom>
          <a:noFill/>
          <a:ln/>
        </p:spPr>
        <p:txBody>
          <a:bodyPr wrap="square" lIns="0" tIns="0" rIns="0" bIns="0" rtlCol="0" anchor="ctr"/>
          <a:lstStyle/>
          <a:p>
            <a:pPr marL="0" indent="0">
              <a:buNone/>
            </a:pPr>
            <a:r>
              <a:rPr lang="en-US" sz="1700" b="1" dirty="0">
                <a:solidFill>
                  <a:srgbClr val="B42318"/>
                </a:solidFill>
                <a:latin typeface="Calibri" pitchFamily="34" charset="0"/>
                <a:ea typeface="Calibri" pitchFamily="34" charset="-122"/>
                <a:cs typeface="Calibri" pitchFamily="34" charset="-120"/>
              </a:rPr>
              <a:t>906.507 redova</a:t>
            </a:r>
            <a:endParaRPr lang="en-US" sz="1700" dirty="0"/>
          </a:p>
        </p:txBody>
      </p:sp>
      <p:sp>
        <p:nvSpPr>
          <p:cNvPr id="30" name="Text 28"/>
          <p:cNvSpPr txBox="1"/>
          <p:nvPr/>
        </p:nvSpPr>
        <p:spPr>
          <a:xfrm>
            <a:off x="5303520" y="3840480"/>
            <a:ext cx="3246120" cy="77724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8.667 blokova, Seq Scan, 411,64 ms</a:t>
            </a:r>
            <a:endParaRPr lang="en-US" sz="1300" dirty="0"/>
          </a:p>
        </p:txBody>
      </p:sp>
      <p:sp>
        <p:nvSpPr>
          <p:cNvPr id="31" name="Text 29"/>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4A1D3F"/>
                </a:solidFill>
                <a:latin typeface="Cambria" pitchFamily="34" charset="0"/>
                <a:ea typeface="Cambria" pitchFamily="34" charset="-122"/>
                <a:cs typeface="Cambria" pitchFamily="34" charset="-120"/>
              </a:rPr>
              <a:t>OLAP: isto pitanje nad tri modela</a:t>
            </a:r>
            <a:endParaRPr lang="en-US" sz="2600" dirty="0"/>
          </a:p>
        </p:txBody>
      </p:sp>
      <p:graphicFrame>
        <p:nvGraphicFramePr>
          <p:cNvPr id="3" name="Chart 0"/>
          <p:cNvGraphicFramePr/>
          <p:nvPr/>
        </p:nvGraphicFramePr>
        <p:xfrm>
          <a:off x="365760" y="1051560"/>
          <a:ext cx="566928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263640" y="1188720"/>
            <a:ext cx="2468880" cy="1417320"/>
          </a:xfrm>
          <a:prstGeom prst="roundRect">
            <a:avLst>
              <a:gd name="adj" fmla="val 5161"/>
            </a:avLst>
          </a:prstGeom>
          <a:solidFill>
            <a:srgbClr val="F4EEF2"/>
          </a:solidFill>
          <a:ln w="12700">
            <a:solidFill>
              <a:srgbClr val="F4EEF2"/>
            </a:solidFill>
            <a:prstDash val="solid"/>
          </a:ln>
        </p:spPr>
        <p:txBody>
          <a:bodyPr/>
          <a:lstStyle/>
          <a:p>
            <a:endParaRPr lang="en-AT"/>
          </a:p>
        </p:txBody>
      </p:sp>
      <p:sp>
        <p:nvSpPr>
          <p:cNvPr id="5" name="Text 2"/>
          <p:cNvSpPr txBox="1"/>
          <p:nvPr/>
        </p:nvSpPr>
        <p:spPr>
          <a:xfrm>
            <a:off x="6446520" y="1234440"/>
            <a:ext cx="2103120" cy="777240"/>
          </a:xfrm>
          <a:prstGeom prst="rect">
            <a:avLst/>
          </a:prstGeom>
          <a:noFill/>
          <a:ln/>
        </p:spPr>
        <p:txBody>
          <a:bodyPr wrap="square" lIns="0" tIns="0" rIns="0" bIns="0" rtlCol="0" anchor="ctr"/>
          <a:lstStyle/>
          <a:p>
            <a:pPr marL="0" indent="0">
              <a:buNone/>
            </a:pPr>
            <a:r>
              <a:rPr lang="en-US" sz="3800" b="1" dirty="0">
                <a:solidFill>
                  <a:srgbClr val="1C8C84"/>
                </a:solidFill>
                <a:latin typeface="Cambria" pitchFamily="34" charset="0"/>
                <a:ea typeface="Cambria" pitchFamily="34" charset="-122"/>
                <a:cs typeface="Cambria" pitchFamily="34" charset="-120"/>
              </a:rPr>
              <a:t>≈ 800×</a:t>
            </a:r>
            <a:endParaRPr lang="en-US" sz="3800" dirty="0"/>
          </a:p>
        </p:txBody>
      </p:sp>
      <p:sp>
        <p:nvSpPr>
          <p:cNvPr id="6" name="Text 3"/>
          <p:cNvSpPr txBox="1"/>
          <p:nvPr/>
        </p:nvSpPr>
        <p:spPr>
          <a:xfrm>
            <a:off x="6446520" y="2011680"/>
            <a:ext cx="2103120" cy="50292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brže sa pogledom; zvezda 3,9×</a:t>
            </a:r>
            <a:endParaRPr lang="en-US" sz="1200" dirty="0"/>
          </a:p>
        </p:txBody>
      </p:sp>
      <p:sp>
        <p:nvSpPr>
          <p:cNvPr id="7" name="Text 4"/>
          <p:cNvSpPr txBox="1"/>
          <p:nvPr/>
        </p:nvSpPr>
        <p:spPr>
          <a:xfrm>
            <a:off x="6309360" y="2834640"/>
            <a:ext cx="237744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Isti rezultat: 128 redova</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7 OLAP upita: 31–275 ms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BRIN 24 kB prema B-tree 4 MB</a:t>
            </a:r>
            <a:endParaRPr lang="en-US" sz="1300" dirty="0"/>
          </a:p>
        </p:txBody>
      </p:sp>
      <p:sp>
        <p:nvSpPr>
          <p:cNvPr id="8" name="Text 5"/>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4A1D3F"/>
                </a:solidFill>
                <a:latin typeface="Cambria" pitchFamily="34" charset="0"/>
                <a:ea typeface="Cambria" pitchFamily="34" charset="-122"/>
                <a:cs typeface="Cambria" pitchFamily="34" charset="-120"/>
              </a:rPr>
              <a:t>Interferencija i svežina podataka</a:t>
            </a:r>
            <a:endParaRPr lang="en-US" sz="2600" dirty="0"/>
          </a:p>
        </p:txBody>
      </p:sp>
      <p:sp>
        <p:nvSpPr>
          <p:cNvPr id="3" name="Shape 1"/>
          <p:cNvSpPr/>
          <p:nvPr/>
        </p:nvSpPr>
        <p:spPr>
          <a:xfrm>
            <a:off x="457200" y="1280160"/>
            <a:ext cx="1885950" cy="2103120"/>
          </a:xfrm>
          <a:prstGeom prst="roundRect">
            <a:avLst>
              <a:gd name="adj" fmla="val 3879"/>
            </a:avLst>
          </a:prstGeom>
          <a:solidFill>
            <a:srgbClr val="F4EEF2"/>
          </a:solidFill>
          <a:ln w="12700">
            <a:solidFill>
              <a:srgbClr val="F4EEF2"/>
            </a:solidFill>
            <a:prstDash val="solid"/>
          </a:ln>
        </p:spPr>
        <p:txBody>
          <a:bodyPr/>
          <a:lstStyle/>
          <a:p>
            <a:endParaRPr lang="en-AT"/>
          </a:p>
        </p:txBody>
      </p:sp>
      <p:sp>
        <p:nvSpPr>
          <p:cNvPr id="4" name="Text 2"/>
          <p:cNvSpPr txBox="1"/>
          <p:nvPr/>
        </p:nvSpPr>
        <p:spPr>
          <a:xfrm>
            <a:off x="594360" y="1417320"/>
            <a:ext cx="1611630" cy="914400"/>
          </a:xfrm>
          <a:prstGeom prst="rect">
            <a:avLst/>
          </a:prstGeom>
          <a:noFill/>
          <a:ln/>
        </p:spPr>
        <p:txBody>
          <a:bodyPr wrap="square" lIns="0" tIns="0" rIns="0" bIns="0" rtlCol="0" anchor="ctr"/>
          <a:lstStyle/>
          <a:p>
            <a:pPr marL="0" indent="0" algn="ctr">
              <a:buNone/>
            </a:pPr>
            <a:r>
              <a:rPr lang="en-US" sz="3600" b="1" dirty="0">
                <a:solidFill>
                  <a:srgbClr val="1C8C84"/>
                </a:solidFill>
                <a:latin typeface="Cambria" pitchFamily="34" charset="0"/>
                <a:ea typeface="Cambria" pitchFamily="34" charset="-122"/>
                <a:cs typeface="Cambria" pitchFamily="34" charset="-120"/>
              </a:rPr>
              <a:t>−21%</a:t>
            </a:r>
            <a:endParaRPr lang="en-US" sz="3600" dirty="0"/>
          </a:p>
        </p:txBody>
      </p:sp>
      <p:sp>
        <p:nvSpPr>
          <p:cNvPr id="5" name="Text 3"/>
          <p:cNvSpPr txBox="1"/>
          <p:nvPr/>
        </p:nvSpPr>
        <p:spPr>
          <a:xfrm>
            <a:off x="594360" y="2377440"/>
            <a:ext cx="1611630" cy="8686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TPS uz 2 analitičke niti (6.254 → 4.953)</a:t>
            </a:r>
            <a:endParaRPr lang="en-US" sz="1300" dirty="0"/>
          </a:p>
        </p:txBody>
      </p:sp>
      <p:sp>
        <p:nvSpPr>
          <p:cNvPr id="6" name="Shape 4"/>
          <p:cNvSpPr/>
          <p:nvPr/>
        </p:nvSpPr>
        <p:spPr>
          <a:xfrm>
            <a:off x="2571750" y="1280160"/>
            <a:ext cx="1885950" cy="2103120"/>
          </a:xfrm>
          <a:prstGeom prst="roundRect">
            <a:avLst>
              <a:gd name="adj" fmla="val 3879"/>
            </a:avLst>
          </a:prstGeom>
          <a:solidFill>
            <a:srgbClr val="F4EEF2"/>
          </a:solidFill>
          <a:ln w="12700">
            <a:solidFill>
              <a:srgbClr val="F4EEF2"/>
            </a:solidFill>
            <a:prstDash val="solid"/>
          </a:ln>
        </p:spPr>
        <p:txBody>
          <a:bodyPr/>
          <a:lstStyle/>
          <a:p>
            <a:endParaRPr lang="en-AT"/>
          </a:p>
        </p:txBody>
      </p:sp>
      <p:sp>
        <p:nvSpPr>
          <p:cNvPr id="7" name="Text 5"/>
          <p:cNvSpPr txBox="1"/>
          <p:nvPr/>
        </p:nvSpPr>
        <p:spPr>
          <a:xfrm>
            <a:off x="2708910" y="1417320"/>
            <a:ext cx="1611630" cy="914400"/>
          </a:xfrm>
          <a:prstGeom prst="rect">
            <a:avLst/>
          </a:prstGeom>
          <a:noFill/>
          <a:ln/>
        </p:spPr>
        <p:txBody>
          <a:bodyPr wrap="square" lIns="0" tIns="0" rIns="0" bIns="0" rtlCol="0" anchor="ctr"/>
          <a:lstStyle/>
          <a:p>
            <a:pPr marL="0" indent="0" algn="ctr">
              <a:buNone/>
            </a:pPr>
            <a:r>
              <a:rPr lang="en-US" sz="3600" b="1" dirty="0">
                <a:solidFill>
                  <a:srgbClr val="4A1D3F"/>
                </a:solidFill>
                <a:latin typeface="Cambria" pitchFamily="34" charset="0"/>
                <a:ea typeface="Cambria" pitchFamily="34" charset="-122"/>
                <a:cs typeface="Cambria" pitchFamily="34" charset="-120"/>
              </a:rPr>
              <a:t>1,2×</a:t>
            </a:r>
            <a:endParaRPr lang="en-US" sz="3600" dirty="0"/>
          </a:p>
        </p:txBody>
      </p:sp>
      <p:sp>
        <p:nvSpPr>
          <p:cNvPr id="8" name="Text 6"/>
          <p:cNvSpPr txBox="1"/>
          <p:nvPr/>
        </p:nvSpPr>
        <p:spPr>
          <a:xfrm>
            <a:off x="2708910" y="2377440"/>
            <a:ext cx="1611630" cy="8686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veća p95 latencija (1,35 → 1,67 ms)</a:t>
            </a:r>
            <a:endParaRPr lang="en-US" sz="1300" dirty="0"/>
          </a:p>
        </p:txBody>
      </p:sp>
      <p:sp>
        <p:nvSpPr>
          <p:cNvPr id="9" name="Shape 7"/>
          <p:cNvSpPr/>
          <p:nvPr/>
        </p:nvSpPr>
        <p:spPr>
          <a:xfrm>
            <a:off x="4686300" y="1280160"/>
            <a:ext cx="1885950" cy="2103120"/>
          </a:xfrm>
          <a:prstGeom prst="roundRect">
            <a:avLst>
              <a:gd name="adj" fmla="val 3879"/>
            </a:avLst>
          </a:prstGeom>
          <a:solidFill>
            <a:srgbClr val="F4EEF2"/>
          </a:solidFill>
          <a:ln w="12700">
            <a:solidFill>
              <a:srgbClr val="F4EEF2"/>
            </a:solidFill>
            <a:prstDash val="solid"/>
          </a:ln>
        </p:spPr>
        <p:txBody>
          <a:bodyPr/>
          <a:lstStyle/>
          <a:p>
            <a:endParaRPr lang="en-AT"/>
          </a:p>
        </p:txBody>
      </p:sp>
      <p:sp>
        <p:nvSpPr>
          <p:cNvPr id="10" name="Text 8"/>
          <p:cNvSpPr txBox="1"/>
          <p:nvPr/>
        </p:nvSpPr>
        <p:spPr>
          <a:xfrm>
            <a:off x="4823460" y="1417320"/>
            <a:ext cx="1611630" cy="914400"/>
          </a:xfrm>
          <a:prstGeom prst="rect">
            <a:avLst/>
          </a:prstGeom>
          <a:noFill/>
          <a:ln/>
        </p:spPr>
        <p:txBody>
          <a:bodyPr wrap="square" lIns="0" tIns="0" rIns="0" bIns="0" rtlCol="0" anchor="ctr"/>
          <a:lstStyle/>
          <a:p>
            <a:pPr marL="0" indent="0" algn="ctr">
              <a:buNone/>
            </a:pPr>
            <a:r>
              <a:rPr lang="en-US" sz="3600" b="1" dirty="0">
                <a:solidFill>
                  <a:srgbClr val="4A1D3F"/>
                </a:solidFill>
                <a:latin typeface="Cambria" pitchFamily="34" charset="0"/>
                <a:ea typeface="Cambria" pitchFamily="34" charset="-122"/>
                <a:cs typeface="Cambria" pitchFamily="34" charset="-120"/>
              </a:rPr>
              <a:t>42%</a:t>
            </a:r>
            <a:endParaRPr lang="en-US" sz="3600" dirty="0"/>
          </a:p>
        </p:txBody>
      </p:sp>
      <p:sp>
        <p:nvSpPr>
          <p:cNvPr id="11" name="Text 9"/>
          <p:cNvSpPr txBox="1"/>
          <p:nvPr/>
        </p:nvSpPr>
        <p:spPr>
          <a:xfrm>
            <a:off x="4823460" y="2377440"/>
            <a:ext cx="1611630" cy="8686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današnjih narudžbina u skladištu pre ETL-a</a:t>
            </a:r>
            <a:endParaRPr lang="en-US" sz="1300" dirty="0"/>
          </a:p>
        </p:txBody>
      </p:sp>
      <p:sp>
        <p:nvSpPr>
          <p:cNvPr id="12" name="Shape 10"/>
          <p:cNvSpPr/>
          <p:nvPr/>
        </p:nvSpPr>
        <p:spPr>
          <a:xfrm>
            <a:off x="6800850" y="1280160"/>
            <a:ext cx="1885950" cy="2103120"/>
          </a:xfrm>
          <a:prstGeom prst="roundRect">
            <a:avLst>
              <a:gd name="adj" fmla="val 3879"/>
            </a:avLst>
          </a:prstGeom>
          <a:solidFill>
            <a:srgbClr val="F4EEF2"/>
          </a:solidFill>
          <a:ln w="12700">
            <a:solidFill>
              <a:srgbClr val="F4EEF2"/>
            </a:solidFill>
            <a:prstDash val="solid"/>
          </a:ln>
        </p:spPr>
        <p:txBody>
          <a:bodyPr/>
          <a:lstStyle/>
          <a:p>
            <a:endParaRPr lang="en-AT"/>
          </a:p>
        </p:txBody>
      </p:sp>
      <p:sp>
        <p:nvSpPr>
          <p:cNvPr id="13" name="Text 11"/>
          <p:cNvSpPr txBox="1"/>
          <p:nvPr/>
        </p:nvSpPr>
        <p:spPr>
          <a:xfrm>
            <a:off x="6938010" y="1417320"/>
            <a:ext cx="1611630" cy="914400"/>
          </a:xfrm>
          <a:prstGeom prst="rect">
            <a:avLst/>
          </a:prstGeom>
          <a:noFill/>
          <a:ln/>
        </p:spPr>
        <p:txBody>
          <a:bodyPr wrap="square" lIns="0" tIns="0" rIns="0" bIns="0" rtlCol="0" anchor="ctr"/>
          <a:lstStyle/>
          <a:p>
            <a:pPr marL="0" indent="0" algn="ctr">
              <a:buNone/>
            </a:pPr>
            <a:r>
              <a:rPr lang="en-US" sz="3600" b="1" dirty="0">
                <a:solidFill>
                  <a:srgbClr val="4A1D3F"/>
                </a:solidFill>
                <a:latin typeface="Cambria" pitchFamily="34" charset="0"/>
                <a:ea typeface="Cambria" pitchFamily="34" charset="-122"/>
                <a:cs typeface="Cambria" pitchFamily="34" charset="-120"/>
              </a:rPr>
              <a:t>1,26 s</a:t>
            </a:r>
            <a:endParaRPr lang="en-US" sz="3600" dirty="0"/>
          </a:p>
        </p:txBody>
      </p:sp>
      <p:sp>
        <p:nvSpPr>
          <p:cNvPr id="14" name="Text 12"/>
          <p:cNvSpPr txBox="1"/>
          <p:nvPr/>
        </p:nvSpPr>
        <p:spPr>
          <a:xfrm>
            <a:off x="6938010" y="2377440"/>
            <a:ext cx="1611630" cy="868680"/>
          </a:xfrm>
          <a:prstGeom prst="rect">
            <a:avLst/>
          </a:prstGeom>
          <a:noFill/>
          <a:ln/>
        </p:spPr>
        <p:txBody>
          <a:bodyPr wrap="square" lIns="0" tIns="0" rIns="0" bIns="0" rtlCol="0" anchor="t"/>
          <a:lstStyle/>
          <a:p>
            <a:pPr marL="0" indent="0" algn="ctr">
              <a:buNone/>
            </a:pPr>
            <a:r>
              <a:rPr lang="en-US" sz="1300" dirty="0">
                <a:solidFill>
                  <a:srgbClr val="1F2937"/>
                </a:solidFill>
                <a:latin typeface="Calibri" pitchFamily="34" charset="0"/>
                <a:ea typeface="Calibri" pitchFamily="34" charset="-122"/>
                <a:cs typeface="Calibri" pitchFamily="34" charset="-120"/>
              </a:rPr>
              <a:t>inkrementalni ETL, 125.013 redova</a:t>
            </a:r>
            <a:endParaRPr lang="en-US" sz="1300" dirty="0"/>
          </a:p>
        </p:txBody>
      </p:sp>
      <p:sp>
        <p:nvSpPr>
          <p:cNvPr id="15" name="Shape 13"/>
          <p:cNvSpPr/>
          <p:nvPr/>
        </p:nvSpPr>
        <p:spPr>
          <a:xfrm>
            <a:off x="457200" y="3840480"/>
            <a:ext cx="457200" cy="457200"/>
          </a:xfrm>
          <a:prstGeom prst="ellipse">
            <a:avLst/>
          </a:prstGeom>
          <a:solidFill>
            <a:srgbClr val="4A1D3F"/>
          </a:solidFill>
          <a:ln w="12700">
            <a:solidFill>
              <a:srgbClr val="4A1D3F"/>
            </a:solidFill>
            <a:prstDash val="solid"/>
          </a:ln>
        </p:spPr>
        <p:txBody>
          <a:bodyPr/>
          <a:lstStyle/>
          <a:p>
            <a:endParaRPr lang="en-AT"/>
          </a:p>
        </p:txBody>
      </p:sp>
      <p:sp>
        <p:nvSpPr>
          <p:cNvPr id="16" name="Text 14"/>
          <p:cNvSpPr txBox="1"/>
          <p:nvPr/>
        </p:nvSpPr>
        <p:spPr>
          <a:xfrm>
            <a:off x="457200" y="3840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17" name="Text 15"/>
          <p:cNvSpPr txBox="1"/>
          <p:nvPr/>
        </p:nvSpPr>
        <p:spPr>
          <a:xfrm>
            <a:off x="1097280" y="3794760"/>
            <a:ext cx="7589520" cy="548640"/>
          </a:xfrm>
          <a:prstGeom prst="rect">
            <a:avLst/>
          </a:prstGeom>
          <a:noFill/>
          <a:ln/>
        </p:spPr>
        <p:txBody>
          <a:bodyPr wrap="square" lIns="0" tIns="0" rIns="0" bIns="0" rtlCol="0" anchor="ctr"/>
          <a:lstStyle/>
          <a:p>
            <a:pPr marL="0" indent="0">
              <a:buNone/>
            </a:pPr>
            <a:r>
              <a:rPr lang="en-US" sz="1500" i="1" dirty="0">
                <a:solidFill>
                  <a:srgbClr val="1F2937"/>
                </a:solidFill>
                <a:latin typeface="Calibri" pitchFamily="34" charset="0"/>
                <a:ea typeface="Calibri" pitchFamily="34" charset="-122"/>
                <a:cs typeface="Calibri" pitchFamily="34" charset="-120"/>
              </a:rPr>
              <a:t>Razdvajanje štiti transakcije, ali skladište kasni do sledećeg učitavanja</a:t>
            </a:r>
            <a:endParaRPr lang="en-US" sz="1500" dirty="0"/>
          </a:p>
        </p:txBody>
      </p:sp>
      <p:sp>
        <p:nvSpPr>
          <p:cNvPr id="18" name="Text 16"/>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4A1D3F"/>
                </a:solidFill>
                <a:latin typeface="Cambria" pitchFamily="34" charset="0"/>
                <a:ea typeface="Cambria" pitchFamily="34" charset="-122"/>
                <a:cs typeface="Cambria" pitchFamily="34" charset="-120"/>
              </a:rPr>
              <a:t>Diskusija i ograničenja</a:t>
            </a:r>
            <a:endParaRPr lang="en-US" sz="2600" dirty="0"/>
          </a:p>
        </p:txBody>
      </p:sp>
      <p:sp>
        <p:nvSpPr>
          <p:cNvPr id="3" name="Shape 1"/>
          <p:cNvSpPr/>
          <p:nvPr/>
        </p:nvSpPr>
        <p:spPr>
          <a:xfrm>
            <a:off x="457200" y="1188720"/>
            <a:ext cx="3977640" cy="3520440"/>
          </a:xfrm>
          <a:prstGeom prst="roundRect">
            <a:avLst>
              <a:gd name="adj" fmla="val 2078"/>
            </a:avLst>
          </a:prstGeom>
          <a:solidFill>
            <a:srgbClr val="F4EEF2"/>
          </a:solidFill>
          <a:ln w="12700">
            <a:solidFill>
              <a:srgbClr val="F4EEF2"/>
            </a:solidFill>
            <a:prstDash val="solid"/>
          </a:ln>
        </p:spPr>
        <p:txBody>
          <a:bodyPr/>
          <a:lstStyle/>
          <a:p>
            <a:endParaRPr lang="en-AT"/>
          </a:p>
        </p:txBody>
      </p:sp>
      <p:sp>
        <p:nvSpPr>
          <p:cNvPr id="4" name="Shape 2"/>
          <p:cNvSpPr/>
          <p:nvPr/>
        </p:nvSpPr>
        <p:spPr>
          <a:xfrm>
            <a:off x="685800" y="1371600"/>
            <a:ext cx="457200" cy="457200"/>
          </a:xfrm>
          <a:prstGeom prst="ellipse">
            <a:avLst/>
          </a:prstGeom>
          <a:solidFill>
            <a:srgbClr val="1C8C84"/>
          </a:solidFill>
          <a:ln w="12700">
            <a:solidFill>
              <a:srgbClr val="1C8C84"/>
            </a:solidFill>
            <a:prstDash val="solid"/>
          </a:ln>
        </p:spPr>
        <p:txBody>
          <a:bodyPr/>
          <a:lstStyle/>
          <a:p>
            <a:endParaRPr lang="en-AT"/>
          </a:p>
        </p:txBody>
      </p:sp>
      <p:sp>
        <p:nvSpPr>
          <p:cNvPr id="5" name="Text 3"/>
          <p:cNvSpPr txBox="1"/>
          <p:nvPr/>
        </p:nvSpPr>
        <p:spPr>
          <a:xfrm>
            <a:off x="685800" y="13716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6" name="Text 4"/>
          <p:cNvSpPr txBox="1"/>
          <p:nvPr/>
        </p:nvSpPr>
        <p:spPr>
          <a:xfrm>
            <a:off x="1280160" y="1371600"/>
            <a:ext cx="2971800" cy="457200"/>
          </a:xfrm>
          <a:prstGeom prst="rect">
            <a:avLst/>
          </a:prstGeom>
          <a:noFill/>
          <a:ln/>
        </p:spPr>
        <p:txBody>
          <a:bodyPr wrap="square" lIns="0" tIns="0" rIns="0" bIns="0" rtlCol="0" anchor="ctr"/>
          <a:lstStyle/>
          <a:p>
            <a:pPr marL="0" indent="0">
              <a:buNone/>
            </a:pPr>
            <a:r>
              <a:rPr lang="en-US" sz="1800" b="1" dirty="0">
                <a:solidFill>
                  <a:srgbClr val="4A1D3F"/>
                </a:solidFill>
                <a:latin typeface="Calibri" pitchFamily="34" charset="0"/>
                <a:ea typeface="Calibri" pitchFamily="34" charset="-122"/>
                <a:cs typeface="Calibri" pitchFamily="34" charset="-120"/>
              </a:rPr>
              <a:t>Zapažanja</a:t>
            </a:r>
            <a:endParaRPr lang="en-US" sz="1800" dirty="0"/>
          </a:p>
        </p:txBody>
      </p:sp>
      <p:sp>
        <p:nvSpPr>
          <p:cNvPr id="7" name="Text 5"/>
          <p:cNvSpPr txBox="1"/>
          <p:nvPr/>
        </p:nvSpPr>
        <p:spPr>
          <a:xfrm>
            <a:off x="731520" y="2011680"/>
            <a:ext cx="3474720" cy="2606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PostgreSQL uz pravilne transakcije čuva ACID i pri konkurenciji</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Denormalizacija i pre-agregacija ubrzavaju analitiku</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Analitika na OLTP bazi usporava transakcije</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Svežina skladišta zavisi od učestalosti ETL-a</a:t>
            </a:r>
            <a:endParaRPr lang="en-US" sz="1400" dirty="0"/>
          </a:p>
        </p:txBody>
      </p:sp>
      <p:sp>
        <p:nvSpPr>
          <p:cNvPr id="8" name="Shape 6"/>
          <p:cNvSpPr/>
          <p:nvPr/>
        </p:nvSpPr>
        <p:spPr>
          <a:xfrm>
            <a:off x="4709160" y="1188720"/>
            <a:ext cx="3977640" cy="3520440"/>
          </a:xfrm>
          <a:prstGeom prst="roundRect">
            <a:avLst>
              <a:gd name="adj" fmla="val 2078"/>
            </a:avLst>
          </a:prstGeom>
          <a:solidFill>
            <a:srgbClr val="F4EEF2"/>
          </a:solidFill>
          <a:ln w="12700">
            <a:solidFill>
              <a:srgbClr val="F4EEF2"/>
            </a:solidFill>
            <a:prstDash val="solid"/>
          </a:ln>
        </p:spPr>
        <p:txBody>
          <a:bodyPr/>
          <a:lstStyle/>
          <a:p>
            <a:endParaRPr lang="en-AT"/>
          </a:p>
        </p:txBody>
      </p:sp>
      <p:sp>
        <p:nvSpPr>
          <p:cNvPr id="9" name="Shape 7"/>
          <p:cNvSpPr/>
          <p:nvPr/>
        </p:nvSpPr>
        <p:spPr>
          <a:xfrm>
            <a:off x="4937760" y="1371600"/>
            <a:ext cx="457200" cy="457200"/>
          </a:xfrm>
          <a:prstGeom prst="ellipse">
            <a:avLst/>
          </a:prstGeom>
          <a:solidFill>
            <a:srgbClr val="4A1D3F"/>
          </a:solidFill>
          <a:ln w="12700">
            <a:solidFill>
              <a:srgbClr val="4A1D3F"/>
            </a:solidFill>
            <a:prstDash val="solid"/>
          </a:ln>
        </p:spPr>
        <p:txBody>
          <a:bodyPr/>
          <a:lstStyle/>
          <a:p>
            <a:endParaRPr lang="en-AT"/>
          </a:p>
        </p:txBody>
      </p:sp>
      <p:sp>
        <p:nvSpPr>
          <p:cNvPr id="10" name="Text 8"/>
          <p:cNvSpPr txBox="1"/>
          <p:nvPr/>
        </p:nvSpPr>
        <p:spPr>
          <a:xfrm>
            <a:off x="4937760" y="13716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9"/>
          <p:cNvSpPr txBox="1"/>
          <p:nvPr/>
        </p:nvSpPr>
        <p:spPr>
          <a:xfrm>
            <a:off x="5532120" y="1371600"/>
            <a:ext cx="2971800" cy="457200"/>
          </a:xfrm>
          <a:prstGeom prst="rect">
            <a:avLst/>
          </a:prstGeom>
          <a:noFill/>
          <a:ln/>
        </p:spPr>
        <p:txBody>
          <a:bodyPr wrap="square" lIns="0" tIns="0" rIns="0" bIns="0" rtlCol="0" anchor="ctr"/>
          <a:lstStyle/>
          <a:p>
            <a:pPr marL="0" indent="0">
              <a:buNone/>
            </a:pPr>
            <a:r>
              <a:rPr lang="en-US" sz="1800" b="1" dirty="0">
                <a:solidFill>
                  <a:srgbClr val="4A1D3F"/>
                </a:solidFill>
                <a:latin typeface="Calibri" pitchFamily="34" charset="0"/>
                <a:ea typeface="Calibri" pitchFamily="34" charset="-122"/>
                <a:cs typeface="Calibri" pitchFamily="34" charset="-120"/>
              </a:rPr>
              <a:t>Ograničenja</a:t>
            </a:r>
            <a:endParaRPr lang="en-US" sz="1800" dirty="0"/>
          </a:p>
        </p:txBody>
      </p:sp>
      <p:sp>
        <p:nvSpPr>
          <p:cNvPr id="12" name="Text 10"/>
          <p:cNvSpPr txBox="1"/>
          <p:nvPr/>
        </p:nvSpPr>
        <p:spPr>
          <a:xfrm>
            <a:off x="4983480" y="2011680"/>
            <a:ext cx="3474720" cy="2606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Obe šeme i klijenti na istom računaru</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OLTP testovi utiču na analitiku tekućeg meseca</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Iscrpljivanje zaliha menja uslove između testova</a:t>
            </a:r>
            <a:endParaRPr lang="en-US" sz="1400" dirty="0"/>
          </a:p>
          <a:p>
            <a:pPr marL="177800" indent="-1778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Redno skladištenje – ne predstavlja kolonske baze</a:t>
            </a:r>
            <a:endParaRPr lang="en-US" sz="1400" dirty="0"/>
          </a:p>
        </p:txBody>
      </p:sp>
      <p:sp>
        <p:nvSpPr>
          <p:cNvPr id="13" name="Text 11"/>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1D3F"/>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Zaključak</a:t>
            </a:r>
            <a:endParaRPr lang="en-US" sz="2600" dirty="0"/>
          </a:p>
        </p:txBody>
      </p:sp>
      <p:sp>
        <p:nvSpPr>
          <p:cNvPr id="3" name="Shape 1"/>
          <p:cNvSpPr/>
          <p:nvPr/>
        </p:nvSpPr>
        <p:spPr>
          <a:xfrm>
            <a:off x="457200" y="1188720"/>
            <a:ext cx="2560320" cy="2514600"/>
          </a:xfrm>
          <a:prstGeom prst="roundRect">
            <a:avLst>
              <a:gd name="adj" fmla="val 2909"/>
            </a:avLst>
          </a:prstGeom>
          <a:solidFill>
            <a:srgbClr val="FFFFFF">
              <a:alpha val="12000"/>
            </a:srgbClr>
          </a:solidFill>
          <a:ln w="12700">
            <a:solidFill>
              <a:srgbClr val="FFFFFF">
                <a:alpha val="12000"/>
              </a:srgbClr>
            </a:solidFill>
            <a:prstDash val="solid"/>
          </a:ln>
        </p:spPr>
        <p:txBody>
          <a:bodyPr/>
          <a:lstStyle/>
          <a:p>
            <a:endParaRPr lang="en-AT"/>
          </a:p>
        </p:txBody>
      </p:sp>
      <p:sp>
        <p:nvSpPr>
          <p:cNvPr id="4" name="Shape 2"/>
          <p:cNvSpPr/>
          <p:nvPr/>
        </p:nvSpPr>
        <p:spPr>
          <a:xfrm>
            <a:off x="685800" y="1371600"/>
            <a:ext cx="502920" cy="502920"/>
          </a:xfrm>
          <a:prstGeom prst="ellipse">
            <a:avLst/>
          </a:prstGeom>
          <a:solidFill>
            <a:srgbClr val="1C8C84"/>
          </a:solidFill>
          <a:ln w="12700">
            <a:solidFill>
              <a:srgbClr val="1C8C84"/>
            </a:solidFill>
            <a:prstDash val="solid"/>
          </a:ln>
        </p:spPr>
        <p:txBody>
          <a:bodyPr/>
          <a:lstStyle/>
          <a:p>
            <a:endParaRPr lang="en-AT"/>
          </a:p>
        </p:txBody>
      </p:sp>
      <p:sp>
        <p:nvSpPr>
          <p:cNvPr id="5" name="Text 3"/>
          <p:cNvSpPr txBox="1"/>
          <p:nvPr/>
        </p:nvSpPr>
        <p:spPr>
          <a:xfrm>
            <a:off x="685800" y="137160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25880" y="1371600"/>
            <a:ext cx="155448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Šta je urađeno</a:t>
            </a:r>
            <a:endParaRPr lang="en-US" sz="1700" dirty="0"/>
          </a:p>
        </p:txBody>
      </p:sp>
      <p:sp>
        <p:nvSpPr>
          <p:cNvPr id="7" name="Text 5"/>
          <p:cNvSpPr txBox="1"/>
          <p:nvPr/>
        </p:nvSpPr>
        <p:spPr>
          <a:xfrm>
            <a:off x="685800" y="2011680"/>
            <a:ext cx="2103120" cy="1600200"/>
          </a:xfrm>
          <a:prstGeom prst="rect">
            <a:avLst/>
          </a:prstGeom>
          <a:noFill/>
          <a:ln/>
        </p:spPr>
        <p:txBody>
          <a:bodyPr wrap="square" lIns="0" tIns="0" rIns="0" bIns="0" rtlCol="0" anchor="t"/>
          <a:lstStyle/>
          <a:p>
            <a:pPr marL="0" indent="0">
              <a:buNone/>
            </a:pPr>
            <a:r>
              <a:rPr lang="en-US" sz="1400" dirty="0">
                <a:solidFill>
                  <a:srgbClr val="E5E9F0"/>
                </a:solidFill>
                <a:latin typeface="Calibri" pitchFamily="34" charset="0"/>
                <a:ea typeface="Calibri" pitchFamily="34" charset="-122"/>
                <a:cs typeface="Calibri" pitchFamily="34" charset="-120"/>
              </a:rPr>
              <a:t>Izmerene razlike OLTP i OLAP obrade, uticaj analitike i svežina skladišta.</a:t>
            </a:r>
            <a:endParaRPr lang="en-US" sz="1400" dirty="0"/>
          </a:p>
        </p:txBody>
      </p:sp>
      <p:sp>
        <p:nvSpPr>
          <p:cNvPr id="8" name="Shape 6"/>
          <p:cNvSpPr/>
          <p:nvPr/>
        </p:nvSpPr>
        <p:spPr>
          <a:xfrm>
            <a:off x="3291840" y="1188720"/>
            <a:ext cx="2560320" cy="2514600"/>
          </a:xfrm>
          <a:prstGeom prst="roundRect">
            <a:avLst>
              <a:gd name="adj" fmla="val 2909"/>
            </a:avLst>
          </a:prstGeom>
          <a:solidFill>
            <a:srgbClr val="FFFFFF">
              <a:alpha val="12000"/>
            </a:srgbClr>
          </a:solidFill>
          <a:ln w="12700">
            <a:solidFill>
              <a:srgbClr val="FFFFFF">
                <a:alpha val="12000"/>
              </a:srgbClr>
            </a:solidFill>
            <a:prstDash val="solid"/>
          </a:ln>
        </p:spPr>
        <p:txBody>
          <a:bodyPr/>
          <a:lstStyle/>
          <a:p>
            <a:endParaRPr lang="en-AT"/>
          </a:p>
        </p:txBody>
      </p:sp>
      <p:sp>
        <p:nvSpPr>
          <p:cNvPr id="9" name="Shape 7"/>
          <p:cNvSpPr/>
          <p:nvPr/>
        </p:nvSpPr>
        <p:spPr>
          <a:xfrm>
            <a:off x="3520440" y="1371600"/>
            <a:ext cx="502920" cy="502920"/>
          </a:xfrm>
          <a:prstGeom prst="ellipse">
            <a:avLst/>
          </a:prstGeom>
          <a:solidFill>
            <a:srgbClr val="1C8C84"/>
          </a:solidFill>
          <a:ln w="12700">
            <a:solidFill>
              <a:srgbClr val="1C8C84"/>
            </a:solidFill>
            <a:prstDash val="solid"/>
          </a:ln>
        </p:spPr>
        <p:txBody>
          <a:bodyPr/>
          <a:lstStyle/>
          <a:p>
            <a:endParaRPr lang="en-AT"/>
          </a:p>
        </p:txBody>
      </p:sp>
      <p:sp>
        <p:nvSpPr>
          <p:cNvPr id="10" name="Text 8"/>
          <p:cNvSpPr txBox="1"/>
          <p:nvPr/>
        </p:nvSpPr>
        <p:spPr>
          <a:xfrm>
            <a:off x="3520440" y="137160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4160520" y="1371600"/>
            <a:ext cx="155448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Kako</a:t>
            </a:r>
            <a:endParaRPr lang="en-US" sz="1700" dirty="0"/>
          </a:p>
        </p:txBody>
      </p:sp>
      <p:sp>
        <p:nvSpPr>
          <p:cNvPr id="12" name="Text 10"/>
          <p:cNvSpPr txBox="1"/>
          <p:nvPr/>
        </p:nvSpPr>
        <p:spPr>
          <a:xfrm>
            <a:off x="3520440" y="2011680"/>
            <a:ext cx="2103120" cy="1600200"/>
          </a:xfrm>
          <a:prstGeom prst="rect">
            <a:avLst/>
          </a:prstGeom>
          <a:noFill/>
          <a:ln/>
        </p:spPr>
        <p:txBody>
          <a:bodyPr wrap="square" lIns="0" tIns="0" rIns="0" bIns="0" rtlCol="0" anchor="t"/>
          <a:lstStyle/>
          <a:p>
            <a:pPr marL="0" indent="0">
              <a:buNone/>
            </a:pPr>
            <a:r>
              <a:rPr lang="en-US" sz="1400" dirty="0">
                <a:solidFill>
                  <a:srgbClr val="E5E9F0"/>
                </a:solidFill>
                <a:latin typeface="Calibri" pitchFamily="34" charset="0"/>
                <a:ea typeface="Calibri" pitchFamily="34" charset="-122"/>
                <a:cs typeface="Calibri" pitchFamily="34" charset="-120"/>
              </a:rPr>
              <a:t>Skripta: 3NF baza, konkurentni klijenti i ACID provere, ETL, OLAP upiti, merenja.</a:t>
            </a:r>
            <a:endParaRPr lang="en-US" sz="1400" dirty="0"/>
          </a:p>
        </p:txBody>
      </p:sp>
      <p:sp>
        <p:nvSpPr>
          <p:cNvPr id="13" name="Shape 11"/>
          <p:cNvSpPr/>
          <p:nvPr/>
        </p:nvSpPr>
        <p:spPr>
          <a:xfrm>
            <a:off x="6126480" y="1188720"/>
            <a:ext cx="2560320" cy="2514600"/>
          </a:xfrm>
          <a:prstGeom prst="roundRect">
            <a:avLst>
              <a:gd name="adj" fmla="val 2909"/>
            </a:avLst>
          </a:prstGeom>
          <a:solidFill>
            <a:srgbClr val="FFFFFF">
              <a:alpha val="12000"/>
            </a:srgbClr>
          </a:solidFill>
          <a:ln w="12700">
            <a:solidFill>
              <a:srgbClr val="FFFFFF">
                <a:alpha val="12000"/>
              </a:srgbClr>
            </a:solidFill>
            <a:prstDash val="solid"/>
          </a:ln>
        </p:spPr>
        <p:txBody>
          <a:bodyPr/>
          <a:lstStyle/>
          <a:p>
            <a:endParaRPr lang="en-AT"/>
          </a:p>
        </p:txBody>
      </p:sp>
      <p:sp>
        <p:nvSpPr>
          <p:cNvPr id="14" name="Shape 12"/>
          <p:cNvSpPr/>
          <p:nvPr/>
        </p:nvSpPr>
        <p:spPr>
          <a:xfrm>
            <a:off x="6355080" y="1371600"/>
            <a:ext cx="502920" cy="502920"/>
          </a:xfrm>
          <a:prstGeom prst="ellipse">
            <a:avLst/>
          </a:prstGeom>
          <a:solidFill>
            <a:srgbClr val="1C8C84"/>
          </a:solidFill>
          <a:ln w="12700">
            <a:solidFill>
              <a:srgbClr val="1C8C84"/>
            </a:solidFill>
            <a:prstDash val="solid"/>
          </a:ln>
        </p:spPr>
        <p:txBody>
          <a:bodyPr/>
          <a:lstStyle/>
          <a:p>
            <a:endParaRPr lang="en-AT"/>
          </a:p>
        </p:txBody>
      </p:sp>
      <p:sp>
        <p:nvSpPr>
          <p:cNvPr id="15" name="Text 13"/>
          <p:cNvSpPr txBox="1"/>
          <p:nvPr/>
        </p:nvSpPr>
        <p:spPr>
          <a:xfrm>
            <a:off x="6355080" y="137160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6995160" y="1371600"/>
            <a:ext cx="155448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Rezultati</a:t>
            </a:r>
            <a:endParaRPr lang="en-US" sz="1700" dirty="0"/>
          </a:p>
        </p:txBody>
      </p:sp>
      <p:sp>
        <p:nvSpPr>
          <p:cNvPr id="17" name="Text 15"/>
          <p:cNvSpPr txBox="1"/>
          <p:nvPr/>
        </p:nvSpPr>
        <p:spPr>
          <a:xfrm>
            <a:off x="6355080" y="2011680"/>
            <a:ext cx="2103120" cy="1600200"/>
          </a:xfrm>
          <a:prstGeom prst="rect">
            <a:avLst/>
          </a:prstGeom>
          <a:noFill/>
          <a:ln/>
        </p:spPr>
        <p:txBody>
          <a:bodyPr wrap="square" lIns="0" tIns="0" rIns="0" bIns="0" rtlCol="0" anchor="t"/>
          <a:lstStyle/>
          <a:p>
            <a:pPr marL="0" indent="0">
              <a:buNone/>
            </a:pPr>
            <a:r>
              <a:rPr lang="en-US" sz="1400" dirty="0">
                <a:solidFill>
                  <a:srgbClr val="E5E9F0"/>
                </a:solidFill>
                <a:latin typeface="Calibri" pitchFamily="34" charset="0"/>
                <a:ea typeface="Calibri" pitchFamily="34" charset="-122"/>
                <a:cs typeface="Calibri" pitchFamily="34" charset="-120"/>
              </a:rPr>
              <a:t>6.035 TPS; 3NF 340,5 → pogled 0,4 ms; −21% TPS uz analitiku.</a:t>
            </a:r>
            <a:endParaRPr lang="en-US" sz="1400" dirty="0"/>
          </a:p>
        </p:txBody>
      </p:sp>
      <p:sp>
        <p:nvSpPr>
          <p:cNvPr id="18" name="Text 16"/>
          <p:cNvSpPr txBox="1"/>
          <p:nvPr/>
        </p:nvSpPr>
        <p:spPr>
          <a:xfrm>
            <a:off x="457200" y="3977640"/>
            <a:ext cx="8229600" cy="640080"/>
          </a:xfrm>
          <a:prstGeom prst="rect">
            <a:avLst/>
          </a:prstGeom>
          <a:noFill/>
          <a:ln/>
        </p:spPr>
        <p:txBody>
          <a:bodyPr wrap="square" lIns="0" tIns="0" rIns="0" bIns="0" rtlCol="0" anchor="ctr"/>
          <a:lstStyle/>
          <a:p>
            <a:pPr marL="0" indent="0" algn="ctr">
              <a:buNone/>
            </a:pPr>
            <a:r>
              <a:rPr lang="en-US" sz="2800" b="1" dirty="0">
                <a:solidFill>
                  <a:srgbClr val="1C8C84"/>
                </a:solidFill>
                <a:latin typeface="Cambria" pitchFamily="34" charset="0"/>
                <a:ea typeface="Cambria" pitchFamily="34" charset="-122"/>
                <a:cs typeface="Cambria" pitchFamily="34" charset="-120"/>
              </a:rPr>
              <a:t>Hvala na </a:t>
            </a:r>
            <a:r>
              <a:rPr lang="en-US" sz="2800" b="1" dirty="0" err="1">
                <a:solidFill>
                  <a:srgbClr val="1C8C84"/>
                </a:solidFill>
                <a:latin typeface="Cambria" pitchFamily="34" charset="0"/>
                <a:ea typeface="Cambria" pitchFamily="34" charset="-122"/>
                <a:cs typeface="Cambria" pitchFamily="34" charset="-120"/>
              </a:rPr>
              <a:t>pažnji</a:t>
            </a:r>
            <a:r>
              <a:rPr lang="en-US" sz="2800" b="1" dirty="0">
                <a:solidFill>
                  <a:srgbClr val="1C8C84"/>
                </a:solidFill>
                <a:latin typeface="Cambria" pitchFamily="34" charset="0"/>
                <a:ea typeface="Cambria" pitchFamily="34" charset="-122"/>
                <a:cs typeface="Cambria" pitchFamily="34" charset="-120"/>
              </a:rPr>
              <a:t>!</a:t>
            </a:r>
            <a:endParaRPr lang="en-US" sz="2800" dirty="0"/>
          </a:p>
        </p:txBody>
      </p:sp>
      <p:sp>
        <p:nvSpPr>
          <p:cNvPr id="19" name="Text 17"/>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C7CFDD"/>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2038</Words>
  <Application>Microsoft Office PowerPoint</Application>
  <PresentationFormat>On-screen Show (16:9)</PresentationFormat>
  <Paragraphs>164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OLTP i OLAP sistemi</dc:title>
  <dc:subject>PptxGenJS Presentation</dc:subject>
  <dc:creator>PptxGenJS</dc:creator>
  <cp:lastModifiedBy>Katarina Milojković</cp:lastModifiedBy>
  <cp:revision>3</cp:revision>
  <dcterms:created xsi:type="dcterms:W3CDTF">2026-09-30T15:00:30Z</dcterms:created>
  <dcterms:modified xsi:type="dcterms:W3CDTF">2026-09-30T15:08:31Z</dcterms:modified>
</cp:coreProperties>
</file>